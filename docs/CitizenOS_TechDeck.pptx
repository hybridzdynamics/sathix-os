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97944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SIH 2026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14400" y="1712714"/>
            <a:ext cx="7315200" cy="592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950" spc="2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CITIZENOS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914400" y="2448520"/>
            <a:ext cx="73152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Architecture &amp; Implementation Guide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787848"/>
            <a:ext cx="73152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DEVELOPMENT TEAM &amp; DOCUMENTATION TEAM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3234333"/>
            <a:ext cx="73152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Team: Ctrl+Innovate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97944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OVERVIEW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4202" y="1428750"/>
            <a:ext cx="938454" cy="542925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202" y="1428750"/>
            <a:ext cx="938454" cy="542925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Voice/Text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9806" y="1603772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14158" y="1428750"/>
            <a:ext cx="921600" cy="542925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4158" y="1428750"/>
            <a:ext cx="921600" cy="542925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192908" y="1603772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67260" y="1503759"/>
            <a:ext cx="1000125" cy="392906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67260" y="1503759"/>
            <a:ext cx="1000125" cy="392906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4591" y="1603772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98943" y="1428750"/>
            <a:ext cx="721575" cy="542925"/>
          </a:xfrm>
          <a:prstGeom prst="rect">
            <a:avLst/>
          </a:prstGeom>
          <a:solidFill>
            <a:srgbClr val="059669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8943" y="1428750"/>
            <a:ext cx="721575" cy="542925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Hybrid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77668" y="1603772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52020" y="1428750"/>
            <a:ext cx="1000125" cy="542925"/>
          </a:xfrm>
          <a:prstGeom prst="rect">
            <a:avLst/>
          </a:prstGeom>
          <a:solidFill>
            <a:srgbClr val="059669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52020" y="1428750"/>
            <a:ext cx="1000125" cy="542925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09351" y="1603772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83703" y="1428750"/>
            <a:ext cx="885881" cy="542925"/>
          </a:xfrm>
          <a:prstGeom prst="rect">
            <a:avLst/>
          </a:prstGeom>
          <a:solidFill>
            <a:srgbClr val="059669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83703" y="1428750"/>
            <a:ext cx="885881" cy="542925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Eligibility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26734" y="1603772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01086" y="1428750"/>
            <a:ext cx="928911" cy="542925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1086" y="1428750"/>
            <a:ext cx="928911" cy="542925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87146" y="1603772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61499" y="1428750"/>
            <a:ext cx="938454" cy="542925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61499" y="1428750"/>
            <a:ext cx="938454" cy="542925"/>
          </a:xfrm>
          <a:prstGeom prst="rect">
            <a:avLst/>
          </a:prstGeom>
          <a:noFill/>
          <a:ln/>
        </p:spPr>
        <p:txBody>
          <a:bodyPr wrap="non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Voice/Text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71500" y="2371725"/>
            <a:ext cx="8001000" cy="1540148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" y="2371725"/>
            <a:ext cx="8001000" cy="154014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CitizenOS</a:t>
            </a:r>
            <a:r>
              <a:rPr lang="en-US" sz="12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an AI-powered multilingual digital citizen operating system. It acts as a personal </a:t>
            </a:r>
            <a:r>
              <a:rPr lang="en-US" sz="12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government officer for every Indian citizen, handling scheme discovery, eligibility verification, </a:t>
            </a:r>
            <a:r>
              <a:rPr lang="en-US" sz="12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intelligence, application guidance, and progress tracking across </a:t>
            </a: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2,000+ government schemes</a:t>
            </a:r>
            <a:r>
              <a:rPr lang="en-US" sz="12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17807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5072" y="1289447"/>
            <a:ext cx="1998464" cy="33932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5072" y="1289447"/>
            <a:ext cx="1998464" cy="3393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73536" y="1289447"/>
            <a:ext cx="3597213" cy="33932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73536" y="1289447"/>
            <a:ext cx="3597213" cy="3393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70749" y="1289447"/>
            <a:ext cx="2398179" cy="33932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0749" y="1289447"/>
            <a:ext cx="2398179" cy="3393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5072" y="1621631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73536" y="1621631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Next.js, TypeScript, Tailwind CSS, shadcn/ui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70749" y="1621631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Responsive UI, accessible design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5072" y="1950244"/>
            <a:ext cx="7993856" cy="32861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575072" y="1950244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573536" y="1950244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FastAPI (Python)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0749" y="1950244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High-performance AI integration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5072" y="2278856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73536" y="2278856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 + Qdrant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70749" y="2278856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Relational + vector storage for RAG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5072" y="2607469"/>
            <a:ext cx="7993856" cy="32861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575072" y="2607469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Orchestration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573536" y="2607469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LangGraph + LangChain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170749" y="2607469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pipelines, state machines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5072" y="2936081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573536" y="2936081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 2.5 / GPT-4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0749" y="2936081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Complex reasoning for eligibility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5072" y="3264694"/>
            <a:ext cx="7993856" cy="32861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5"/>
          <p:cNvSpPr/>
          <p:nvPr/>
        </p:nvSpPr>
        <p:spPr>
          <a:xfrm>
            <a:off x="575072" y="3264694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573536" y="3264694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BGE-M3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70749" y="3264694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100+ languages, 8192 token context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75072" y="3593306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573536" y="3593306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PaddleOCR 3.0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70749" y="3593306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96.3% accuracy, 80+ languages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75072" y="3921919"/>
            <a:ext cx="7993856" cy="32861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2"/>
          <p:cNvSpPr/>
          <p:nvPr/>
        </p:nvSpPr>
        <p:spPr>
          <a:xfrm>
            <a:off x="575072" y="3921919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Translation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573536" y="3921919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BHASHINI APIs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170749" y="3921919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Gov-backed ASR/TTS/Translation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75072" y="4250531"/>
            <a:ext cx="1998464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573536" y="4250531"/>
            <a:ext cx="3597213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 + Railway/Render + Docker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170749" y="4250531"/>
            <a:ext cx="2398179" cy="32861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Scalable cloud infrastructure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37670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FLOW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43000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228725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— USER INTERFACE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14375" y="1460897"/>
            <a:ext cx="1047285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75" y="1460897"/>
            <a:ext cx="1047285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App (Next.js)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818810" y="1460897"/>
            <a:ext cx="87070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18810" y="1460897"/>
            <a:ext cx="870700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Bot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6660" y="1460897"/>
            <a:ext cx="936389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6660" y="1460897"/>
            <a:ext cx="936389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IVR Phone Line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740200" y="1460897"/>
            <a:ext cx="1053312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0200" y="1460897"/>
            <a:ext cx="1053312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Offline SMS Mode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1500" y="1953816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4375" y="2039541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— AI GATEWAY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14375" y="2271713"/>
            <a:ext cx="715994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4375" y="2271713"/>
            <a:ext cx="715994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Input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487519" y="2271713"/>
            <a:ext cx="1418369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87519" y="2271713"/>
            <a:ext cx="1418369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Whisper / BHASHINI ASR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963038" y="2271713"/>
            <a:ext cx="1145009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63038" y="2271713"/>
            <a:ext cx="1145009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 Detection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165197" y="2271713"/>
            <a:ext cx="1245803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65197" y="2271713"/>
            <a:ext cx="1245803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BHASHINI Translation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71500" y="2764631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4375" y="2850356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— INTELLIGENCE CORE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14375" y="3082528"/>
            <a:ext cx="1180002" cy="221456"/>
          </a:xfrm>
          <a:prstGeom prst="rect">
            <a:avLst/>
          </a:prstGeom>
          <a:solidFill>
            <a:srgbClr val="ECFDF5"/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4375" y="3082528"/>
            <a:ext cx="1180002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Hybrid RAG Engine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951527" y="3082528"/>
            <a:ext cx="1025519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51527" y="3082528"/>
            <a:ext cx="1025519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Qdrant Vector DB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034196" y="3082528"/>
            <a:ext cx="1043601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34196" y="3082528"/>
            <a:ext cx="1043601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Graph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134948" y="3082528"/>
            <a:ext cx="1049015" cy="221456"/>
          </a:xfrm>
          <a:prstGeom prst="rect">
            <a:avLst/>
          </a:prstGeom>
          <a:solidFill>
            <a:srgbClr val="ECFDF5"/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34948" y="3082528"/>
            <a:ext cx="1049015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Eligibility Engine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5241113" y="3082528"/>
            <a:ext cx="757517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41113" y="3082528"/>
            <a:ext cx="757517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PaddleOCR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71500" y="3575447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4375" y="3661172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4 — OUTPUT &amp; ACTION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4375" y="3893344"/>
            <a:ext cx="1728453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4375" y="3893344"/>
            <a:ext cx="172845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Personalized Recommendations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499978" y="3893344"/>
            <a:ext cx="1305576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99978" y="3893344"/>
            <a:ext cx="130557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Step-by-Step Roadmap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862704" y="3893344"/>
            <a:ext cx="942138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62704" y="3893344"/>
            <a:ext cx="942138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Scam Detection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861992" y="3893344"/>
            <a:ext cx="1073125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61992" y="3893344"/>
            <a:ext cx="1073125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 Drafting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992267" y="3893344"/>
            <a:ext cx="922102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92267" y="3893344"/>
            <a:ext cx="922102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BHASHINI TTS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71500" y="4386263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4375" y="4471988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5 — DATA LAYER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714375" y="4704159"/>
            <a:ext cx="76946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14375" y="4704159"/>
            <a:ext cx="769460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1540985" y="4704159"/>
            <a:ext cx="513345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540985" y="4704159"/>
            <a:ext cx="513345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Qdrant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2111480" y="4704159"/>
            <a:ext cx="129966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111480" y="4704159"/>
            <a:ext cx="1299660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Govt Knowledge Graph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571500" y="5054203"/>
            <a:ext cx="8001000" cy="303609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71500" y="5054203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Infrastructure: Vercel CDN | Railway / Render | Docker Containers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779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AI MODULES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1: KNOWLEDGE &amp; RAG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3929063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464469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GOVERNMENT KNOWLEDGE GRAPH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0094" y="1800225"/>
            <a:ext cx="3571875" cy="7715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scheme converted to a structured object with 15+ attributes (Name, Description, Eligibility, Income Limit, Age, State, Documents, Benefits, Deadline, Department, FAQs, Application Process).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50094" y="2643188"/>
            <a:ext cx="3571875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Enables relational querying and inferencing across complex criteria.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0094" y="3100388"/>
            <a:ext cx="3571875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Allows the AI to reason over data relationships rather than just matching keywords.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43438" y="1285875"/>
            <a:ext cx="3929063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094" y="182165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50094" y="2664619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50094" y="3121819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822031" y="1464469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RAG ENGINE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22031" y="1800225"/>
            <a:ext cx="3571875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Vector Search: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Uses BGE-M3 embeddings for semantic similarity.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22031" y="2257425"/>
            <a:ext cx="3571875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Metadata Filtering: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Filters by State, Department, and Category before retrieval.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22031" y="2714625"/>
            <a:ext cx="3571875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Graph Integration: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Combines structured data with unstructured text retrieval.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22031" y="3171825"/>
            <a:ext cx="3571875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Eliminates LLM hallucinations.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" y="3000375"/>
            <a:ext cx="8001000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2031" y="182165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822031" y="227885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822031" y="273605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822031" y="319325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50094" y="3178969"/>
            <a:ext cx="7643813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IMPLEMENTATION FLOW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0094" y="3514725"/>
            <a:ext cx="7643813" cy="6000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2"/>
          <p:cNvSpPr/>
          <p:nvPr/>
        </p:nvSpPr>
        <p:spPr>
          <a:xfrm>
            <a:off x="750094" y="3514725"/>
            <a:ext cx="7643813" cy="60007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PaddleOCR (Extract Scheme PDFs) </a:t>
            </a: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 (Text Splitter) </a:t>
            </a: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BGE-M3 (Embedding) </a:t>
            </a: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Qdrant (Storage) </a:t>
            </a: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LangGraph (Retrieval Chain)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615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AI MODULES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2: IMPLEMENTATION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3893344" cy="3050381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464469"/>
            <a:ext cx="3536156" cy="27860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 ENGINE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50094" y="1885950"/>
            <a:ext cx="3536156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Conducts a multi-turn conversational interview with the citizen.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0094" y="2450306"/>
            <a:ext cx="3536156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Captures 8+ parameters: Age, Income, Occupation, Category, Gender, Education, Disability, State.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0094" y="3014663"/>
            <a:ext cx="3536156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Evaluates the profile against all 2,000+ schemes in the Knowledge Graph.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0094" y="3579019"/>
            <a:ext cx="3536156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Outputs personalized match percentages (e.g., PM-KISAN: 98%).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" y="4464844"/>
            <a:ext cx="3893344" cy="1743075"/>
          </a:xfrm>
          <a:prstGeom prst="rect">
            <a:avLst/>
          </a:prstGeom>
          <a:solidFill>
            <a:srgbClr val="F1F5F9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094" y="1900238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50094" y="2464594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50094" y="3028950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50094" y="3593306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50094" y="4643438"/>
            <a:ext cx="353615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IMPLEMENTATION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50094" y="4861322"/>
            <a:ext cx="3536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Requires a state machine to manage the multi-turn conversation context.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0094" y="5389959"/>
            <a:ext cx="3536156" cy="6107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750094" y="5389959"/>
            <a:ext cx="28575" cy="610791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750094" y="5389959"/>
            <a:ext cx="3536156" cy="6107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 machine with multi-turn conversation nodes → Rule engine evaluation → Score generation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79156" y="1285875"/>
            <a:ext cx="3893344" cy="2821781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0" y="1464469"/>
            <a:ext cx="3536156" cy="27860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INTELLIGENCE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57750" y="1885950"/>
            <a:ext cx="3536156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Uses PaddleOCR to extract data from uploaded documents (Aadhaar, PAN, Income Certificate).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57750" y="2450306"/>
            <a:ext cx="3536156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Detects missing documents required for specific schemes.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57750" y="3014663"/>
            <a:ext cx="3536156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Identifies expired certificates, blurry scans, or wrong formats.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579019"/>
            <a:ext cx="3536156" cy="22860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Auto-populates form fields based on extracted data.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79156" y="4236244"/>
            <a:ext cx="3893344" cy="1610916"/>
          </a:xfrm>
          <a:prstGeom prst="rect">
            <a:avLst/>
          </a:prstGeom>
          <a:solidFill>
            <a:srgbClr val="F1F5F9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1900238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857750" y="2464594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857750" y="3028950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857750" y="3593306"/>
            <a:ext cx="6044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857750" y="4414838"/>
            <a:ext cx="353615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IMPLEMENTATION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57750" y="4632722"/>
            <a:ext cx="3536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Needs a backend endpoint for file upload, processing pipeline, and field mapping logic.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857750" y="5161359"/>
            <a:ext cx="3536156" cy="47863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1"/>
          <p:cNvSpPr/>
          <p:nvPr/>
        </p:nvSpPr>
        <p:spPr>
          <a:xfrm>
            <a:off x="4857750" y="5161359"/>
            <a:ext cx="28575" cy="478631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2"/>
          <p:cNvSpPr/>
          <p:nvPr/>
        </p:nvSpPr>
        <p:spPr>
          <a:xfrm>
            <a:off x="4857750" y="5161359"/>
            <a:ext cx="3536156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upload endpoint → PaddleOCR extraction → Field mapping → Validation rules engine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615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AI MODULES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3: IMPLEMENTATION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3911203" cy="16430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464469"/>
            <a:ext cx="355401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ELI10 &amp; VOICE TRANSLATION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0094" y="1800225"/>
            <a:ext cx="355401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Translates complex bureaucratic language to simple regional language.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50094" y="2283098"/>
            <a:ext cx="3554016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Provides optional voice explanations for non-readers.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50094" y="2595972"/>
            <a:ext cx="3554016" cy="4628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50094" y="2595972"/>
            <a:ext cx="21431" cy="46289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750094" y="2595972"/>
            <a:ext cx="3554016" cy="46289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Dev: LLM prompt with strict tone constraint (e.g., "Explain like I'm 10").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661297" y="1285875"/>
            <a:ext cx="3911203" cy="16430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0094" y="1821656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750094" y="2304529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839891" y="1464469"/>
            <a:ext cx="355401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EVENT ENGINE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39891" y="1800225"/>
            <a:ext cx="3554016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Creates a holistic "Family Wallet" profile.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39891" y="2077380"/>
            <a:ext cx="355401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life event (marriage, birth, graduation), recommends ID updates and new schemes.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39891" y="2595972"/>
            <a:ext cx="3554016" cy="4628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4839891" y="2595972"/>
            <a:ext cx="21431" cy="46289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4839891" y="2595972"/>
            <a:ext cx="3554016" cy="46289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Dev: Event-triggered rule engine monitoring user profile changes.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71500" y="3107531"/>
            <a:ext cx="3911203" cy="16430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39891" y="1821656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839891" y="2098811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50094" y="3286125"/>
            <a:ext cx="355401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GENERATOR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0094" y="3621881"/>
            <a:ext cx="355401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Generates step-by-step execution plans (e.g., Visit CSC → Carry docs → Fill form).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50094" y="4104754"/>
            <a:ext cx="3554016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Locates the nearest application center.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0094" y="4417628"/>
            <a:ext cx="3554016" cy="4628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4"/>
          <p:cNvSpPr/>
          <p:nvPr/>
        </p:nvSpPr>
        <p:spPr>
          <a:xfrm>
            <a:off x="750094" y="4417628"/>
            <a:ext cx="21431" cy="46289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5"/>
          <p:cNvSpPr/>
          <p:nvPr/>
        </p:nvSpPr>
        <p:spPr>
          <a:xfrm>
            <a:off x="750094" y="4417628"/>
            <a:ext cx="3554016" cy="46289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Dev: Templated workflow generator based on scheme metadata.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661297" y="3107531"/>
            <a:ext cx="3911203" cy="16430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0094" y="3643313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50094" y="4126185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839891" y="3286125"/>
            <a:ext cx="355401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SCAM DETECTOR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39891" y="3621881"/>
            <a:ext cx="355401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URL verification against official government domain database.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39891" y="4104754"/>
            <a:ext cx="3554016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Protects users from phishing and fake portals.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839891" y="4417628"/>
            <a:ext cx="3554016" cy="3028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3"/>
          <p:cNvSpPr/>
          <p:nvPr/>
        </p:nvSpPr>
        <p:spPr>
          <a:xfrm>
            <a:off x="4839891" y="4417628"/>
            <a:ext cx="21431" cy="3028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4"/>
          <p:cNvSpPr/>
          <p:nvPr/>
        </p:nvSpPr>
        <p:spPr>
          <a:xfrm>
            <a:off x="4839891" y="4417628"/>
            <a:ext cx="3554016" cy="30288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Dev: Domain whitelist check + regex pattern matching.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839891" y="3643313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4839891" y="4126185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7937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DELIVERY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3929063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428750"/>
            <a:ext cx="3643313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ASSISTANT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4375" y="1710928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BHASHINI APIs (ASR &amp; TTS)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14375" y="1960959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Full support for 12+ Indian languages.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4375" y="2210991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Accessible for illiterate or visually impaired citizens.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43438" y="1285875"/>
            <a:ext cx="3929063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4375" y="1732359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4375" y="1982391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14375" y="2232422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786313" y="1428750"/>
            <a:ext cx="3643313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&amp; IVR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86313" y="1710928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WhatsApp Webhooks + Twilio IVR integration.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86313" y="1960959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app install needed.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86313" y="2210991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Crucial for non-smartphone users.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1500" y="2500313"/>
            <a:ext cx="3929063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86313" y="1732359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786313" y="1982391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786313" y="2232422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714375" y="2643188"/>
            <a:ext cx="3643313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MODE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14375" y="2925366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Service Worker + IndexedDB.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4375" y="3175397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Cached scheme data + offline eligibility checks.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4375" y="3425428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Designed for rural areas with poor connectivity.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43438" y="2500313"/>
            <a:ext cx="3929063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4375" y="294679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14375" y="3196828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714375" y="3446859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786313" y="2643188"/>
            <a:ext cx="3643313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NEARBY OFFICE FINDER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86313" y="2925366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Geo-location + Google Maps API.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86313" y="3175397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Locates CSCs, Aadhaar Centers, Tehsil offices.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86313" y="3425428"/>
            <a:ext cx="3643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Guides users to the nearest physical application point.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71500" y="3714750"/>
            <a:ext cx="3929063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86313" y="294679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786313" y="3196828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786313" y="3446859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14375" y="3857625"/>
            <a:ext cx="3643313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DIGILOCKER INTEGRATION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14375" y="4139803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OAuth2 token flow + API fetch.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14375" y="4389834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Auto-verifies documents without manual upload.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14375" y="4639866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Reduces friction in the application process.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43438" y="3714750"/>
            <a:ext cx="3929063" cy="1071563"/>
          </a:xfrm>
          <a:prstGeom prst="rect">
            <a:avLst/>
          </a:prstGeom>
          <a:solidFill>
            <a:srgbClr val="ECFDF5"/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14375" y="4161234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714375" y="441126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714375" y="466129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4786313" y="3857625"/>
            <a:ext cx="3643313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86313" y="4139803"/>
            <a:ext cx="3643313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a 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unified API layer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on the backend.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786313" y="4389834"/>
            <a:ext cx="3643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channels must share the same RAG and Eligibility engines.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786313" y="4832747"/>
            <a:ext cx="3643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Ensure consistent state management across web, WhatsApp, and IVR.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786313" y="4161234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4786313" y="441126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4786313" y="4854178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1363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389334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464469"/>
            <a:ext cx="353615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&amp; API DOCUMENTATION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0094" y="1800225"/>
            <a:ext cx="3536156" cy="6171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Docs: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Each AI module needs a separate doc page with input/output specs, error codes, and example payloads.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50094" y="2503103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Docs: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REST endpoints for all services (eligibility, OCR, translation, roadmap, scam detection).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0094" y="3000263"/>
            <a:ext cx="3536156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Format: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OpenAPI/Swagger format for easy integration.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3000375"/>
            <a:ext cx="389334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094" y="1821656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50094" y="2524534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50094" y="3021695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750094" y="3178969"/>
            <a:ext cx="353615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GUIDE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0094" y="3514725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Walkthrough: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"Farmer's Journey" scenario must be documented step-by-step.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50094" y="4011885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Include screenshots or UI mockups for each step of the user journey.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0094" y="4509046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Highlight key features like Voice Input, Document Upload, and Roadmap Generation.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0094" y="3536156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50094" y="4033317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50094" y="4530477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679156" y="1285875"/>
            <a:ext cx="389334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0" y="1464469"/>
            <a:ext cx="353615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SCHEMA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57750" y="1800225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Graph Schema: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Document the 15+ attributes per scheme (Name, Eligibility, Income Limit, etc.).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57750" y="2297385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Profile Schema: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Define the fields for age, income, occupation, etc.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57750" y="2794546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Family Wallet Schema:</a:t>
            </a: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Structure for multi-generational household profiles.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79156" y="3000375"/>
            <a:ext cx="389334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57750" y="1821656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857750" y="2318817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857750" y="2815977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857750" y="3178969"/>
            <a:ext cx="3536156" cy="22860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CONTRIBUTOR GUIDE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57750" y="3514725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Instructions on how to add new government schemes to the Knowledge Graph.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57750" y="4011885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Procedures for updating eligibility criteria and application links.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57750" y="4509046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Steps to add new language support via BHASHINI integration.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57750" y="5006206"/>
            <a:ext cx="3536156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Guidelines for maintaining data accuracy and avoiding hallucinations.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57750" y="3536156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857750" y="4033317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857750" y="4530477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4857750" y="5027637"/>
            <a:ext cx="517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300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80010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285875"/>
            <a:ext cx="1071563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25178"/>
            <a:ext cx="44123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12738" y="1425178"/>
            <a:ext cx="6303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(WEEK 1-2)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85938" y="1491258"/>
            <a:ext cx="2119294" cy="16073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 repo &amp; boilerplate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48106" y="1491258"/>
            <a:ext cx="2119294" cy="16073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FastAPI + Next.js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10275" y="1491258"/>
            <a:ext cx="2119294" cy="16073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Integrate BHASHINI APIs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1964531"/>
            <a:ext cx="80010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85938" y="1519833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048106" y="1519833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310275" y="1519833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571500" y="1964531"/>
            <a:ext cx="1071563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2103834"/>
            <a:ext cx="44123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12738" y="2103834"/>
            <a:ext cx="6303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(WEEK 3-4)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785938" y="2089547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Knowledge Graph pipeline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048106" y="2089547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 Hybrid RAG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10275" y="2089547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 Qdrant vector DB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1500" y="2643188"/>
            <a:ext cx="80010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85938" y="2118122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048106" y="2118122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310275" y="2118122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571500" y="2643188"/>
            <a:ext cx="1071563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2782491"/>
            <a:ext cx="44123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12738" y="2782491"/>
            <a:ext cx="6303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(WEEK 5-6)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785938" y="2768203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Eligibility Engine (LangGraph)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048106" y="2768203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Intelligence (PaddleOCR)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310275" y="2768203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Multi-turn state machines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71500" y="3321844"/>
            <a:ext cx="80010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85938" y="2796778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048106" y="2796778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6310275" y="2796778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571500" y="3321844"/>
            <a:ext cx="1071563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" y="3461147"/>
            <a:ext cx="44123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12738" y="3461147"/>
            <a:ext cx="63032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(WEEK 7-8)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785938" y="3446859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Advanced channels (WhatsApp, IVR)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048106" y="3446859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Offline Mode &amp; Nearby Finder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310275" y="3446859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 Event &amp; Scam Detector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71500" y="4000500"/>
            <a:ext cx="80010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785938" y="3475434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4048106" y="3475434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310275" y="3475434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>
            <a:off x="571500" y="4000500"/>
            <a:ext cx="1071563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3"/>
          <p:cNvSpPr/>
          <p:nvPr/>
        </p:nvSpPr>
        <p:spPr>
          <a:xfrm>
            <a:off x="571500" y="4139803"/>
            <a:ext cx="42159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93093" y="4139803"/>
            <a:ext cx="649970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(WEEK 9-10)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785938" y="4205883"/>
            <a:ext cx="2119294" cy="16073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polish &amp; UX testing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048106" y="4205883"/>
            <a:ext cx="2119294" cy="16073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Deployment (Vercel + Railway)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310275" y="4205883"/>
            <a:ext cx="2119294" cy="16073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code optimization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571500" y="4750594"/>
            <a:ext cx="8001000" cy="571500"/>
          </a:xfrm>
          <a:prstGeom prst="rect">
            <a:avLst/>
          </a:prstGeom>
          <a:solidFill>
            <a:srgbClr val="ECFDF5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785938" y="4234458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4048106" y="4234458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6310275" y="4234458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55" name="Shape 52"/>
          <p:cNvSpPr/>
          <p:nvPr/>
        </p:nvSpPr>
        <p:spPr>
          <a:xfrm>
            <a:off x="571500" y="4750594"/>
            <a:ext cx="1071563" cy="571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6" name="Text 53"/>
          <p:cNvSpPr/>
          <p:nvPr/>
        </p:nvSpPr>
        <p:spPr>
          <a:xfrm>
            <a:off x="571500" y="4889897"/>
            <a:ext cx="39709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TEAM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68592" y="4963120"/>
            <a:ext cx="67447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785938" y="4875609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1:</a:t>
            </a: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Start API docs (OpenAPI/Swagger)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048106" y="4875609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3:</a:t>
            </a: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Module docs (Inputs, Outputs, Errors)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310275" y="4875609"/>
            <a:ext cx="2119294" cy="3214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5:</a:t>
            </a: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User Guide (Farmer's Journey)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1785938" y="4904184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62" name="Text 59"/>
          <p:cNvSpPr/>
          <p:nvPr/>
        </p:nvSpPr>
        <p:spPr>
          <a:xfrm>
            <a:off x="4048106" y="4904184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63" name="Text 60"/>
          <p:cNvSpPr/>
          <p:nvPr/>
        </p:nvSpPr>
        <p:spPr>
          <a:xfrm>
            <a:off x="6310275" y="4904184"/>
            <a:ext cx="517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2026-08-03T14:07:43Z</dcterms:created>
  <dcterms:modified xsi:type="dcterms:W3CDTF">2026-08-03T14:07:43Z</dcterms:modified>
</cp:coreProperties>
</file>