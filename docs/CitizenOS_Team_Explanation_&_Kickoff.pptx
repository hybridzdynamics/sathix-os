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97944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SIH 2026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14400" y="1848445"/>
            <a:ext cx="7315200" cy="59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950" spc="2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CITIZENOS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914400" y="2584252"/>
            <a:ext cx="731520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Are Building &amp; Why It Matters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102173"/>
            <a:ext cx="7315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TEAM: CTRL+INNOVATE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780816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 WE</a:t>
            </a: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 SOLVING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2857500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46609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2,000+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50094" y="1860947"/>
            <a:ext cx="250031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GOVERNMENT SCHEMES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(FRAGMENTED PORTALS)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71500" y="2428875"/>
            <a:ext cx="2857500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0094" y="2589609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65%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750094" y="3003947"/>
            <a:ext cx="250031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RURAL POPULATION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(TARGET AUDIENCE)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71500" y="3571875"/>
            <a:ext cx="2857500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3732609"/>
            <a:ext cx="25003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35%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750094" y="4146947"/>
            <a:ext cx="2500313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RURAL INTERNET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spc="1" kern="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PENETRATION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714750" y="1285875"/>
            <a:ext cx="4857750" cy="32861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0500" y="1721700"/>
            <a:ext cx="4286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CHALLENGE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00500" y="2057456"/>
            <a:ext cx="4286250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Citizens — especially in rural areas — cannot find, understand, or apply for the schemes they are eligible for.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00500" y="2703184"/>
            <a:ext cx="428625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face fragmented portals, complex bureaucratic language, manual eligibility checks, and a complete lack of personal guidance.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00500" y="3600338"/>
            <a:ext cx="4286250" cy="535781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8" name="Shape 15"/>
          <p:cNvSpPr/>
          <p:nvPr/>
        </p:nvSpPr>
        <p:spPr>
          <a:xfrm>
            <a:off x="4000500" y="3600338"/>
            <a:ext cx="28575" cy="535781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4000500" y="3600338"/>
            <a:ext cx="4286250" cy="53578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Citizens need a personal guide, not a search engine.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286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EXISTING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SOLUTIONS FALL SHORT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1889522" cy="2950257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3624" y="1550194"/>
            <a:ext cx="75450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MYSCHEME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50094" y="2178844"/>
            <a:ext cx="152161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filter-based search portal.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50094" y="2697435"/>
            <a:ext cx="1521619" cy="4800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 must manually read eligibility criteria and guess if they qualify.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0094" y="3263187"/>
            <a:ext cx="1521619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personalized scoring.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50094" y="3508921"/>
            <a:ext cx="1521619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document intelligence.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93181" y="1285875"/>
            <a:ext cx="1893094" cy="2950257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2690292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0094" y="3256043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0094" y="3501777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02143" y="1550194"/>
            <a:ext cx="47159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75347" y="2178844"/>
            <a:ext cx="152519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mobile app aggregating 1,200+ services.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75347" y="2697435"/>
            <a:ext cx="1525191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is a service launcher, not an advisor.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775347" y="3103178"/>
            <a:ext cx="1525191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eligibility matching logic.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775347" y="3348912"/>
            <a:ext cx="1525191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voice support for non-readers.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2006" y="1285875"/>
            <a:ext cx="1896666" cy="2950257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75347" y="2690292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75347" y="3096034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75347" y="3341768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94846" y="1550194"/>
            <a:ext cx="75450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BHASHINI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7744" y="2178844"/>
            <a:ext cx="15287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translation API framework.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07744" y="2697435"/>
            <a:ext cx="1528763" cy="4800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Translates text and voice, but does not understand government schemes.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07744" y="3263187"/>
            <a:ext cx="1528763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eligibility engine.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07744" y="3508921"/>
            <a:ext cx="1528763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roadmap generation.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657975" y="1285875"/>
            <a:ext cx="1914525" cy="2950257"/>
          </a:xfrm>
          <a:prstGeom prst="rect">
            <a:avLst/>
          </a:prstGeom>
          <a:solidFill>
            <a:srgbClr val="ECFDF5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7744" y="2690292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07744" y="3256043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07744" y="3501777"/>
            <a:ext cx="75065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201514" y="1550194"/>
            <a:ext cx="84882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CITIZENOS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58000" y="2178844"/>
            <a:ext cx="15359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proposed solution.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858000" y="2491718"/>
            <a:ext cx="1535906" cy="4800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Combines all three capabilities into one intelligent system.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858000" y="3057469"/>
            <a:ext cx="1535906" cy="48002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 AI navigator that executes the full citizen journey.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3623221"/>
            <a:ext cx="153590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Personalized, multilingual, and document-aware.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858000" y="2520293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858000" y="3086044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6858000" y="3651796"/>
            <a:ext cx="51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986297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VISION</a:t>
            </a: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45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CITIZENOS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4213529" cy="1625203"/>
          </a:xfrm>
          <a:prstGeom prst="rect">
            <a:avLst/>
          </a:prstGeom>
          <a:solidFill>
            <a:srgbClr val="FFFFFF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562695"/>
            <a:ext cx="37719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VISION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5813" y="1862733"/>
            <a:ext cx="37719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CitizenOS is an </a:t>
            </a: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AI-powered multilingual digital citizen operating system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It acts as a </a:t>
            </a: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government officer</a:t>
            </a:r>
            <a:r>
              <a:rPr lang="en-US" sz="12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for every Indian citizen.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986338" y="1285875"/>
            <a:ext cx="3586163" cy="1625203"/>
          </a:xfrm>
          <a:prstGeom prst="rect">
            <a:avLst/>
          </a:prstGeom>
          <a:solidFill>
            <a:srgbClr val="F1F5F9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08463" y="1500188"/>
            <a:ext cx="3149724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PARADIGM SHIFT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208463" y="1768078"/>
            <a:ext cx="3149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Instead of citizens navigating dozens of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fragmented government websites,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AI navigates the systems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The citizen only talks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naturally.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3111103"/>
            <a:ext cx="8001000" cy="1386557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094" y="3289697"/>
            <a:ext cx="764381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AI HANDLES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0094" y="3557588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Detects Language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87836" y="3557588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Verifies Eligibility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25578" y="3557588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Extracts Data via OCR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63320" y="3557588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Explains in Simple Regional Language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50094" y="3984761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Step-by-Step Roadmaps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687836" y="3984761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Locates Nearest CSC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25578" y="3984761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Tracks Application Progress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63320" y="3984761"/>
            <a:ext cx="1830586" cy="32001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Drafts Complaints if Needed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7937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PIPELINE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428750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4375" y="1728788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Citizen speaks or types in any language (Hindi, Tamil, Bengali, etc.)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607469" y="1285875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50344" y="1428750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50344" y="1728788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detects the language and translates to English for processing.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43438" y="1285875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6313" y="1428750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86313" y="1728788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Hybrid RAG searches 2,000+ schemes using both keywords and meaning.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79406" y="1285875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22281" y="1428750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22281" y="1728788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Graph evaluates eligibility across 15+ parameters.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2857500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375" y="3000375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4375" y="3300413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 Engine scores every applicable scheme with match percentages.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607469" y="2857500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50344" y="3000375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50344" y="3300413"/>
            <a:ext cx="160734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Intelligence reads uploaded Aadhaar/PAN and flags issues.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43438" y="2857500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86313" y="3000375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86313" y="3300413"/>
            <a:ext cx="160734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 Generator creates a step-by-step application plan.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79406" y="2857500"/>
            <a:ext cx="1893094" cy="1428750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22281" y="3000375"/>
            <a:ext cx="160734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8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22281" y="3300413"/>
            <a:ext cx="160734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Response is translated back to the citizen's language and spoken aloud.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9720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FEATURES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858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094" y="14644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0094" y="1828800"/>
            <a:ext cx="1535906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ASSISTANT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50094" y="2146697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12+ Indian languages via BHASHINI APIs for fully accessible voice interaction.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07469" y="12858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86063" y="14644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86063" y="1828800"/>
            <a:ext cx="1535906" cy="3714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ELIGIBILITY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6063" y="2307431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interviews you and scores 2,000+ schemes with personalized match percentages.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43438" y="12858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2031" y="14644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22031" y="1828800"/>
            <a:ext cx="1535906" cy="3714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INTELLIGENCE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22031" y="2307431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OCR reads your documents and automatically flags missing or expired items.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679406" y="12858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4644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58000" y="1828800"/>
            <a:ext cx="1535906" cy="3714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EVENT TRACKING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2307431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marriage, birth, or graduation, the system auto-recommends necessary ID updates.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1500" y="30003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0094" y="31789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50094" y="3543300"/>
            <a:ext cx="1535906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GENERATOR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0094" y="3861197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Creates a step-by-step execution plan to the nearest Common Service Centre.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07469" y="30003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6063" y="31789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2786063" y="3543300"/>
            <a:ext cx="1535906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SCAM DETECTOR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86063" y="3861197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Verifies URLs against official government domains to protect against phishing.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43438" y="30003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22031" y="31789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822031" y="3543300"/>
            <a:ext cx="1535906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MODE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22031" y="3861197"/>
            <a:ext cx="153590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 with poor internet connectivity, specifically designed for rural areas.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79406" y="3000375"/>
            <a:ext cx="1893094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3178969"/>
            <a:ext cx="15359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858000" y="3543300"/>
            <a:ext cx="1535906" cy="21074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&amp; IVR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858000" y="3861197"/>
            <a:ext cx="15359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Allows interaction via familiar channels. No dedicated app install needed.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19720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214438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300163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— USER INTERFACE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714375" y="1532334"/>
            <a:ext cx="61866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532334"/>
            <a:ext cx="61866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App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390185" y="1532334"/>
            <a:ext cx="87070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90185" y="1532334"/>
            <a:ext cx="87070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Bot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318035" y="1532334"/>
            <a:ext cx="71577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18035" y="1532334"/>
            <a:ext cx="71577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SMS Mode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71500" y="2025253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4375" y="2110978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— AI GATEWAY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4375" y="2343150"/>
            <a:ext cx="715994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375" y="2343150"/>
            <a:ext cx="715994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Input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487519" y="2343150"/>
            <a:ext cx="936054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87519" y="2343150"/>
            <a:ext cx="936054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BHASHINI ASR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480723" y="2343150"/>
            <a:ext cx="1145009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80723" y="2343150"/>
            <a:ext cx="1145009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 Detection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82882" y="2343150"/>
            <a:ext cx="711864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82882" y="2343150"/>
            <a:ext cx="711864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71500" y="2836069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4375" y="2921794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— INTELLIGENCE CORE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714375" y="3153966"/>
            <a:ext cx="793012" cy="221456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4375" y="3153966"/>
            <a:ext cx="793012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Hybrid RAG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564537" y="3153966"/>
            <a:ext cx="1102593" cy="221456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64537" y="3153966"/>
            <a:ext cx="1102593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Knowledge Graph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724280" y="3153966"/>
            <a:ext cx="1049015" cy="221456"/>
          </a:xfrm>
          <a:prstGeom prst="rect">
            <a:avLst/>
          </a:prstGeom>
          <a:solidFill>
            <a:srgbClr val="ECFDF5"/>
          </a:solidFill>
          <a:ln w="9144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24280" y="3153966"/>
            <a:ext cx="104901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Eligibility Engine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830445" y="3153966"/>
            <a:ext cx="757517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30445" y="3153966"/>
            <a:ext cx="757517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PaddleOCR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1500" y="3646884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4375" y="3732609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 — OUTPUT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14375" y="3964781"/>
            <a:ext cx="1079153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4375" y="3964781"/>
            <a:ext cx="1079153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850678" y="3964781"/>
            <a:ext cx="65036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50678" y="3964781"/>
            <a:ext cx="65036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558188" y="3964781"/>
            <a:ext cx="942138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58188" y="3964781"/>
            <a:ext cx="942138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Scam Detection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557476" y="3964781"/>
            <a:ext cx="960165" cy="221456"/>
          </a:xfrm>
          <a:prstGeom prst="rect">
            <a:avLst/>
          </a:prstGeom>
          <a:solidFill>
            <a:srgbClr val="0F172A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557476" y="3964781"/>
            <a:ext cx="96016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Response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71500" y="4457700"/>
            <a:ext cx="8001000" cy="639366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4375" y="4543425"/>
            <a:ext cx="7715250" cy="175022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5 — DATA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14375" y="4775597"/>
            <a:ext cx="769460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4375" y="4775597"/>
            <a:ext cx="769460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540985" y="4775597"/>
            <a:ext cx="513345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540985" y="4775597"/>
            <a:ext cx="513345" cy="221456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Qdrant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11480" y="4775597"/>
            <a:ext cx="1662987" cy="221456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11480" y="4775597"/>
            <a:ext cx="1662987" cy="221456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Government Knowledge Graph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71500" y="5161359"/>
            <a:ext cx="8001000" cy="303609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1500" y="5161359"/>
            <a:ext cx="8001000" cy="303609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Infrastructure: Vercel | Railway / Render | Docker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2866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FARMER'S JOURNEY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2000" b="1" spc="-1" kern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(DEMO SCENARIO)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364456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6445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00125" y="1285875"/>
            <a:ext cx="7572375" cy="44291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25" y="1285875"/>
            <a:ext cx="7572375" cy="44291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Voice Input: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farmer named Ramesh from Rajasthan speaks in Hindi: "I am a farmer, what help can I get?"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1900238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9002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0125" y="1821656"/>
            <a:ext cx="7572375" cy="442913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0125" y="1821656"/>
            <a:ext cx="7572375" cy="44291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Processing: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AI detects Hindi, identifies PM-KISAN and crop insurance eligibility.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" y="2543175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5431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0125" y="2357438"/>
            <a:ext cx="757237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0125" y="2357438"/>
            <a:ext cx="7572375" cy="6572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Intelligence: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Ramesh uploads his Aadhaar card. The AI extracts details and detects a missing income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certificate.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" y="3293269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" y="329326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0125" y="3107531"/>
            <a:ext cx="757237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0125" y="3107531"/>
            <a:ext cx="7572375" cy="6572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Guided Action: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AI explains the process in simple Hindi and locates the nearest Common Service Centre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(CSC).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" y="4043363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40433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00125" y="3857625"/>
            <a:ext cx="7572375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0125" y="3857625"/>
            <a:ext cx="7572375" cy="65722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Comprehensive Support: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AI creates a checklist. Later, when Ramesh has a billing issue, the AI drafts a </a:t>
            </a: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 to the correct department.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1500" y="4679156"/>
            <a:ext cx="8001000" cy="492919"/>
          </a:xfrm>
          <a:prstGeom prst="rect">
            <a:avLst/>
          </a:prstGeom>
          <a:solidFill>
            <a:srgbClr val="ECFDF5"/>
          </a:solidFill>
          <a:ln w="18288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" y="4679156"/>
            <a:ext cx="8001000" cy="49291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one complete journey — and CitizenOS handles all of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2026-08-03T14:05:34Z</dcterms:created>
  <dcterms:modified xsi:type="dcterms:W3CDTF">2026-08-03T14:05:34Z</dcterms:modified>
</cp:coreProperties>
</file>