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2979446" cy="389334"/>
          </a:xfrm>
          <a:prstGeom prst="rect">
            <a:avLst/>
          </a:prstGeom>
          <a:noFill/>
          <a:ln/>
        </p:spPr>
        <p:txBody>
          <a:bodyPr wrap="square" lIns="0" tIns="0" rIns="0" bIns="0" rtlCol="0" anchor="t">
            <a:spAutoFit/>
          </a:bodyPr>
          <a:lstStyle/>
          <a:p>
            <a:pPr algn="l" indent="0" marL="0">
              <a:buNone/>
            </a:pPr>
            <a:r>
              <a:rPr lang="en-US" sz="2450" b="1" spc="-1" kern="0" dirty="0">
                <a:solidFill>
                  <a:srgbClr val="0F172A"/>
                </a:solidFill>
                <a:latin typeface="Courier New" pitchFamily="34" charset="0"/>
                <a:ea typeface="Courier New" pitchFamily="34" charset="-122"/>
                <a:cs typeface="Courier New" pitchFamily="34" charset="-120"/>
              </a:rPr>
              <a:t>DECODE SIH 2026</a:t>
            </a:r>
            <a:endParaRPr lang="en-US" sz="2450" dirty="0"/>
          </a:p>
        </p:txBody>
      </p:sp>
      <p:sp>
        <p:nvSpPr>
          <p:cNvPr id="4" name="Text 1"/>
          <p:cNvSpPr/>
          <p:nvPr/>
        </p:nvSpPr>
        <p:spPr>
          <a:xfrm>
            <a:off x="914400" y="2105620"/>
            <a:ext cx="7315200" cy="592931"/>
          </a:xfrm>
          <a:prstGeom prst="rect">
            <a:avLst/>
          </a:prstGeom>
          <a:noFill/>
          <a:ln/>
        </p:spPr>
        <p:txBody>
          <a:bodyPr wrap="square" lIns="0" tIns="0" rIns="0" bIns="0" rtlCol="0" anchor="t">
            <a:spAutoFit/>
          </a:bodyPr>
          <a:lstStyle/>
          <a:p>
            <a:pPr algn="ctr" indent="0" marL="0">
              <a:buNone/>
            </a:pPr>
            <a:r>
              <a:rPr lang="en-US" sz="3950" spc="2" kern="0" dirty="0">
                <a:solidFill>
                  <a:srgbClr val="0F172A"/>
                </a:solidFill>
                <a:latin typeface="Helvetica Neue" pitchFamily="34" charset="0"/>
                <a:ea typeface="Helvetica Neue" pitchFamily="34" charset="-122"/>
                <a:cs typeface="Helvetica Neue" pitchFamily="34" charset="-120"/>
              </a:rPr>
              <a:t>CITIZENOS</a:t>
            </a:r>
            <a:endParaRPr lang="en-US" sz="3950" dirty="0"/>
          </a:p>
        </p:txBody>
      </p:sp>
      <p:sp>
        <p:nvSpPr>
          <p:cNvPr id="5" name="Text 2"/>
          <p:cNvSpPr/>
          <p:nvPr/>
        </p:nvSpPr>
        <p:spPr>
          <a:xfrm>
            <a:off x="914400" y="2841427"/>
            <a:ext cx="7315200" cy="196453"/>
          </a:xfrm>
          <a:prstGeom prst="rect">
            <a:avLst/>
          </a:prstGeom>
          <a:noFill/>
          <a:ln/>
        </p:spPr>
        <p:txBody>
          <a:bodyPr wrap="square" lIns="0" tIns="0" rIns="0" bIns="0" rtlCol="0" anchor="t">
            <a:spAutoFit/>
          </a:bodyPr>
          <a:lstStyle/>
          <a:p>
            <a:pPr algn="ctr" indent="0" marL="0">
              <a:buNone/>
            </a:pPr>
            <a:r>
              <a:rPr lang="en-US" sz="1250" dirty="0">
                <a:solidFill>
                  <a:srgbClr val="334155"/>
                </a:solidFill>
                <a:latin typeface="Helvetica Neue" pitchFamily="34" charset="0"/>
                <a:ea typeface="Helvetica Neue" pitchFamily="34" charset="-122"/>
                <a:cs typeface="Helvetica Neue" pitchFamily="34" charset="-120"/>
              </a:rPr>
              <a:t>AI-Powered Multilingual Digital Citizen Assistant</a:t>
            </a:r>
            <a:endParaRPr lang="en-US" sz="1250" dirty="0"/>
          </a:p>
        </p:txBody>
      </p:sp>
      <p:sp>
        <p:nvSpPr>
          <p:cNvPr id="6" name="Text 3"/>
          <p:cNvSpPr/>
          <p:nvPr/>
        </p:nvSpPr>
        <p:spPr>
          <a:xfrm>
            <a:off x="571500" y="4186238"/>
            <a:ext cx="1337556" cy="385763"/>
          </a:xfrm>
          <a:prstGeom prst="rect">
            <a:avLst/>
          </a:prstGeom>
          <a:noFill/>
          <a:ln/>
        </p:spPr>
        <p:txBody>
          <a:bodyPr wrap="square" lIns="0" tIns="0" rIns="0" bIns="0" rtlCol="0" anchor="t">
            <a:spAutoFit/>
          </a:bodyPr>
          <a:lstStyle/>
          <a:p>
            <a:pPr algn="l" indent="0" marL="0">
              <a:buNone/>
            </a:pPr>
            <a:r>
              <a:rPr lang="en-US" sz="1200" b="1" dirty="0">
                <a:solidFill>
                  <a:srgbClr val="0F172A"/>
                </a:solidFill>
                <a:latin typeface="Courier New" pitchFamily="34" charset="0"/>
                <a:ea typeface="Courier New" pitchFamily="34" charset="-122"/>
                <a:cs typeface="Courier New" pitchFamily="34" charset="-120"/>
              </a:rPr>
              <a:t>PRESENTED BY:</a:t>
            </a:r>
            <a:r>
              <a:rPr lang="en-US" sz="1250" dirty="0">
                <a:solidFill>
                  <a:srgbClr val="334155"/>
                </a:solidFill>
                <a:latin typeface="Courier New" pitchFamily="34" charset="0"/>
                <a:ea typeface="Courier New" pitchFamily="34" charset="-122"/>
                <a:cs typeface="Courier New" pitchFamily="34" charset="-120"/>
              </a:rPr>
              <a:t>
</a:t>
            </a:r>
            <a:r>
              <a:rPr lang="en-US" sz="1250" dirty="0">
                <a:solidFill>
                  <a:srgbClr val="334155"/>
                </a:solidFill>
                <a:latin typeface="Courier New" pitchFamily="34" charset="0"/>
                <a:ea typeface="Courier New" pitchFamily="34" charset="-122"/>
                <a:cs typeface="Courier New" pitchFamily="34" charset="-120"/>
              </a:rPr>
              <a:t>Ctrl+Innovate</a:t>
            </a:r>
            <a:endParaRPr lang="en-US" sz="1200" dirty="0"/>
          </a:p>
        </p:txBody>
      </p:sp>
      <p:pic>
        <p:nvPicPr>
          <p:cNvPr id="7" name="Image 1" descr="preencoded.png">    </p:cNvPr>
          <p:cNvPicPr>
            <a:picLocks noChangeAspect="1"/>
          </p:cNvPicPr>
          <p:nvPr/>
        </p:nvPicPr>
        <p:blipFill>
          <a:blip r:embed="rId2">
            <a:alphaModFix amt="5000"/>
          </a:blip>
          <a:stretch>
            <a:fillRect/>
          </a:stretch>
        </p:blipFill>
        <p:spPr>
          <a:xfrm>
            <a:off x="4857750" y="714375"/>
            <a:ext cx="4286250" cy="42862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2383557" cy="389334"/>
          </a:xfrm>
          <a:prstGeom prst="rect">
            <a:avLst/>
          </a:prstGeom>
          <a:noFill/>
          <a:ln/>
        </p:spPr>
        <p:txBody>
          <a:bodyPr wrap="square" lIns="0" tIns="0" rIns="0" bIns="0" rtlCol="0" anchor="t">
            <a:spAutoFit/>
          </a:bodyPr>
          <a:lstStyle/>
          <a:p>
            <a:pPr algn="l" indent="0" marL="0">
              <a:buNone/>
            </a:pPr>
            <a:r>
              <a:rPr lang="en-US" sz="2450" b="1" spc="-1" kern="0" dirty="0">
                <a:solidFill>
                  <a:srgbClr val="0F172A"/>
                </a:solidFill>
                <a:latin typeface="Courier New" pitchFamily="34" charset="0"/>
                <a:ea typeface="Courier New" pitchFamily="34" charset="-122"/>
                <a:cs typeface="Courier New" pitchFamily="34" charset="-120"/>
              </a:rPr>
              <a:t>TEAM MEMBERS</a:t>
            </a:r>
            <a:endParaRPr lang="en-US" sz="2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3376706" cy="389334"/>
          </a:xfrm>
          <a:prstGeom prst="rect">
            <a:avLst/>
          </a:prstGeom>
          <a:noFill/>
          <a:ln/>
        </p:spPr>
        <p:txBody>
          <a:bodyPr wrap="square" lIns="0" tIns="0" rIns="0" bIns="0" rtlCol="0" anchor="t">
            <a:spAutoFit/>
          </a:bodyPr>
          <a:lstStyle/>
          <a:p>
            <a:pPr algn="l" indent="0" marL="0">
              <a:buNone/>
            </a:pPr>
            <a:r>
              <a:rPr lang="en-US" sz="2450" b="1" spc="-1" kern="0" dirty="0">
                <a:solidFill>
                  <a:srgbClr val="0F172A"/>
                </a:solidFill>
                <a:latin typeface="Courier New" pitchFamily="34" charset="0"/>
                <a:ea typeface="Courier New" pitchFamily="34" charset="-122"/>
                <a:cs typeface="Courier New" pitchFamily="34" charset="-120"/>
              </a:rPr>
              <a:t>PROBLEM STATEMENT</a:t>
            </a:r>
            <a:endParaRPr lang="en-US" sz="2450" dirty="0"/>
          </a:p>
        </p:txBody>
      </p:sp>
      <p:sp>
        <p:nvSpPr>
          <p:cNvPr id="4" name="Text 1"/>
          <p:cNvSpPr/>
          <p:nvPr/>
        </p:nvSpPr>
        <p:spPr>
          <a:xfrm>
            <a:off x="571500" y="1143000"/>
            <a:ext cx="6429375" cy="528638"/>
          </a:xfrm>
          <a:prstGeom prst="rect">
            <a:avLst/>
          </a:prstGeom>
          <a:noFill/>
          <a:ln/>
        </p:spPr>
        <p:txBody>
          <a:bodyPr wrap="square" lIns="0" tIns="0" rIns="0" bIns="0" rtlCol="0" anchor="t">
            <a:spAutoFit/>
          </a:bodyPr>
          <a:lstStyle/>
          <a:p>
            <a:pPr algn="l" indent="0" marL="0">
              <a:buNone/>
            </a:pPr>
            <a:r>
              <a:rPr lang="en-US" sz="1600" b="1" dirty="0">
                <a:solidFill>
                  <a:srgbClr val="059669"/>
                </a:solidFill>
                <a:latin typeface="Helvetica Neue" pitchFamily="34" charset="0"/>
                <a:ea typeface="Helvetica Neue" pitchFamily="34" charset="-122"/>
                <a:cs typeface="Helvetica Neue" pitchFamily="34" charset="-120"/>
              </a:rPr>
              <a:t>Fragmented Government Service Discovery &amp; Application for Citizens in India</a:t>
            </a:r>
            <a:endParaRPr lang="en-US" sz="1600" dirty="0"/>
          </a:p>
        </p:txBody>
      </p:sp>
      <p:sp>
        <p:nvSpPr>
          <p:cNvPr id="5" name="Text 2"/>
          <p:cNvSpPr/>
          <p:nvPr/>
        </p:nvSpPr>
        <p:spPr>
          <a:xfrm>
            <a:off x="571500" y="1885950"/>
            <a:ext cx="6429375" cy="232172"/>
          </a:xfrm>
          <a:prstGeom prst="rect">
            <a:avLst/>
          </a:prstGeom>
          <a:noFill/>
          <a:ln/>
        </p:spPr>
        <p:txBody>
          <a:bodyPr wrap="square" lIns="0" tIns="0" rIns="0" bIns="0" rtlCol="0" anchor="t">
            <a:spAutoFit/>
          </a:bodyPr>
          <a:lstStyle/>
          <a:p>
            <a:pPr algn="l" indent="0" marL="0">
              <a:buNone/>
            </a:pPr>
            <a:r>
              <a:rPr lang="en-US" sz="1400" b="1" dirty="0">
                <a:solidFill>
                  <a:srgbClr val="0F172A"/>
                </a:solidFill>
                <a:latin typeface="Helvetica Neue" pitchFamily="34" charset="0"/>
                <a:ea typeface="Helvetica Neue" pitchFamily="34" charset="-122"/>
                <a:cs typeface="Helvetica Neue" pitchFamily="34" charset="-120"/>
              </a:rPr>
              <a:t>What does this Problem Aim to Solve?</a:t>
            </a:r>
            <a:endParaRPr lang="en-US" sz="1400" dirty="0"/>
          </a:p>
        </p:txBody>
      </p:sp>
      <p:sp>
        <p:nvSpPr>
          <p:cNvPr id="6" name="Text 3"/>
          <p:cNvSpPr/>
          <p:nvPr/>
        </p:nvSpPr>
        <p:spPr>
          <a:xfrm>
            <a:off x="571500" y="2189559"/>
            <a:ext cx="6429375" cy="1285875"/>
          </a:xfrm>
          <a:prstGeom prst="rect">
            <a:avLst/>
          </a:prstGeom>
          <a:noFill/>
          <a:ln/>
        </p:spPr>
        <p:txBody>
          <a:bodyPr wrap="square" lIns="0" tIns="0" rIns="0" bIns="0" rtlCol="0" anchor="t">
            <a:spAutoFit/>
          </a:bodyPr>
          <a:lstStyle/>
          <a:p>
            <a:pPr algn="l" indent="0" marL="0">
              <a:lnSpc>
                <a:spcPct val="120000"/>
              </a:lnSpc>
              <a:buNone/>
            </a:pPr>
            <a:r>
              <a:rPr lang="en-US" sz="1250" dirty="0">
                <a:solidFill>
                  <a:srgbClr val="334155"/>
                </a:solidFill>
                <a:latin typeface="Helvetica Neue" pitchFamily="34" charset="0"/>
                <a:ea typeface="Helvetica Neue" pitchFamily="34" charset="-122"/>
                <a:cs typeface="Helvetica Neue" pitchFamily="34" charset="-120"/>
              </a:rPr>
              <a:t>India has over 2,000 government schemes spread across multiple ministries. The average citizen cannot identify which scheme they qualify for or where to apply. Despite 95.15% of villages having internet access, citizens face severe barriers including complex bureaucratic language and lack of guided application support. Existing portals list services but do not reason, recommend, or assist.</a:t>
            </a:r>
            <a:endParaRPr lang="en-US" sz="1250" dirty="0"/>
          </a:p>
        </p:txBody>
      </p:sp>
      <p:sp>
        <p:nvSpPr>
          <p:cNvPr id="7" name="Text 4"/>
          <p:cNvSpPr/>
          <p:nvPr/>
        </p:nvSpPr>
        <p:spPr>
          <a:xfrm>
            <a:off x="571500" y="3654028"/>
            <a:ext cx="6429375" cy="232172"/>
          </a:xfrm>
          <a:prstGeom prst="rect">
            <a:avLst/>
          </a:prstGeom>
          <a:noFill/>
          <a:ln/>
        </p:spPr>
        <p:txBody>
          <a:bodyPr wrap="square" lIns="0" tIns="0" rIns="0" bIns="0" rtlCol="0" anchor="t">
            <a:spAutoFit/>
          </a:bodyPr>
          <a:lstStyle/>
          <a:p>
            <a:pPr algn="l" indent="0" marL="0">
              <a:buNone/>
            </a:pPr>
            <a:r>
              <a:rPr lang="en-US" sz="1400" b="1" dirty="0">
                <a:solidFill>
                  <a:srgbClr val="0F172A"/>
                </a:solidFill>
                <a:latin typeface="Helvetica Neue" pitchFamily="34" charset="0"/>
                <a:ea typeface="Helvetica Neue" pitchFamily="34" charset="-122"/>
                <a:cs typeface="Helvetica Neue" pitchFamily="34" charset="-120"/>
              </a:rPr>
              <a:t>Why did your team choose this?</a:t>
            </a:r>
            <a:endParaRPr lang="en-US" sz="1400" dirty="0"/>
          </a:p>
        </p:txBody>
      </p:sp>
      <p:sp>
        <p:nvSpPr>
          <p:cNvPr id="8" name="Text 5"/>
          <p:cNvSpPr/>
          <p:nvPr/>
        </p:nvSpPr>
        <p:spPr>
          <a:xfrm>
            <a:off x="571500" y="3957638"/>
            <a:ext cx="6429375" cy="1285875"/>
          </a:xfrm>
          <a:prstGeom prst="rect">
            <a:avLst/>
          </a:prstGeom>
          <a:noFill/>
          <a:ln/>
        </p:spPr>
        <p:txBody>
          <a:bodyPr wrap="square" lIns="0" tIns="0" rIns="0" bIns="0" rtlCol="0" anchor="t">
            <a:spAutoFit/>
          </a:bodyPr>
          <a:lstStyle/>
          <a:p>
            <a:pPr algn="l" indent="0" marL="0">
              <a:lnSpc>
                <a:spcPct val="120000"/>
              </a:lnSpc>
              <a:buNone/>
            </a:pPr>
            <a:r>
              <a:rPr lang="en-US" sz="1250" dirty="0">
                <a:solidFill>
                  <a:srgbClr val="334155"/>
                </a:solidFill>
                <a:latin typeface="Helvetica Neue" pitchFamily="34" charset="0"/>
                <a:ea typeface="Helvetica Neue" pitchFamily="34" charset="-122"/>
                <a:cs typeface="Helvetica Neue" pitchFamily="34" charset="-120"/>
              </a:rPr>
              <a:t>This problem directly affects over 1.4 billion Indians, with the greatest impact on rural populations, farmers, and those with limited digital literacy. Our team believes technology should eliminate barriers to government access. CitizenOS addresses this at the intersection of AI, multilingual NLP, and e-governance, aligning with India's Digital Public Infrastructure vision.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5561633" cy="389334"/>
          </a:xfrm>
          <a:prstGeom prst="rect">
            <a:avLst/>
          </a:prstGeom>
          <a:noFill/>
          <a:ln/>
        </p:spPr>
        <p:txBody>
          <a:bodyPr wrap="square" lIns="0" tIns="0" rIns="0" bIns="0" rtlCol="0" anchor="t">
            <a:spAutoFit/>
          </a:bodyPr>
          <a:lstStyle/>
          <a:p>
            <a:pPr algn="l" indent="0" marL="0">
              <a:buNone/>
            </a:pPr>
            <a:r>
              <a:rPr lang="en-US" sz="2450" b="1" spc="-1" kern="0" dirty="0">
                <a:solidFill>
                  <a:srgbClr val="0F172A"/>
                </a:solidFill>
                <a:latin typeface="Courier New" pitchFamily="34" charset="0"/>
                <a:ea typeface="Courier New" pitchFamily="34" charset="-122"/>
                <a:cs typeface="Courier New" pitchFamily="34" charset="-120"/>
              </a:rPr>
              <a:t>REAL-WORLD PROBLEM ALIGNMENT</a:t>
            </a:r>
            <a:endParaRPr lang="en-US" sz="2450" dirty="0"/>
          </a:p>
        </p:txBody>
      </p:sp>
      <p:sp>
        <p:nvSpPr>
          <p:cNvPr id="4" name="Text 1"/>
          <p:cNvSpPr/>
          <p:nvPr/>
        </p:nvSpPr>
        <p:spPr>
          <a:xfrm>
            <a:off x="685800" y="1400175"/>
            <a:ext cx="2200275" cy="146447"/>
          </a:xfrm>
          <a:prstGeom prst="rect">
            <a:avLst/>
          </a:prstGeom>
          <a:noFill/>
          <a:ln/>
        </p:spPr>
        <p:txBody>
          <a:bodyPr wrap="square" lIns="0" tIns="0" rIns="0" bIns="0" rtlCol="0" anchor="t">
            <a:spAutoFit/>
          </a:bodyPr>
          <a:lstStyle/>
          <a:p>
            <a:pPr algn="l" indent="0" marL="0">
              <a:buNone/>
            </a:pPr>
            <a:r>
              <a:rPr lang="en-US" sz="900" b="1" dirty="0">
                <a:solidFill>
                  <a:srgbClr val="059669"/>
                </a:solidFill>
                <a:latin typeface="Courier New" pitchFamily="34" charset="0"/>
                <a:ea typeface="Courier New" pitchFamily="34" charset="-122"/>
                <a:cs typeface="Courier New" pitchFamily="34" charset="-120"/>
              </a:rPr>
              <a:t>WHO FACES THIS ISSUE?</a:t>
            </a:r>
            <a:endParaRPr lang="en-US" sz="900" dirty="0"/>
          </a:p>
        </p:txBody>
      </p:sp>
      <p:sp>
        <p:nvSpPr>
          <p:cNvPr id="5" name="Text 2"/>
          <p:cNvSpPr/>
          <p:nvPr/>
        </p:nvSpPr>
        <p:spPr>
          <a:xfrm>
            <a:off x="828675" y="1618059"/>
            <a:ext cx="2057400" cy="264319"/>
          </a:xfrm>
          <a:prstGeom prst="rect">
            <a:avLst/>
          </a:prstGeom>
          <a:noFill/>
          <a:ln/>
        </p:spPr>
        <p:txBody>
          <a:bodyPr wrap="square" lIns="0" tIns="0" rIns="0" bIns="0" rtlCol="0" anchor="t">
            <a:spAutoFit/>
          </a:bodyPr>
          <a:lstStyle/>
          <a:p>
            <a:pPr algn="l" marL="127000" indent="-127000">
              <a:buSzPct val="100000"/>
              <a:buChar char="•"/>
            </a:pPr>
            <a:r>
              <a:rPr lang="en-US" sz="850" dirty="0">
                <a:solidFill>
                  <a:srgbClr val="334155"/>
                </a:solidFill>
                <a:latin typeface="Helvetica Neue" pitchFamily="34" charset="0"/>
                <a:ea typeface="Helvetica Neue" pitchFamily="34" charset="-122"/>
                <a:cs typeface="Helvetica Neue" pitchFamily="34" charset="-120"/>
              </a:rPr>
              <a:t>Rural citizens (425M rural smartphone users)</a:t>
            </a:r>
            <a:endParaRPr lang="en-US" sz="850" dirty="0"/>
          </a:p>
        </p:txBody>
      </p:sp>
      <p:sp>
        <p:nvSpPr>
          <p:cNvPr id="6" name="Text 3"/>
          <p:cNvSpPr/>
          <p:nvPr/>
        </p:nvSpPr>
        <p:spPr>
          <a:xfrm>
            <a:off x="828675" y="1918097"/>
            <a:ext cx="2057400" cy="264319"/>
          </a:xfrm>
          <a:prstGeom prst="rect">
            <a:avLst/>
          </a:prstGeom>
          <a:noFill/>
          <a:ln/>
        </p:spPr>
        <p:txBody>
          <a:bodyPr wrap="square" lIns="0" tIns="0" rIns="0" bIns="0" rtlCol="0" anchor="t">
            <a:spAutoFit/>
          </a:bodyPr>
          <a:lstStyle/>
          <a:p>
            <a:pPr algn="l" marL="127000" indent="-127000">
              <a:buSzPct val="100000"/>
              <a:buChar char="•"/>
            </a:pPr>
            <a:r>
              <a:rPr lang="en-US" sz="850" dirty="0">
                <a:solidFill>
                  <a:srgbClr val="334155"/>
                </a:solidFill>
                <a:latin typeface="Helvetica Neue" pitchFamily="34" charset="0"/>
                <a:ea typeface="Helvetica Neue" pitchFamily="34" charset="-122"/>
                <a:cs typeface="Helvetica Neue" pitchFamily="34" charset="-120"/>
              </a:rPr>
              <a:t>Farmers seeking subsidies (PM-KISAN, PMFBY)</a:t>
            </a:r>
            <a:endParaRPr lang="en-US" sz="850" dirty="0"/>
          </a:p>
        </p:txBody>
      </p:sp>
      <p:sp>
        <p:nvSpPr>
          <p:cNvPr id="7" name="Text 4"/>
          <p:cNvSpPr/>
          <p:nvPr/>
        </p:nvSpPr>
        <p:spPr>
          <a:xfrm>
            <a:off x="828675" y="2218134"/>
            <a:ext cx="2057400" cy="264319"/>
          </a:xfrm>
          <a:prstGeom prst="rect">
            <a:avLst/>
          </a:prstGeom>
          <a:noFill/>
          <a:ln/>
        </p:spPr>
        <p:txBody>
          <a:bodyPr wrap="square" lIns="0" tIns="0" rIns="0" bIns="0" rtlCol="0" anchor="t">
            <a:spAutoFit/>
          </a:bodyPr>
          <a:lstStyle/>
          <a:p>
            <a:pPr algn="l" marL="127000" indent="-127000">
              <a:buSzPct val="100000"/>
              <a:buChar char="•"/>
            </a:pPr>
            <a:r>
              <a:rPr lang="en-US" sz="850" dirty="0">
                <a:solidFill>
                  <a:srgbClr val="334155"/>
                </a:solidFill>
                <a:latin typeface="Helvetica Neue" pitchFamily="34" charset="0"/>
                <a:ea typeface="Helvetica Neue" pitchFamily="34" charset="-122"/>
                <a:cs typeface="Helvetica Neue" pitchFamily="34" charset="-120"/>
              </a:rPr>
              <a:t>Senior citizens and pension beneficiaries</a:t>
            </a:r>
            <a:endParaRPr lang="en-US" sz="850" dirty="0"/>
          </a:p>
        </p:txBody>
      </p:sp>
      <p:sp>
        <p:nvSpPr>
          <p:cNvPr id="8" name="Text 5"/>
          <p:cNvSpPr/>
          <p:nvPr/>
        </p:nvSpPr>
        <p:spPr>
          <a:xfrm>
            <a:off x="828675" y="2518172"/>
            <a:ext cx="2057400" cy="132159"/>
          </a:xfrm>
          <a:prstGeom prst="rect">
            <a:avLst/>
          </a:prstGeom>
          <a:noFill/>
          <a:ln/>
        </p:spPr>
        <p:txBody>
          <a:bodyPr wrap="square" lIns="0" tIns="0" rIns="0" bIns="0" rtlCol="0" anchor="t">
            <a:spAutoFit/>
          </a:bodyPr>
          <a:lstStyle/>
          <a:p>
            <a:pPr algn="l" marL="127000" indent="-127000">
              <a:buSzPct val="100000"/>
              <a:buChar char="•"/>
            </a:pPr>
            <a:r>
              <a:rPr lang="en-US" sz="850" dirty="0">
                <a:solidFill>
                  <a:srgbClr val="334155"/>
                </a:solidFill>
                <a:latin typeface="Helvetica Neue" pitchFamily="34" charset="0"/>
                <a:ea typeface="Helvetica Neue" pitchFamily="34" charset="-122"/>
                <a:cs typeface="Helvetica Neue" pitchFamily="34" charset="-120"/>
              </a:rPr>
              <a:t>Women heads of households</a:t>
            </a:r>
            <a:endParaRPr lang="en-US" sz="850" dirty="0"/>
          </a:p>
        </p:txBody>
      </p:sp>
      <p:sp>
        <p:nvSpPr>
          <p:cNvPr id="9" name="Text 6"/>
          <p:cNvSpPr/>
          <p:nvPr/>
        </p:nvSpPr>
        <p:spPr>
          <a:xfrm>
            <a:off x="828675" y="2686050"/>
            <a:ext cx="2057400" cy="132159"/>
          </a:xfrm>
          <a:prstGeom prst="rect">
            <a:avLst/>
          </a:prstGeom>
          <a:noFill/>
          <a:ln/>
        </p:spPr>
        <p:txBody>
          <a:bodyPr wrap="square" lIns="0" tIns="0" rIns="0" bIns="0" rtlCol="0" anchor="t">
            <a:spAutoFit/>
          </a:bodyPr>
          <a:lstStyle/>
          <a:p>
            <a:pPr algn="l" marL="127000" indent="-127000">
              <a:buSzPct val="100000"/>
              <a:buChar char="•"/>
            </a:pPr>
            <a:r>
              <a:rPr lang="en-US" sz="850" dirty="0">
                <a:solidFill>
                  <a:srgbClr val="334155"/>
                </a:solidFill>
                <a:latin typeface="Helvetica Neue" pitchFamily="34" charset="0"/>
                <a:ea typeface="Helvetica Neue" pitchFamily="34" charset="-122"/>
                <a:cs typeface="Helvetica Neue" pitchFamily="34" charset="-120"/>
              </a:rPr>
              <a:t>Citizens with limited digital literacy</a:t>
            </a:r>
            <a:endParaRPr lang="en-US" sz="850" dirty="0"/>
          </a:p>
        </p:txBody>
      </p:sp>
      <p:sp>
        <p:nvSpPr>
          <p:cNvPr id="10" name="Text 7"/>
          <p:cNvSpPr/>
          <p:nvPr/>
        </p:nvSpPr>
        <p:spPr>
          <a:xfrm>
            <a:off x="3257550" y="1400175"/>
            <a:ext cx="2200275" cy="146447"/>
          </a:xfrm>
          <a:prstGeom prst="rect">
            <a:avLst/>
          </a:prstGeom>
          <a:noFill/>
          <a:ln/>
        </p:spPr>
        <p:txBody>
          <a:bodyPr wrap="square" lIns="0" tIns="0" rIns="0" bIns="0" rtlCol="0" anchor="t">
            <a:spAutoFit/>
          </a:bodyPr>
          <a:lstStyle/>
          <a:p>
            <a:pPr algn="l" indent="0" marL="0">
              <a:buNone/>
            </a:pPr>
            <a:r>
              <a:rPr lang="en-US" sz="900" b="1" dirty="0">
                <a:solidFill>
                  <a:srgbClr val="059669"/>
                </a:solidFill>
                <a:latin typeface="Courier New" pitchFamily="34" charset="0"/>
                <a:ea typeface="Courier New" pitchFamily="34" charset="-122"/>
                <a:cs typeface="Courier New" pitchFamily="34" charset="-120"/>
              </a:rPr>
              <a:t>CURRENT GAP IN SYSTEM</a:t>
            </a:r>
            <a:endParaRPr lang="en-US" sz="900" dirty="0"/>
          </a:p>
        </p:txBody>
      </p:sp>
      <p:sp>
        <p:nvSpPr>
          <p:cNvPr id="11" name="Text 8"/>
          <p:cNvSpPr/>
          <p:nvPr/>
        </p:nvSpPr>
        <p:spPr>
          <a:xfrm>
            <a:off x="3400425" y="1618059"/>
            <a:ext cx="2057400" cy="264319"/>
          </a:xfrm>
          <a:prstGeom prst="rect">
            <a:avLst/>
          </a:prstGeom>
          <a:noFill/>
          <a:ln/>
        </p:spPr>
        <p:txBody>
          <a:bodyPr wrap="square" lIns="0" tIns="0" rIns="0" bIns="0" rtlCol="0" anchor="t">
            <a:spAutoFit/>
          </a:bodyPr>
          <a:lstStyle/>
          <a:p>
            <a:pPr algn="l" marL="127000" indent="-127000">
              <a:buSzPct val="100000"/>
              <a:buChar char="•"/>
            </a:pPr>
            <a:r>
              <a:rPr lang="en-US" sz="850" dirty="0">
                <a:solidFill>
                  <a:srgbClr val="334155"/>
                </a:solidFill>
                <a:latin typeface="Helvetica Neue" pitchFamily="34" charset="0"/>
                <a:ea typeface="Helvetica Neue" pitchFamily="34" charset="-122"/>
                <a:cs typeface="Helvetica Neue" pitchFamily="34" charset="-120"/>
              </a:rPr>
              <a:t>Portals are filter-based &amp; keyword-driven</a:t>
            </a:r>
            <a:endParaRPr lang="en-US" sz="850" dirty="0"/>
          </a:p>
        </p:txBody>
      </p:sp>
      <p:sp>
        <p:nvSpPr>
          <p:cNvPr id="12" name="Text 9"/>
          <p:cNvSpPr/>
          <p:nvPr/>
        </p:nvSpPr>
        <p:spPr>
          <a:xfrm>
            <a:off x="3400425" y="1918097"/>
            <a:ext cx="2057400" cy="132159"/>
          </a:xfrm>
          <a:prstGeom prst="rect">
            <a:avLst/>
          </a:prstGeom>
          <a:noFill/>
          <a:ln/>
        </p:spPr>
        <p:txBody>
          <a:bodyPr wrap="square" lIns="0" tIns="0" rIns="0" bIns="0" rtlCol="0" anchor="t">
            <a:spAutoFit/>
          </a:bodyPr>
          <a:lstStyle/>
          <a:p>
            <a:pPr algn="l" marL="127000" indent="-127000">
              <a:buSzPct val="100000"/>
              <a:buChar char="•"/>
            </a:pPr>
            <a:r>
              <a:rPr lang="en-US" sz="850" dirty="0">
                <a:solidFill>
                  <a:srgbClr val="334155"/>
                </a:solidFill>
                <a:latin typeface="Helvetica Neue" pitchFamily="34" charset="0"/>
                <a:ea typeface="Helvetica Neue" pitchFamily="34" charset="-122"/>
                <a:cs typeface="Helvetica Neue" pitchFamily="34" charset="-120"/>
              </a:rPr>
              <a:t>No AI layer to verify eligibility</a:t>
            </a:r>
            <a:endParaRPr lang="en-US" sz="850" dirty="0"/>
          </a:p>
        </p:txBody>
      </p:sp>
      <p:sp>
        <p:nvSpPr>
          <p:cNvPr id="13" name="Text 10"/>
          <p:cNvSpPr/>
          <p:nvPr/>
        </p:nvSpPr>
        <p:spPr>
          <a:xfrm>
            <a:off x="3400425" y="2085975"/>
            <a:ext cx="2057400" cy="132159"/>
          </a:xfrm>
          <a:prstGeom prst="rect">
            <a:avLst/>
          </a:prstGeom>
          <a:noFill/>
          <a:ln/>
        </p:spPr>
        <p:txBody>
          <a:bodyPr wrap="square" lIns="0" tIns="0" rIns="0" bIns="0" rtlCol="0" anchor="t">
            <a:spAutoFit/>
          </a:bodyPr>
          <a:lstStyle/>
          <a:p>
            <a:pPr algn="l" marL="127000" indent="-127000">
              <a:buSzPct val="100000"/>
              <a:buChar char="•"/>
            </a:pPr>
            <a:r>
              <a:rPr lang="en-US" sz="850" dirty="0">
                <a:solidFill>
                  <a:srgbClr val="334155"/>
                </a:solidFill>
                <a:latin typeface="Helvetica Neue" pitchFamily="34" charset="0"/>
                <a:ea typeface="Helvetica Neue" pitchFamily="34" charset="-122"/>
                <a:cs typeface="Helvetica Neue" pitchFamily="34" charset="-120"/>
              </a:rPr>
              <a:t>No document intelligence for uploads</a:t>
            </a:r>
            <a:endParaRPr lang="en-US" sz="850" dirty="0"/>
          </a:p>
        </p:txBody>
      </p:sp>
      <p:sp>
        <p:nvSpPr>
          <p:cNvPr id="14" name="Text 11"/>
          <p:cNvSpPr/>
          <p:nvPr/>
        </p:nvSpPr>
        <p:spPr>
          <a:xfrm>
            <a:off x="3400425" y="2253853"/>
            <a:ext cx="2057400" cy="132159"/>
          </a:xfrm>
          <a:prstGeom prst="rect">
            <a:avLst/>
          </a:prstGeom>
          <a:noFill/>
          <a:ln/>
        </p:spPr>
        <p:txBody>
          <a:bodyPr wrap="square" lIns="0" tIns="0" rIns="0" bIns="0" rtlCol="0" anchor="t">
            <a:spAutoFit/>
          </a:bodyPr>
          <a:lstStyle/>
          <a:p>
            <a:pPr algn="l" marL="127000" indent="-127000">
              <a:buSzPct val="100000"/>
              <a:buChar char="•"/>
            </a:pPr>
            <a:r>
              <a:rPr lang="en-US" sz="850" dirty="0">
                <a:solidFill>
                  <a:srgbClr val="334155"/>
                </a:solidFill>
                <a:latin typeface="Helvetica Neue" pitchFamily="34" charset="0"/>
                <a:ea typeface="Helvetica Neue" pitchFamily="34" charset="-122"/>
                <a:cs typeface="Helvetica Neue" pitchFamily="34" charset="-120"/>
              </a:rPr>
              <a:t>No voice interface for non-readers</a:t>
            </a:r>
            <a:endParaRPr lang="en-US" sz="850" dirty="0"/>
          </a:p>
        </p:txBody>
      </p:sp>
      <p:sp>
        <p:nvSpPr>
          <p:cNvPr id="15" name="Text 12"/>
          <p:cNvSpPr/>
          <p:nvPr/>
        </p:nvSpPr>
        <p:spPr>
          <a:xfrm>
            <a:off x="3400425" y="2421731"/>
            <a:ext cx="2057400" cy="264319"/>
          </a:xfrm>
          <a:prstGeom prst="rect">
            <a:avLst/>
          </a:prstGeom>
          <a:noFill/>
          <a:ln/>
        </p:spPr>
        <p:txBody>
          <a:bodyPr wrap="square" lIns="0" tIns="0" rIns="0" bIns="0" rtlCol="0" anchor="t">
            <a:spAutoFit/>
          </a:bodyPr>
          <a:lstStyle/>
          <a:p>
            <a:pPr algn="l" marL="127000" indent="-127000">
              <a:buSzPct val="100000"/>
              <a:buChar char="•"/>
            </a:pPr>
            <a:r>
              <a:rPr lang="en-US" sz="850" dirty="0">
                <a:solidFill>
                  <a:srgbClr val="334155"/>
                </a:solidFill>
                <a:latin typeface="Helvetica Neue" pitchFamily="34" charset="0"/>
                <a:ea typeface="Helvetica Neue" pitchFamily="34" charset="-122"/>
                <a:cs typeface="Helvetica Neue" pitchFamily="34" charset="-120"/>
              </a:rPr>
              <a:t>India's EGDI ranking: 97 of 193 UN states</a:t>
            </a:r>
            <a:endParaRPr lang="en-US" sz="850" dirty="0"/>
          </a:p>
        </p:txBody>
      </p:sp>
      <p:sp>
        <p:nvSpPr>
          <p:cNvPr id="16" name="Text 13"/>
          <p:cNvSpPr/>
          <p:nvPr/>
        </p:nvSpPr>
        <p:spPr>
          <a:xfrm>
            <a:off x="685800" y="3225403"/>
            <a:ext cx="2200275" cy="146447"/>
          </a:xfrm>
          <a:prstGeom prst="rect">
            <a:avLst/>
          </a:prstGeom>
          <a:noFill/>
          <a:ln/>
        </p:spPr>
        <p:txBody>
          <a:bodyPr wrap="square" lIns="0" tIns="0" rIns="0" bIns="0" rtlCol="0" anchor="t">
            <a:spAutoFit/>
          </a:bodyPr>
          <a:lstStyle/>
          <a:p>
            <a:pPr algn="l" indent="0" marL="0">
              <a:buNone/>
            </a:pPr>
            <a:r>
              <a:rPr lang="en-US" sz="900" b="1" dirty="0">
                <a:solidFill>
                  <a:srgbClr val="059669"/>
                </a:solidFill>
                <a:latin typeface="Courier New" pitchFamily="34" charset="0"/>
                <a:ea typeface="Courier New" pitchFamily="34" charset="-122"/>
                <a:cs typeface="Courier New" pitchFamily="34" charset="-120"/>
              </a:rPr>
              <a:t>PRACTICAL SOLUTION FIT</a:t>
            </a:r>
            <a:endParaRPr lang="en-US" sz="900" dirty="0"/>
          </a:p>
        </p:txBody>
      </p:sp>
      <p:sp>
        <p:nvSpPr>
          <p:cNvPr id="17" name="Text 14"/>
          <p:cNvSpPr/>
          <p:nvPr/>
        </p:nvSpPr>
        <p:spPr>
          <a:xfrm>
            <a:off x="685800" y="3443288"/>
            <a:ext cx="2200275" cy="12001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334155"/>
                </a:solidFill>
                <a:latin typeface="Helvetica Neue" pitchFamily="34" charset="0"/>
                <a:ea typeface="Helvetica Neue" pitchFamily="34" charset="-122"/>
                <a:cs typeface="Helvetica Neue" pitchFamily="34" charset="-120"/>
              </a:rPr>
              <a:t>CitizenOS acts as an intelligent government navigator. A citizen speaks naturally in their language — the AI detects eligibility, prepares documents, explains processes in simple terms, finds the nearest application centre, and tracks progress.</a:t>
            </a:r>
            <a:endParaRPr lang="en-US" sz="850" dirty="0"/>
          </a:p>
        </p:txBody>
      </p:sp>
      <p:sp>
        <p:nvSpPr>
          <p:cNvPr id="18" name="Text 15"/>
          <p:cNvSpPr/>
          <p:nvPr/>
        </p:nvSpPr>
        <p:spPr>
          <a:xfrm>
            <a:off x="3257550" y="3225403"/>
            <a:ext cx="2200275" cy="146447"/>
          </a:xfrm>
          <a:prstGeom prst="rect">
            <a:avLst/>
          </a:prstGeom>
          <a:noFill/>
          <a:ln/>
        </p:spPr>
        <p:txBody>
          <a:bodyPr wrap="square" lIns="0" tIns="0" rIns="0" bIns="0" rtlCol="0" anchor="t">
            <a:spAutoFit/>
          </a:bodyPr>
          <a:lstStyle/>
          <a:p>
            <a:pPr algn="l" indent="0" marL="0">
              <a:buNone/>
            </a:pPr>
            <a:r>
              <a:rPr lang="en-US" sz="900" b="1" dirty="0">
                <a:solidFill>
                  <a:srgbClr val="059669"/>
                </a:solidFill>
                <a:latin typeface="Courier New" pitchFamily="34" charset="0"/>
                <a:ea typeface="Courier New" pitchFamily="34" charset="-122"/>
                <a:cs typeface="Courier New" pitchFamily="34" charset="-120"/>
              </a:rPr>
              <a:t>CONNECTION TO SCHEMES</a:t>
            </a:r>
            <a:endParaRPr lang="en-US" sz="900" dirty="0"/>
          </a:p>
        </p:txBody>
      </p:sp>
      <p:sp>
        <p:nvSpPr>
          <p:cNvPr id="19" name="Text 16"/>
          <p:cNvSpPr/>
          <p:nvPr/>
        </p:nvSpPr>
        <p:spPr>
          <a:xfrm>
            <a:off x="3400425" y="3443288"/>
            <a:ext cx="2057400" cy="132159"/>
          </a:xfrm>
          <a:prstGeom prst="rect">
            <a:avLst/>
          </a:prstGeom>
          <a:noFill/>
          <a:ln/>
        </p:spPr>
        <p:txBody>
          <a:bodyPr wrap="square" lIns="0" tIns="0" rIns="0" bIns="0" rtlCol="0" anchor="t">
            <a:spAutoFit/>
          </a:bodyPr>
          <a:lstStyle/>
          <a:p>
            <a:pPr algn="l" marL="127000" indent="-127000">
              <a:buSzPct val="100000"/>
              <a:buChar char="•"/>
            </a:pPr>
            <a:r>
              <a:rPr lang="en-US" sz="850" dirty="0">
                <a:solidFill>
                  <a:srgbClr val="334155"/>
                </a:solidFill>
                <a:latin typeface="Helvetica Neue" pitchFamily="34" charset="0"/>
                <a:ea typeface="Helvetica Neue" pitchFamily="34" charset="-122"/>
                <a:cs typeface="Helvetica Neue" pitchFamily="34" charset="-120"/>
              </a:rPr>
              <a:t>Digital India</a:t>
            </a:r>
            <a:endParaRPr lang="en-US" sz="850" dirty="0"/>
          </a:p>
        </p:txBody>
      </p:sp>
      <p:sp>
        <p:nvSpPr>
          <p:cNvPr id="20" name="Text 17"/>
          <p:cNvSpPr/>
          <p:nvPr/>
        </p:nvSpPr>
        <p:spPr>
          <a:xfrm>
            <a:off x="3400425" y="3611166"/>
            <a:ext cx="2057400" cy="132159"/>
          </a:xfrm>
          <a:prstGeom prst="rect">
            <a:avLst/>
          </a:prstGeom>
          <a:noFill/>
          <a:ln/>
        </p:spPr>
        <p:txBody>
          <a:bodyPr wrap="square" lIns="0" tIns="0" rIns="0" bIns="0" rtlCol="0" anchor="t">
            <a:spAutoFit/>
          </a:bodyPr>
          <a:lstStyle/>
          <a:p>
            <a:pPr algn="l" marL="127000" indent="-127000">
              <a:buSzPct val="100000"/>
              <a:buChar char="•"/>
            </a:pPr>
            <a:r>
              <a:rPr lang="en-US" sz="850" dirty="0">
                <a:solidFill>
                  <a:srgbClr val="334155"/>
                </a:solidFill>
                <a:latin typeface="Helvetica Neue" pitchFamily="34" charset="0"/>
                <a:ea typeface="Helvetica Neue" pitchFamily="34" charset="-122"/>
                <a:cs typeface="Helvetica Neue" pitchFamily="34" charset="-120"/>
              </a:rPr>
              <a:t>IndiaAI Mission</a:t>
            </a:r>
            <a:endParaRPr lang="en-US" sz="850" dirty="0"/>
          </a:p>
        </p:txBody>
      </p:sp>
      <p:sp>
        <p:nvSpPr>
          <p:cNvPr id="21" name="Text 18"/>
          <p:cNvSpPr/>
          <p:nvPr/>
        </p:nvSpPr>
        <p:spPr>
          <a:xfrm>
            <a:off x="3400425" y="3779044"/>
            <a:ext cx="2057400" cy="132159"/>
          </a:xfrm>
          <a:prstGeom prst="rect">
            <a:avLst/>
          </a:prstGeom>
          <a:noFill/>
          <a:ln/>
        </p:spPr>
        <p:txBody>
          <a:bodyPr wrap="square" lIns="0" tIns="0" rIns="0" bIns="0" rtlCol="0" anchor="t">
            <a:spAutoFit/>
          </a:bodyPr>
          <a:lstStyle/>
          <a:p>
            <a:pPr algn="l" marL="127000" indent="-127000">
              <a:buSzPct val="100000"/>
              <a:buChar char="•"/>
            </a:pPr>
            <a:r>
              <a:rPr lang="en-US" sz="850" dirty="0">
                <a:solidFill>
                  <a:srgbClr val="334155"/>
                </a:solidFill>
                <a:latin typeface="Helvetica Neue" pitchFamily="34" charset="0"/>
                <a:ea typeface="Helvetica Neue" pitchFamily="34" charset="-122"/>
                <a:cs typeface="Helvetica Neue" pitchFamily="34" charset="-120"/>
              </a:rPr>
              <a:t>BHASHINI (Language Translation)</a:t>
            </a:r>
            <a:endParaRPr lang="en-US" sz="850" dirty="0"/>
          </a:p>
        </p:txBody>
      </p:sp>
      <p:sp>
        <p:nvSpPr>
          <p:cNvPr id="22" name="Text 19"/>
          <p:cNvSpPr/>
          <p:nvPr/>
        </p:nvSpPr>
        <p:spPr>
          <a:xfrm>
            <a:off x="3400425" y="3946922"/>
            <a:ext cx="2057400" cy="132159"/>
          </a:xfrm>
          <a:prstGeom prst="rect">
            <a:avLst/>
          </a:prstGeom>
          <a:noFill/>
          <a:ln/>
        </p:spPr>
        <p:txBody>
          <a:bodyPr wrap="square" lIns="0" tIns="0" rIns="0" bIns="0" rtlCol="0" anchor="t">
            <a:spAutoFit/>
          </a:bodyPr>
          <a:lstStyle/>
          <a:p>
            <a:pPr algn="l" marL="127000" indent="-127000">
              <a:buSzPct val="100000"/>
              <a:buChar char="•"/>
            </a:pPr>
            <a:r>
              <a:rPr lang="en-US" sz="850" dirty="0">
                <a:solidFill>
                  <a:srgbClr val="334155"/>
                </a:solidFill>
                <a:latin typeface="Helvetica Neue" pitchFamily="34" charset="0"/>
                <a:ea typeface="Helvetica Neue" pitchFamily="34" charset="-122"/>
                <a:cs typeface="Helvetica Neue" pitchFamily="34" charset="-120"/>
              </a:rPr>
              <a:t>DigiLocker</a:t>
            </a:r>
            <a:endParaRPr lang="en-US" sz="850" dirty="0"/>
          </a:p>
        </p:txBody>
      </p:sp>
      <p:sp>
        <p:nvSpPr>
          <p:cNvPr id="23" name="Text 20"/>
          <p:cNvSpPr/>
          <p:nvPr/>
        </p:nvSpPr>
        <p:spPr>
          <a:xfrm>
            <a:off x="3400425" y="4114800"/>
            <a:ext cx="2057400" cy="132159"/>
          </a:xfrm>
          <a:prstGeom prst="rect">
            <a:avLst/>
          </a:prstGeom>
          <a:noFill/>
          <a:ln/>
        </p:spPr>
        <p:txBody>
          <a:bodyPr wrap="square" lIns="0" tIns="0" rIns="0" bIns="0" rtlCol="0" anchor="t">
            <a:spAutoFit/>
          </a:bodyPr>
          <a:lstStyle/>
          <a:p>
            <a:pPr algn="l" marL="127000" indent="-127000">
              <a:buSzPct val="100000"/>
              <a:buChar char="•"/>
            </a:pPr>
            <a:r>
              <a:rPr lang="en-US" sz="850" dirty="0">
                <a:solidFill>
                  <a:srgbClr val="334155"/>
                </a:solidFill>
                <a:latin typeface="Helvetica Neue" pitchFamily="34" charset="0"/>
                <a:ea typeface="Helvetica Neue" pitchFamily="34" charset="-122"/>
                <a:cs typeface="Helvetica Neue" pitchFamily="34" charset="-120"/>
              </a:rPr>
              <a:t>PM-KISAN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3376706" cy="389334"/>
          </a:xfrm>
          <a:prstGeom prst="rect">
            <a:avLst/>
          </a:prstGeom>
          <a:noFill/>
          <a:ln/>
        </p:spPr>
        <p:txBody>
          <a:bodyPr wrap="square" lIns="0" tIns="0" rIns="0" bIns="0" rtlCol="0" anchor="t">
            <a:spAutoFit/>
          </a:bodyPr>
          <a:lstStyle/>
          <a:p>
            <a:pPr algn="l" indent="0" marL="0">
              <a:buNone/>
            </a:pPr>
            <a:r>
              <a:rPr lang="en-US" sz="2450" b="1" spc="-1" kern="0" dirty="0">
                <a:solidFill>
                  <a:srgbClr val="0F172A"/>
                </a:solidFill>
                <a:latin typeface="Courier New" pitchFamily="34" charset="0"/>
                <a:ea typeface="Courier New" pitchFamily="34" charset="-122"/>
                <a:cs typeface="Courier New" pitchFamily="34" charset="-120"/>
              </a:rPr>
              <a:t>PROPOSED SOLUTION</a:t>
            </a:r>
            <a:endParaRPr lang="en-US" sz="2450" dirty="0"/>
          </a:p>
        </p:txBody>
      </p:sp>
      <p:sp>
        <p:nvSpPr>
          <p:cNvPr id="4" name="Text 1"/>
          <p:cNvSpPr/>
          <p:nvPr/>
        </p:nvSpPr>
        <p:spPr>
          <a:xfrm>
            <a:off x="571500" y="1143000"/>
            <a:ext cx="3857625" cy="196453"/>
          </a:xfrm>
          <a:prstGeom prst="rect">
            <a:avLst/>
          </a:prstGeom>
          <a:noFill/>
          <a:ln/>
        </p:spPr>
        <p:txBody>
          <a:bodyPr wrap="square" lIns="0" tIns="0" rIns="0" bIns="0" rtlCol="0" anchor="t">
            <a:spAutoFit/>
          </a:bodyPr>
          <a:lstStyle/>
          <a:p>
            <a:pPr algn="l" indent="0" marL="0">
              <a:buNone/>
            </a:pPr>
            <a:r>
              <a:rPr lang="en-US" sz="1200" b="1" spc="1" kern="0" dirty="0">
                <a:solidFill>
                  <a:srgbClr val="059669"/>
                </a:solidFill>
                <a:latin typeface="Helvetica Neue" pitchFamily="34" charset="0"/>
                <a:ea typeface="Helvetica Neue" pitchFamily="34" charset="-122"/>
                <a:cs typeface="Helvetica Neue" pitchFamily="34" charset="-120"/>
              </a:rPr>
              <a:t>WHAT ARE YOU BUILDING?</a:t>
            </a:r>
            <a:endParaRPr lang="en-US" sz="1200" dirty="0"/>
          </a:p>
        </p:txBody>
      </p:sp>
      <p:sp>
        <p:nvSpPr>
          <p:cNvPr id="5" name="Text 2"/>
          <p:cNvSpPr/>
          <p:nvPr/>
        </p:nvSpPr>
        <p:spPr>
          <a:xfrm>
            <a:off x="571500" y="1446609"/>
            <a:ext cx="3857625" cy="2765692"/>
          </a:xfrm>
          <a:prstGeom prst="rect">
            <a:avLst/>
          </a:prstGeom>
          <a:noFill/>
          <a:ln/>
        </p:spPr>
        <p:txBody>
          <a:bodyPr wrap="square" lIns="0" tIns="0" rIns="0" bIns="0" rtlCol="0" anchor="t">
            <a:spAutoFit/>
          </a:bodyPr>
          <a:lstStyle/>
          <a:p>
            <a:pPr algn="l" indent="0" marL="0">
              <a:lnSpc>
                <a:spcPct val="128000"/>
              </a:lnSpc>
              <a:buNone/>
            </a:pPr>
            <a:r>
              <a:rPr lang="en-US" sz="1150" dirty="0">
                <a:solidFill>
                  <a:srgbClr val="334155"/>
                </a:solidFill>
                <a:latin typeface="Helvetica Neue" pitchFamily="34" charset="0"/>
                <a:ea typeface="Helvetica Neue" pitchFamily="34" charset="-122"/>
                <a:cs typeface="Helvetica Neue" pitchFamily="34" charset="-120"/>
              </a:rPr>
              <a:t>CitizenOS is an AI-powered multilingual digital citizen operating system — a personal government officer for every Indian citizen. Instead of citizens navigating dozens of fragmented government websites, the AI navigates the systems. The citizen only talks naturally. The AI detects language, verifies eligibility, extracts document data via OCR, explains processes in simple regional language, generates step-by-step application roadmaps, locates the nearest Common Service Centre, and tracks application progress. It works across voice, text, WhatsApp, and IVR channels.</a:t>
            </a:r>
            <a:endParaRPr lang="en-US" sz="1150" dirty="0"/>
          </a:p>
        </p:txBody>
      </p:sp>
      <p:sp>
        <p:nvSpPr>
          <p:cNvPr id="6" name="Text 3"/>
          <p:cNvSpPr/>
          <p:nvPr/>
        </p:nvSpPr>
        <p:spPr>
          <a:xfrm>
            <a:off x="4714875" y="1143000"/>
            <a:ext cx="3857625" cy="196453"/>
          </a:xfrm>
          <a:prstGeom prst="rect">
            <a:avLst/>
          </a:prstGeom>
          <a:noFill/>
          <a:ln/>
        </p:spPr>
        <p:txBody>
          <a:bodyPr wrap="square" lIns="0" tIns="0" rIns="0" bIns="0" rtlCol="0" anchor="t">
            <a:spAutoFit/>
          </a:bodyPr>
          <a:lstStyle/>
          <a:p>
            <a:pPr algn="l" indent="0" marL="0">
              <a:buNone/>
            </a:pPr>
            <a:r>
              <a:rPr lang="en-US" sz="1200" b="1" spc="1" kern="0" dirty="0">
                <a:solidFill>
                  <a:srgbClr val="059669"/>
                </a:solidFill>
                <a:latin typeface="Helvetica Neue" pitchFamily="34" charset="0"/>
                <a:ea typeface="Helvetica Neue" pitchFamily="34" charset="-122"/>
                <a:cs typeface="Helvetica Neue" pitchFamily="34" charset="-120"/>
              </a:rPr>
              <a:t>3-4 KEY FEATURES</a:t>
            </a:r>
            <a:endParaRPr lang="en-US" sz="1200" dirty="0"/>
          </a:p>
        </p:txBody>
      </p:sp>
      <p:sp>
        <p:nvSpPr>
          <p:cNvPr id="7" name="Text 4"/>
          <p:cNvSpPr/>
          <p:nvPr/>
        </p:nvSpPr>
        <p:spPr>
          <a:xfrm>
            <a:off x="4714875" y="1446609"/>
            <a:ext cx="3857625" cy="707231"/>
          </a:xfrm>
          <a:prstGeom prst="rect">
            <a:avLst/>
          </a:prstGeom>
          <a:noFill/>
          <a:ln/>
        </p:spPr>
        <p:txBody>
          <a:bodyPr wrap="square" lIns="212598" tIns="0" rIns="0" bIns="0" rtlCol="0" anchor="t">
            <a:spAutoFit/>
          </a:bodyPr>
          <a:lstStyle/>
          <a:p>
            <a:pPr algn="l" indent="0" marL="0">
              <a:lnSpc>
                <a:spcPct val="120000"/>
              </a:lnSpc>
              <a:buNone/>
            </a:pPr>
            <a:r>
              <a:rPr lang="en-US" sz="1150" dirty="0">
                <a:solidFill>
                  <a:srgbClr val="334155"/>
                </a:solidFill>
                <a:latin typeface="Helvetica Neue" pitchFamily="34" charset="0"/>
                <a:ea typeface="Helvetica Neue" pitchFamily="34" charset="-122"/>
                <a:cs typeface="Helvetica Neue" pitchFamily="34" charset="-120"/>
              </a:rPr>
              <a:t>Hybrid RAG + Government Knowledge Graph for accurate, hallucination-free scheme matching across 2,000+ schemes.</a:t>
            </a:r>
            <a:endParaRPr lang="en-US" sz="1150" dirty="0"/>
          </a:p>
        </p:txBody>
      </p:sp>
      <p:sp>
        <p:nvSpPr>
          <p:cNvPr id="8" name="Text 5"/>
          <p:cNvSpPr/>
          <p:nvPr/>
        </p:nvSpPr>
        <p:spPr>
          <a:xfrm>
            <a:off x="4714875" y="2260997"/>
            <a:ext cx="3857625" cy="707231"/>
          </a:xfrm>
          <a:prstGeom prst="rect">
            <a:avLst/>
          </a:prstGeom>
          <a:noFill/>
          <a:ln/>
        </p:spPr>
        <p:txBody>
          <a:bodyPr wrap="square" lIns="212598" tIns="0" rIns="0" bIns="0" rtlCol="0" anchor="t">
            <a:spAutoFit/>
          </a:bodyPr>
          <a:lstStyle/>
          <a:p>
            <a:pPr algn="l" indent="0" marL="0">
              <a:lnSpc>
                <a:spcPct val="120000"/>
              </a:lnSpc>
              <a:buNone/>
            </a:pPr>
            <a:r>
              <a:rPr lang="en-US" sz="1150" dirty="0">
                <a:solidFill>
                  <a:srgbClr val="334155"/>
                </a:solidFill>
                <a:latin typeface="Helvetica Neue" pitchFamily="34" charset="0"/>
                <a:ea typeface="Helvetica Neue" pitchFamily="34" charset="-122"/>
                <a:cs typeface="Helvetica Neue" pitchFamily="34" charset="-120"/>
              </a:rPr>
              <a:t>Interactive Eligibility Engine that interviews the citizen and scores every scheme with match percentages.</a:t>
            </a:r>
            <a:endParaRPr lang="en-US" sz="1150" dirty="0"/>
          </a:p>
        </p:txBody>
      </p:sp>
      <p:sp>
        <p:nvSpPr>
          <p:cNvPr id="9" name="Text 6"/>
          <p:cNvSpPr/>
          <p:nvPr/>
        </p:nvSpPr>
        <p:spPr>
          <a:xfrm>
            <a:off x="4714875" y="3075384"/>
            <a:ext cx="3857625" cy="707231"/>
          </a:xfrm>
          <a:prstGeom prst="rect">
            <a:avLst/>
          </a:prstGeom>
          <a:noFill/>
          <a:ln/>
        </p:spPr>
        <p:txBody>
          <a:bodyPr wrap="square" lIns="212598" tIns="0" rIns="0" bIns="0" rtlCol="0" anchor="t">
            <a:spAutoFit/>
          </a:bodyPr>
          <a:lstStyle/>
          <a:p>
            <a:pPr algn="l" indent="0" marL="0">
              <a:lnSpc>
                <a:spcPct val="120000"/>
              </a:lnSpc>
              <a:buNone/>
            </a:pPr>
            <a:r>
              <a:rPr lang="en-US" sz="1150" dirty="0">
                <a:solidFill>
                  <a:srgbClr val="334155"/>
                </a:solidFill>
                <a:latin typeface="Helvetica Neue" pitchFamily="34" charset="0"/>
                <a:ea typeface="Helvetica Neue" pitchFamily="34" charset="-122"/>
                <a:cs typeface="Helvetica Neue" pitchFamily="34" charset="-120"/>
              </a:rPr>
              <a:t>Document Intelligence using PaddleOCR to extract, validate, and flag issues in Aadhaar, PAN, and certificates.</a:t>
            </a:r>
            <a:endParaRPr lang="en-US" sz="1150" dirty="0"/>
          </a:p>
        </p:txBody>
      </p:sp>
      <p:sp>
        <p:nvSpPr>
          <p:cNvPr id="10" name="Text 7"/>
          <p:cNvSpPr/>
          <p:nvPr/>
        </p:nvSpPr>
        <p:spPr>
          <a:xfrm>
            <a:off x="4714875" y="3889772"/>
            <a:ext cx="3857625" cy="471488"/>
          </a:xfrm>
          <a:prstGeom prst="rect">
            <a:avLst/>
          </a:prstGeom>
          <a:noFill/>
          <a:ln/>
        </p:spPr>
        <p:txBody>
          <a:bodyPr wrap="square" lIns="212598" tIns="0" rIns="0" bIns="0" rtlCol="0" anchor="t">
            <a:spAutoFit/>
          </a:bodyPr>
          <a:lstStyle/>
          <a:p>
            <a:pPr algn="l" indent="0" marL="0">
              <a:lnSpc>
                <a:spcPct val="120000"/>
              </a:lnSpc>
              <a:buNone/>
            </a:pPr>
            <a:r>
              <a:rPr lang="en-US" sz="1150" dirty="0">
                <a:solidFill>
                  <a:srgbClr val="334155"/>
                </a:solidFill>
                <a:latin typeface="Helvetica Neue" pitchFamily="34" charset="0"/>
                <a:ea typeface="Helvetica Neue" pitchFamily="34" charset="-122"/>
                <a:cs typeface="Helvetica Neue" pitchFamily="34" charset="-120"/>
              </a:rPr>
              <a:t>Multilingual Voice Interface supporting 12+ Indian languages via BHASHINI APIs with offline capability.</a:t>
            </a:r>
            <a:endParaRPr lang="en-US" sz="1150" dirty="0"/>
          </a:p>
        </p:txBody>
      </p:sp>
      <p:sp>
        <p:nvSpPr>
          <p:cNvPr id="11" name="Text 8"/>
          <p:cNvSpPr/>
          <p:nvPr/>
        </p:nvSpPr>
        <p:spPr>
          <a:xfrm>
            <a:off x="4714875" y="4504134"/>
            <a:ext cx="3857625" cy="196453"/>
          </a:xfrm>
          <a:prstGeom prst="rect">
            <a:avLst/>
          </a:prstGeom>
          <a:noFill/>
          <a:ln/>
        </p:spPr>
        <p:txBody>
          <a:bodyPr wrap="square" lIns="0" tIns="0" rIns="0" bIns="0" rtlCol="0" anchor="t">
            <a:spAutoFit/>
          </a:bodyPr>
          <a:lstStyle/>
          <a:p>
            <a:pPr algn="l" indent="0" marL="0">
              <a:buNone/>
            </a:pPr>
            <a:r>
              <a:rPr lang="en-US" sz="1200" b="1" spc="1" kern="0" dirty="0">
                <a:solidFill>
                  <a:srgbClr val="059669"/>
                </a:solidFill>
                <a:latin typeface="Helvetica Neue" pitchFamily="34" charset="0"/>
                <a:ea typeface="Helvetica Neue" pitchFamily="34" charset="-122"/>
                <a:cs typeface="Helvetica Neue" pitchFamily="34" charset="-120"/>
              </a:rPr>
              <a:t>WHAT MAKES IT INNOVATIVE?</a:t>
            </a:r>
            <a:endParaRPr lang="en-US" sz="1200" dirty="0"/>
          </a:p>
        </p:txBody>
      </p:sp>
      <p:sp>
        <p:nvSpPr>
          <p:cNvPr id="12" name="Text 9"/>
          <p:cNvSpPr/>
          <p:nvPr/>
        </p:nvSpPr>
        <p:spPr>
          <a:xfrm>
            <a:off x="4714875" y="4807744"/>
            <a:ext cx="3857625" cy="1257133"/>
          </a:xfrm>
          <a:prstGeom prst="rect">
            <a:avLst/>
          </a:prstGeom>
          <a:noFill/>
          <a:ln/>
        </p:spPr>
        <p:txBody>
          <a:bodyPr wrap="square" lIns="0" tIns="0" rIns="0" bIns="0" rtlCol="0" anchor="t">
            <a:spAutoFit/>
          </a:bodyPr>
          <a:lstStyle/>
          <a:p>
            <a:pPr algn="l" indent="0" marL="0">
              <a:lnSpc>
                <a:spcPct val="128000"/>
              </a:lnSpc>
              <a:buNone/>
            </a:pPr>
            <a:r>
              <a:rPr lang="en-US" sz="1150" dirty="0">
                <a:solidFill>
                  <a:srgbClr val="334155"/>
                </a:solidFill>
                <a:latin typeface="Helvetica Neue" pitchFamily="34" charset="0"/>
                <a:ea typeface="Helvetica Neue" pitchFamily="34" charset="-122"/>
                <a:cs typeface="Helvetica Neue" pitchFamily="34" charset="-120"/>
              </a:rPr>
              <a:t>No existing platform combines multilingual voice interaction, personalized eligibility scoring, OCR-based document intelligence, and scam detection into a single system. CitizenOS shifts from a passive information repository to an active, intelligent agent.</a:t>
            </a:r>
            <a:endParaRPr lang="en-US" sz="1150" dirty="0"/>
          </a:p>
        </p:txBody>
      </p:sp>
      <p:sp>
        <p:nvSpPr>
          <p:cNvPr id="13" name="Text 10"/>
          <p:cNvSpPr/>
          <p:nvPr/>
        </p:nvSpPr>
        <p:spPr>
          <a:xfrm>
            <a:off x="4714875" y="1460897"/>
            <a:ext cx="77688" cy="192881"/>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059669"/>
                </a:solidFill>
                <a:latin typeface="Helvetica Neue" pitchFamily="34" charset="0"/>
                <a:ea typeface="Helvetica Neue" pitchFamily="34" charset="-122"/>
                <a:cs typeface="Helvetica Neue" pitchFamily="34" charset="-120"/>
              </a:rPr>
              <a:t>■</a:t>
            </a:r>
            <a:endParaRPr lang="en-US" sz="950" dirty="0"/>
          </a:p>
        </p:txBody>
      </p:sp>
      <p:sp>
        <p:nvSpPr>
          <p:cNvPr id="14" name="Text 11"/>
          <p:cNvSpPr/>
          <p:nvPr/>
        </p:nvSpPr>
        <p:spPr>
          <a:xfrm>
            <a:off x="4714875" y="2275284"/>
            <a:ext cx="77688" cy="192881"/>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059669"/>
                </a:solidFill>
                <a:latin typeface="Helvetica Neue" pitchFamily="34" charset="0"/>
                <a:ea typeface="Helvetica Neue" pitchFamily="34" charset="-122"/>
                <a:cs typeface="Helvetica Neue" pitchFamily="34" charset="-120"/>
              </a:rPr>
              <a:t>■</a:t>
            </a:r>
            <a:endParaRPr lang="en-US" sz="950" dirty="0"/>
          </a:p>
        </p:txBody>
      </p:sp>
      <p:sp>
        <p:nvSpPr>
          <p:cNvPr id="15" name="Text 12"/>
          <p:cNvSpPr/>
          <p:nvPr/>
        </p:nvSpPr>
        <p:spPr>
          <a:xfrm>
            <a:off x="4714875" y="3089672"/>
            <a:ext cx="77688" cy="192881"/>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059669"/>
                </a:solidFill>
                <a:latin typeface="Helvetica Neue" pitchFamily="34" charset="0"/>
                <a:ea typeface="Helvetica Neue" pitchFamily="34" charset="-122"/>
                <a:cs typeface="Helvetica Neue" pitchFamily="34" charset="-120"/>
              </a:rPr>
              <a:t>■</a:t>
            </a:r>
            <a:endParaRPr lang="en-US" sz="950" dirty="0"/>
          </a:p>
        </p:txBody>
      </p:sp>
      <p:sp>
        <p:nvSpPr>
          <p:cNvPr id="16" name="Text 13"/>
          <p:cNvSpPr/>
          <p:nvPr/>
        </p:nvSpPr>
        <p:spPr>
          <a:xfrm>
            <a:off x="4714875" y="3904059"/>
            <a:ext cx="77688" cy="192881"/>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059669"/>
                </a:solidFill>
                <a:latin typeface="Helvetica Neue" pitchFamily="34" charset="0"/>
                <a:ea typeface="Helvetica Neue" pitchFamily="34" charset="-122"/>
                <a:cs typeface="Helvetica Neue" pitchFamily="34" charset="-120"/>
              </a:rPr>
              <a: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3286683" cy="685800"/>
          </a:xfrm>
          <a:prstGeom prst="rect">
            <a:avLst/>
          </a:prstGeom>
          <a:noFill/>
          <a:ln/>
        </p:spPr>
        <p:txBody>
          <a:bodyPr wrap="square" lIns="0" tIns="0" rIns="0" bIns="0" rtlCol="0" anchor="t">
            <a:spAutoFit/>
          </a:bodyPr>
          <a:lstStyle/>
          <a:p>
            <a:pPr algn="l" indent="0" marL="0">
              <a:lnSpc>
                <a:spcPct val="96000"/>
              </a:lnSpc>
              <a:buNone/>
            </a:pPr>
            <a:r>
              <a:rPr lang="en-US" sz="2000" b="1" spc="-1" kern="0" dirty="0">
                <a:solidFill>
                  <a:srgbClr val="0F172A"/>
                </a:solidFill>
                <a:latin typeface="Courier New" pitchFamily="34" charset="0"/>
                <a:ea typeface="Courier New" pitchFamily="34" charset="-122"/>
                <a:cs typeface="Courier New" pitchFamily="34" charset="-120"/>
              </a:rPr>
              <a:t>CORE AI MODULES</a:t>
            </a:r>
            <a:r>
              <a:rPr lang="en-US" sz="2000" b="1" spc="-1" kern="0" dirty="0">
                <a:solidFill>
                  <a:srgbClr val="0F172A"/>
                </a:solidFill>
                <a:latin typeface="Courier New" pitchFamily="34" charset="0"/>
                <a:ea typeface="Courier New" pitchFamily="34" charset="-122"/>
                <a:cs typeface="Courier New" pitchFamily="34" charset="-120"/>
              </a:rPr>
              <a:t>
</a:t>
            </a:r>
            <a:r>
              <a:rPr lang="en-US" sz="2000" b="1" spc="-1" kern="0" dirty="0">
                <a:solidFill>
                  <a:srgbClr val="0F172A"/>
                </a:solidFill>
                <a:latin typeface="Courier New" pitchFamily="34" charset="0"/>
                <a:ea typeface="Courier New" pitchFamily="34" charset="-122"/>
                <a:cs typeface="Courier New" pitchFamily="34" charset="-120"/>
              </a:rPr>
              <a:t>PART 1: INTELLIGENCE</a:t>
            </a:r>
            <a:endParaRPr lang="en-US" sz="2000" dirty="0"/>
          </a:p>
        </p:txBody>
      </p:sp>
      <p:sp>
        <p:nvSpPr>
          <p:cNvPr id="4" name="Shape 1"/>
          <p:cNvSpPr/>
          <p:nvPr/>
        </p:nvSpPr>
        <p:spPr>
          <a:xfrm>
            <a:off x="571500" y="1285875"/>
            <a:ext cx="2547919" cy="3214688"/>
          </a:xfrm>
          <a:prstGeom prst="rect">
            <a:avLst/>
          </a:prstGeom>
          <a:solidFill>
            <a:srgbClr val="FFFFFF"/>
          </a:solidFill>
          <a:ln w="9144">
            <a:solidFill>
              <a:srgbClr val="334155"/>
            </a:solidFill>
            <a:prstDash val="solid"/>
          </a:ln>
        </p:spPr>
      </p:sp>
      <p:sp>
        <p:nvSpPr>
          <p:cNvPr id="5" name="Text 2"/>
          <p:cNvSpPr/>
          <p:nvPr/>
        </p:nvSpPr>
        <p:spPr>
          <a:xfrm>
            <a:off x="750094" y="1464469"/>
            <a:ext cx="2190731" cy="442913"/>
          </a:xfrm>
          <a:prstGeom prst="rect">
            <a:avLst/>
          </a:prstGeom>
          <a:noFill/>
          <a:ln/>
        </p:spPr>
        <p:txBody>
          <a:bodyPr wrap="square" lIns="0" tIns="0" rIns="0" bIns="85090" rtlCol="0" anchor="t">
            <a:spAutoFit/>
          </a:bodyPr>
          <a:lstStyle/>
          <a:p>
            <a:pPr algn="l" indent="0" marL="0">
              <a:buNone/>
            </a:pPr>
            <a:r>
              <a:rPr lang="en-US" sz="1100" b="1" dirty="0">
                <a:solidFill>
                  <a:srgbClr val="059669"/>
                </a:solidFill>
                <a:latin typeface="Courier New" pitchFamily="34" charset="0"/>
                <a:ea typeface="Courier New" pitchFamily="34" charset="-122"/>
                <a:cs typeface="Courier New" pitchFamily="34" charset="-120"/>
              </a:rPr>
              <a:t>GOVERNMENT KNOWLEDGE GRAPH</a:t>
            </a:r>
            <a:endParaRPr lang="en-US" sz="1100" dirty="0"/>
          </a:p>
        </p:txBody>
      </p:sp>
      <p:sp>
        <p:nvSpPr>
          <p:cNvPr id="6" name="Text 3"/>
          <p:cNvSpPr/>
          <p:nvPr/>
        </p:nvSpPr>
        <p:spPr>
          <a:xfrm>
            <a:off x="750094" y="2050256"/>
            <a:ext cx="2190731" cy="617153"/>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Converts unstructured PDF schemes into structured graph objects.</a:t>
            </a:r>
            <a:endParaRPr lang="en-US" sz="950" dirty="0"/>
          </a:p>
        </p:txBody>
      </p:sp>
      <p:sp>
        <p:nvSpPr>
          <p:cNvPr id="7" name="Text 4"/>
          <p:cNvSpPr/>
          <p:nvPr/>
        </p:nvSpPr>
        <p:spPr>
          <a:xfrm>
            <a:off x="750094" y="2774566"/>
            <a:ext cx="2190731" cy="1028588"/>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Captures 15+ attributes: Name, Eligibility, Income Limit, Age, State, Documents, Benefits, Deadline, Department, FAQs, Application Process.</a:t>
            </a:r>
            <a:endParaRPr lang="en-US" sz="950" dirty="0"/>
          </a:p>
        </p:txBody>
      </p:sp>
      <p:sp>
        <p:nvSpPr>
          <p:cNvPr id="8" name="Text 5"/>
          <p:cNvSpPr/>
          <p:nvPr/>
        </p:nvSpPr>
        <p:spPr>
          <a:xfrm>
            <a:off x="750094" y="3910310"/>
            <a:ext cx="2190731"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Enables complex relational querying and inferencing.</a:t>
            </a:r>
            <a:endParaRPr lang="en-US" sz="950" dirty="0"/>
          </a:p>
        </p:txBody>
      </p:sp>
      <p:sp>
        <p:nvSpPr>
          <p:cNvPr id="9" name="Shape 6"/>
          <p:cNvSpPr/>
          <p:nvPr/>
        </p:nvSpPr>
        <p:spPr>
          <a:xfrm>
            <a:off x="750094" y="4464621"/>
            <a:ext cx="2190731" cy="762819"/>
          </a:xfrm>
          <a:prstGeom prst="rect">
            <a:avLst/>
          </a:prstGeom>
          <a:solidFill>
            <a:srgbClr val="0F172A"/>
          </a:solidFill>
          <a:ln/>
        </p:spPr>
      </p:sp>
      <p:sp>
        <p:nvSpPr>
          <p:cNvPr id="10" name="Text 7"/>
          <p:cNvSpPr/>
          <p:nvPr/>
        </p:nvSpPr>
        <p:spPr>
          <a:xfrm>
            <a:off x="750094" y="4464621"/>
            <a:ext cx="2190731" cy="762819"/>
          </a:xfrm>
          <a:prstGeom prst="rect">
            <a:avLst/>
          </a:prstGeom>
          <a:noFill/>
          <a:ln/>
        </p:spPr>
        <p:txBody>
          <a:bodyPr wrap="square" lIns="127508" tIns="127508" rIns="127508" bIns="127508" rtlCol="0" anchor="t">
            <a:spAutoFit/>
          </a:bodyPr>
          <a:lstStyle/>
          <a:p>
            <a:pPr algn="l" indent="0" marL="0">
              <a:lnSpc>
                <a:spcPct val="128000"/>
              </a:lnSpc>
              <a:buNone/>
            </a:pPr>
            <a:r>
              <a:rPr lang="en-US" sz="800" b="1" dirty="0">
                <a:solidFill>
                  <a:srgbClr val="FFFFFF"/>
                </a:solidFill>
                <a:latin typeface="Helvetica Neue" pitchFamily="34" charset="0"/>
                <a:ea typeface="Helvetica Neue" pitchFamily="34" charset="-122"/>
                <a:cs typeface="Helvetica Neue" pitchFamily="34" charset="-120"/>
              </a:rPr>
              <a:t>Allows the AI to reason over data relationships rather than simply matching keywords in documents.</a:t>
            </a:r>
            <a:endParaRPr lang="en-US" sz="800" dirty="0"/>
          </a:p>
        </p:txBody>
      </p:sp>
      <p:sp>
        <p:nvSpPr>
          <p:cNvPr id="11" name="Shape 8"/>
          <p:cNvSpPr/>
          <p:nvPr/>
        </p:nvSpPr>
        <p:spPr>
          <a:xfrm>
            <a:off x="3298013" y="1285875"/>
            <a:ext cx="2547919" cy="3214688"/>
          </a:xfrm>
          <a:prstGeom prst="rect">
            <a:avLst/>
          </a:prstGeom>
          <a:solidFill>
            <a:srgbClr val="FFFFFF"/>
          </a:solidFill>
          <a:ln w="9144">
            <a:solidFill>
              <a:srgbClr val="334155"/>
            </a:solidFill>
            <a:prstDash val="solid"/>
          </a:ln>
        </p:spPr>
      </p:sp>
      <p:sp>
        <p:nvSpPr>
          <p:cNvPr id="12" name="Text 9"/>
          <p:cNvSpPr/>
          <p:nvPr/>
        </p:nvSpPr>
        <p:spPr>
          <a:xfrm>
            <a:off x="750094" y="2071688"/>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13" name="Text 10"/>
          <p:cNvSpPr/>
          <p:nvPr/>
        </p:nvSpPr>
        <p:spPr>
          <a:xfrm>
            <a:off x="750094" y="2795997"/>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14" name="Text 11"/>
          <p:cNvSpPr/>
          <p:nvPr/>
        </p:nvSpPr>
        <p:spPr>
          <a:xfrm>
            <a:off x="750094" y="3931741"/>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15" name="Text 12"/>
          <p:cNvSpPr/>
          <p:nvPr/>
        </p:nvSpPr>
        <p:spPr>
          <a:xfrm>
            <a:off x="3476606" y="1464469"/>
            <a:ext cx="2190731" cy="264319"/>
          </a:xfrm>
          <a:prstGeom prst="rect">
            <a:avLst/>
          </a:prstGeom>
          <a:noFill/>
          <a:ln/>
        </p:spPr>
        <p:txBody>
          <a:bodyPr wrap="square" lIns="0" tIns="0" rIns="0" bIns="85090" rtlCol="0" anchor="t">
            <a:spAutoFit/>
          </a:bodyPr>
          <a:lstStyle/>
          <a:p>
            <a:pPr algn="l" indent="0" marL="0">
              <a:buNone/>
            </a:pPr>
            <a:r>
              <a:rPr lang="en-US" sz="1100" b="1" dirty="0">
                <a:solidFill>
                  <a:srgbClr val="059669"/>
                </a:solidFill>
                <a:latin typeface="Courier New" pitchFamily="34" charset="0"/>
                <a:ea typeface="Courier New" pitchFamily="34" charset="-122"/>
                <a:cs typeface="Courier New" pitchFamily="34" charset="-120"/>
              </a:rPr>
              <a:t>HYBRID RAG ENGINE</a:t>
            </a:r>
            <a:endParaRPr lang="en-US" sz="1100" dirty="0"/>
          </a:p>
        </p:txBody>
      </p:sp>
      <p:sp>
        <p:nvSpPr>
          <p:cNvPr id="16" name="Text 13"/>
          <p:cNvSpPr/>
          <p:nvPr/>
        </p:nvSpPr>
        <p:spPr>
          <a:xfrm>
            <a:off x="3476606" y="1871663"/>
            <a:ext cx="2190731" cy="617153"/>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Vector Search:</a:t>
            </a:r>
            <a:r>
              <a:rPr lang="en-US" sz="950" dirty="0">
                <a:solidFill>
                  <a:srgbClr val="334155"/>
                </a:solidFill>
                <a:latin typeface="Helvetica Neue" pitchFamily="34" charset="0"/>
                <a:ea typeface="Helvetica Neue" pitchFamily="34" charset="-122"/>
                <a:cs typeface="Helvetica Neue" pitchFamily="34" charset="-120"/>
              </a:rPr>
              <a:t> Uses BGE-M3 embeddings for semantic similarity across 100+ languages.</a:t>
            </a:r>
            <a:endParaRPr lang="en-US" sz="950" dirty="0"/>
          </a:p>
        </p:txBody>
      </p:sp>
      <p:sp>
        <p:nvSpPr>
          <p:cNvPr id="17" name="Text 14"/>
          <p:cNvSpPr/>
          <p:nvPr/>
        </p:nvSpPr>
        <p:spPr>
          <a:xfrm>
            <a:off x="3476606" y="2595972"/>
            <a:ext cx="2190731" cy="617153"/>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Metadata Filtering:</a:t>
            </a:r>
            <a:r>
              <a:rPr lang="en-US" sz="950" dirty="0">
                <a:solidFill>
                  <a:srgbClr val="334155"/>
                </a:solidFill>
                <a:latin typeface="Helvetica Neue" pitchFamily="34" charset="0"/>
                <a:ea typeface="Helvetica Neue" pitchFamily="34" charset="-122"/>
                <a:cs typeface="Helvetica Neue" pitchFamily="34" charset="-120"/>
              </a:rPr>
              <a:t> Filters by State, Department, and Category before retrieval.</a:t>
            </a:r>
            <a:endParaRPr lang="en-US" sz="950" dirty="0"/>
          </a:p>
        </p:txBody>
      </p:sp>
      <p:sp>
        <p:nvSpPr>
          <p:cNvPr id="18" name="Text 15"/>
          <p:cNvSpPr/>
          <p:nvPr/>
        </p:nvSpPr>
        <p:spPr>
          <a:xfrm>
            <a:off x="3476606" y="3320281"/>
            <a:ext cx="2190731" cy="617153"/>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Knowledge Graph Integration:</a:t>
            </a:r>
            <a:r>
              <a:rPr lang="en-US" sz="950" dirty="0">
                <a:solidFill>
                  <a:srgbClr val="334155"/>
                </a:solidFill>
                <a:latin typeface="Helvetica Neue" pitchFamily="34" charset="0"/>
                <a:ea typeface="Helvetica Neue" pitchFamily="34" charset="-122"/>
                <a:cs typeface="Helvetica Neue" pitchFamily="34" charset="-120"/>
              </a:rPr>
              <a:t> Combines structured data with unstructured text retrieval.</a:t>
            </a:r>
            <a:endParaRPr lang="en-US" sz="950" dirty="0"/>
          </a:p>
        </p:txBody>
      </p:sp>
      <p:sp>
        <p:nvSpPr>
          <p:cNvPr id="19" name="Shape 16"/>
          <p:cNvSpPr/>
          <p:nvPr/>
        </p:nvSpPr>
        <p:spPr>
          <a:xfrm>
            <a:off x="3476606" y="4080309"/>
            <a:ext cx="2190731" cy="762819"/>
          </a:xfrm>
          <a:prstGeom prst="rect">
            <a:avLst/>
          </a:prstGeom>
          <a:solidFill>
            <a:srgbClr val="0F172A"/>
          </a:solidFill>
          <a:ln/>
        </p:spPr>
      </p:sp>
      <p:sp>
        <p:nvSpPr>
          <p:cNvPr id="20" name="Text 17"/>
          <p:cNvSpPr/>
          <p:nvPr/>
        </p:nvSpPr>
        <p:spPr>
          <a:xfrm>
            <a:off x="3476606" y="4080309"/>
            <a:ext cx="2190731" cy="762819"/>
          </a:xfrm>
          <a:prstGeom prst="rect">
            <a:avLst/>
          </a:prstGeom>
          <a:noFill/>
          <a:ln/>
        </p:spPr>
        <p:txBody>
          <a:bodyPr wrap="square" lIns="127508" tIns="127508" rIns="127508" bIns="127508" rtlCol="0" anchor="t">
            <a:spAutoFit/>
          </a:bodyPr>
          <a:lstStyle/>
          <a:p>
            <a:pPr algn="l" indent="0" marL="0">
              <a:lnSpc>
                <a:spcPct val="128000"/>
              </a:lnSpc>
              <a:buNone/>
            </a:pPr>
            <a:r>
              <a:rPr lang="en-US" sz="800" b="1" dirty="0">
                <a:solidFill>
                  <a:srgbClr val="FFFFFF"/>
                </a:solidFill>
                <a:latin typeface="Helvetica Neue" pitchFamily="34" charset="0"/>
                <a:ea typeface="Helvetica Neue" pitchFamily="34" charset="-122"/>
                <a:cs typeface="Helvetica Neue" pitchFamily="34" charset="-120"/>
              </a:rPr>
              <a:t>Dramatically improves accuracy and eliminates the "hallucinations" common in standard LLMs.</a:t>
            </a:r>
            <a:endParaRPr lang="en-US" sz="800" dirty="0"/>
          </a:p>
        </p:txBody>
      </p:sp>
      <p:sp>
        <p:nvSpPr>
          <p:cNvPr id="21" name="Shape 18"/>
          <p:cNvSpPr/>
          <p:nvPr/>
        </p:nvSpPr>
        <p:spPr>
          <a:xfrm>
            <a:off x="6024525" y="1285875"/>
            <a:ext cx="2547919" cy="3214688"/>
          </a:xfrm>
          <a:prstGeom prst="rect">
            <a:avLst/>
          </a:prstGeom>
          <a:solidFill>
            <a:srgbClr val="FFFFFF"/>
          </a:solidFill>
          <a:ln w="9144">
            <a:solidFill>
              <a:srgbClr val="334155"/>
            </a:solidFill>
            <a:prstDash val="solid"/>
          </a:ln>
        </p:spPr>
      </p:sp>
      <p:sp>
        <p:nvSpPr>
          <p:cNvPr id="22" name="Text 19"/>
          <p:cNvSpPr/>
          <p:nvPr/>
        </p:nvSpPr>
        <p:spPr>
          <a:xfrm>
            <a:off x="3476606" y="1893094"/>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23" name="Text 20"/>
          <p:cNvSpPr/>
          <p:nvPr/>
        </p:nvSpPr>
        <p:spPr>
          <a:xfrm>
            <a:off x="3476606" y="2617403"/>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24" name="Text 21"/>
          <p:cNvSpPr/>
          <p:nvPr/>
        </p:nvSpPr>
        <p:spPr>
          <a:xfrm>
            <a:off x="3476606" y="3341712"/>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25" name="Text 22"/>
          <p:cNvSpPr/>
          <p:nvPr/>
        </p:nvSpPr>
        <p:spPr>
          <a:xfrm>
            <a:off x="6203119" y="1464469"/>
            <a:ext cx="2190731" cy="442913"/>
          </a:xfrm>
          <a:prstGeom prst="rect">
            <a:avLst/>
          </a:prstGeom>
          <a:noFill/>
          <a:ln/>
        </p:spPr>
        <p:txBody>
          <a:bodyPr wrap="square" lIns="0" tIns="0" rIns="0" bIns="85090" rtlCol="0" anchor="t">
            <a:spAutoFit/>
          </a:bodyPr>
          <a:lstStyle/>
          <a:p>
            <a:pPr algn="l" indent="0" marL="0">
              <a:buNone/>
            </a:pPr>
            <a:r>
              <a:rPr lang="en-US" sz="1100" b="1" dirty="0">
                <a:solidFill>
                  <a:srgbClr val="059669"/>
                </a:solidFill>
                <a:latin typeface="Courier New" pitchFamily="34" charset="0"/>
                <a:ea typeface="Courier New" pitchFamily="34" charset="-122"/>
                <a:cs typeface="Courier New" pitchFamily="34" charset="-120"/>
              </a:rPr>
              <a:t>INTERACTIVE ELIGIBILITY ENGINE</a:t>
            </a:r>
            <a:endParaRPr lang="en-US" sz="1100" dirty="0"/>
          </a:p>
        </p:txBody>
      </p:sp>
      <p:sp>
        <p:nvSpPr>
          <p:cNvPr id="26" name="Text 23"/>
          <p:cNvSpPr/>
          <p:nvPr/>
        </p:nvSpPr>
        <p:spPr>
          <a:xfrm>
            <a:off x="6203119" y="2050256"/>
            <a:ext cx="2190731"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Conducts a conversational interview with the citizen.</a:t>
            </a:r>
            <a:endParaRPr lang="en-US" sz="950" dirty="0"/>
          </a:p>
        </p:txBody>
      </p:sp>
      <p:sp>
        <p:nvSpPr>
          <p:cNvPr id="27" name="Text 24"/>
          <p:cNvSpPr/>
          <p:nvPr/>
        </p:nvSpPr>
        <p:spPr>
          <a:xfrm>
            <a:off x="6203119" y="2568848"/>
            <a:ext cx="2190731" cy="822871"/>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Captures 8+ parameters: Age, Income, Occupation, Category, Gender, Education, Disability, State.</a:t>
            </a:r>
            <a:endParaRPr lang="en-US" sz="950" dirty="0"/>
          </a:p>
        </p:txBody>
      </p:sp>
      <p:sp>
        <p:nvSpPr>
          <p:cNvPr id="28" name="Text 25"/>
          <p:cNvSpPr/>
          <p:nvPr/>
        </p:nvSpPr>
        <p:spPr>
          <a:xfrm>
            <a:off x="6203119" y="3498875"/>
            <a:ext cx="2190731" cy="617153"/>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Evaluates the profile against all 2,000+ schemes in the Knowledge Graph.</a:t>
            </a:r>
            <a:endParaRPr lang="en-US" sz="950" dirty="0"/>
          </a:p>
        </p:txBody>
      </p:sp>
      <p:sp>
        <p:nvSpPr>
          <p:cNvPr id="29" name="Shape 26"/>
          <p:cNvSpPr/>
          <p:nvPr/>
        </p:nvSpPr>
        <p:spPr>
          <a:xfrm>
            <a:off x="6203119" y="4258903"/>
            <a:ext cx="2190731" cy="945654"/>
          </a:xfrm>
          <a:prstGeom prst="rect">
            <a:avLst/>
          </a:prstGeom>
          <a:solidFill>
            <a:srgbClr val="0F172A"/>
          </a:solidFill>
          <a:ln/>
        </p:spPr>
      </p:sp>
      <p:sp>
        <p:nvSpPr>
          <p:cNvPr id="30" name="Text 27"/>
          <p:cNvSpPr/>
          <p:nvPr/>
        </p:nvSpPr>
        <p:spPr>
          <a:xfrm>
            <a:off x="6203119" y="4258903"/>
            <a:ext cx="2190731" cy="945654"/>
          </a:xfrm>
          <a:prstGeom prst="rect">
            <a:avLst/>
          </a:prstGeom>
          <a:noFill/>
          <a:ln/>
        </p:spPr>
        <p:txBody>
          <a:bodyPr wrap="square" lIns="127508" tIns="127508" rIns="127508" bIns="127508" rtlCol="0" anchor="t">
            <a:spAutoFit/>
          </a:bodyPr>
          <a:lstStyle/>
          <a:p>
            <a:pPr algn="l" indent="0" marL="0">
              <a:lnSpc>
                <a:spcPct val="128000"/>
              </a:lnSpc>
              <a:buNone/>
            </a:pPr>
            <a:r>
              <a:rPr lang="en-US" sz="800" b="1" dirty="0">
                <a:solidFill>
                  <a:srgbClr val="FFFFFF"/>
                </a:solidFill>
                <a:latin typeface="Helvetica Neue" pitchFamily="34" charset="0"/>
                <a:ea typeface="Helvetica Neue" pitchFamily="34" charset="-122"/>
                <a:cs typeface="Helvetica Neue" pitchFamily="34" charset="-120"/>
              </a:rPr>
              <a:t>Generates a personalized match score (e.g., PM-KISAN: 98%, PMFBY: 96%) for every applicable scheme.</a:t>
            </a:r>
            <a:endParaRPr lang="en-US" sz="800" dirty="0"/>
          </a:p>
        </p:txBody>
      </p:sp>
      <p:sp>
        <p:nvSpPr>
          <p:cNvPr id="31" name="Text 28"/>
          <p:cNvSpPr/>
          <p:nvPr/>
        </p:nvSpPr>
        <p:spPr>
          <a:xfrm>
            <a:off x="6203119" y="2071688"/>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32" name="Text 29"/>
          <p:cNvSpPr/>
          <p:nvPr/>
        </p:nvSpPr>
        <p:spPr>
          <a:xfrm>
            <a:off x="6203119" y="2590279"/>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33" name="Text 30"/>
          <p:cNvSpPr/>
          <p:nvPr/>
        </p:nvSpPr>
        <p:spPr>
          <a:xfrm>
            <a:off x="6203119" y="3520306"/>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3286683" cy="685800"/>
          </a:xfrm>
          <a:prstGeom prst="rect">
            <a:avLst/>
          </a:prstGeom>
          <a:noFill/>
          <a:ln/>
        </p:spPr>
        <p:txBody>
          <a:bodyPr wrap="square" lIns="0" tIns="0" rIns="0" bIns="0" rtlCol="0" anchor="t">
            <a:spAutoFit/>
          </a:bodyPr>
          <a:lstStyle/>
          <a:p>
            <a:pPr algn="l" indent="0" marL="0">
              <a:lnSpc>
                <a:spcPct val="96000"/>
              </a:lnSpc>
              <a:buNone/>
            </a:pPr>
            <a:r>
              <a:rPr lang="en-US" sz="2000" b="1" spc="-1" kern="0" dirty="0">
                <a:solidFill>
                  <a:srgbClr val="0F172A"/>
                </a:solidFill>
                <a:latin typeface="Courier New" pitchFamily="34" charset="0"/>
                <a:ea typeface="Courier New" pitchFamily="34" charset="-122"/>
                <a:cs typeface="Courier New" pitchFamily="34" charset="-120"/>
              </a:rPr>
              <a:t>CORE AI MODULES</a:t>
            </a:r>
            <a:r>
              <a:rPr lang="en-US" sz="2000" b="1" spc="-1" kern="0" dirty="0">
                <a:solidFill>
                  <a:srgbClr val="0F172A"/>
                </a:solidFill>
                <a:latin typeface="Courier New" pitchFamily="34" charset="0"/>
                <a:ea typeface="Courier New" pitchFamily="34" charset="-122"/>
                <a:cs typeface="Courier New" pitchFamily="34" charset="-120"/>
              </a:rPr>
              <a:t>
</a:t>
            </a:r>
            <a:r>
              <a:rPr lang="en-US" sz="2000" b="1" spc="-1" kern="0" dirty="0">
                <a:solidFill>
                  <a:srgbClr val="0F172A"/>
                </a:solidFill>
                <a:latin typeface="Courier New" pitchFamily="34" charset="0"/>
                <a:ea typeface="Courier New" pitchFamily="34" charset="-122"/>
                <a:cs typeface="Courier New" pitchFamily="34" charset="-120"/>
              </a:rPr>
              <a:t>PART 2: INTELLIGENCE</a:t>
            </a:r>
            <a:endParaRPr lang="en-US" sz="2000" dirty="0"/>
          </a:p>
        </p:txBody>
      </p:sp>
      <p:sp>
        <p:nvSpPr>
          <p:cNvPr id="4" name="Shape 1"/>
          <p:cNvSpPr/>
          <p:nvPr/>
        </p:nvSpPr>
        <p:spPr>
          <a:xfrm>
            <a:off x="571500" y="1285875"/>
            <a:ext cx="3911203" cy="1643063"/>
          </a:xfrm>
          <a:prstGeom prst="rect">
            <a:avLst/>
          </a:prstGeom>
          <a:solidFill>
            <a:srgbClr val="FFFFFF"/>
          </a:solidFill>
          <a:ln w="9144">
            <a:solidFill>
              <a:srgbClr val="334155"/>
            </a:solidFill>
            <a:prstDash val="solid"/>
          </a:ln>
        </p:spPr>
      </p:sp>
      <p:sp>
        <p:nvSpPr>
          <p:cNvPr id="5" name="Text 2"/>
          <p:cNvSpPr/>
          <p:nvPr/>
        </p:nvSpPr>
        <p:spPr>
          <a:xfrm>
            <a:off x="750094" y="1464469"/>
            <a:ext cx="3554016" cy="228600"/>
          </a:xfrm>
          <a:prstGeom prst="rect">
            <a:avLst/>
          </a:prstGeom>
          <a:noFill/>
          <a:ln/>
        </p:spPr>
        <p:txBody>
          <a:bodyPr wrap="square" lIns="0" tIns="0" rIns="0" bIns="42545" rtlCol="0" anchor="t">
            <a:spAutoFit/>
          </a:bodyPr>
          <a:lstStyle/>
          <a:p>
            <a:pPr algn="l" indent="0" marL="0">
              <a:buNone/>
            </a:pPr>
            <a:r>
              <a:rPr lang="en-US" sz="1100" b="1" dirty="0">
                <a:solidFill>
                  <a:srgbClr val="059669"/>
                </a:solidFill>
                <a:latin typeface="Courier New" pitchFamily="34" charset="0"/>
                <a:ea typeface="Courier New" pitchFamily="34" charset="-122"/>
                <a:cs typeface="Courier New" pitchFamily="34" charset="-120"/>
              </a:rPr>
              <a:t>DOCUMENT INTELLIGENCE</a:t>
            </a:r>
            <a:endParaRPr lang="en-US" sz="1100" dirty="0"/>
          </a:p>
        </p:txBody>
      </p:sp>
      <p:sp>
        <p:nvSpPr>
          <p:cNvPr id="6" name="Text 3"/>
          <p:cNvSpPr/>
          <p:nvPr/>
        </p:nvSpPr>
        <p:spPr>
          <a:xfrm>
            <a:off x="750094" y="1800225"/>
            <a:ext cx="3554016" cy="205718"/>
          </a:xfrm>
          <a:prstGeom prst="rect">
            <a:avLst/>
          </a:prstGeom>
          <a:noFill/>
          <a:ln/>
        </p:spPr>
        <p:txBody>
          <a:bodyPr wrap="non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Uses advanced OCR (PaddleOCR) with 96.3% accuracy.</a:t>
            </a:r>
            <a:endParaRPr lang="en-US" sz="950" dirty="0"/>
          </a:p>
        </p:txBody>
      </p:sp>
      <p:sp>
        <p:nvSpPr>
          <p:cNvPr id="7" name="Text 4"/>
          <p:cNvSpPr/>
          <p:nvPr/>
        </p:nvSpPr>
        <p:spPr>
          <a:xfrm>
            <a:off x="750094" y="2077380"/>
            <a:ext cx="3554016" cy="205718"/>
          </a:xfrm>
          <a:prstGeom prst="rect">
            <a:avLst/>
          </a:prstGeom>
          <a:noFill/>
          <a:ln/>
        </p:spPr>
        <p:txBody>
          <a:bodyPr wrap="non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Supports extraction across 80+ regional languages.</a:t>
            </a:r>
            <a:endParaRPr lang="en-US" sz="950" dirty="0"/>
          </a:p>
        </p:txBody>
      </p:sp>
      <p:sp>
        <p:nvSpPr>
          <p:cNvPr id="8" name="Text 5"/>
          <p:cNvSpPr/>
          <p:nvPr/>
        </p:nvSpPr>
        <p:spPr>
          <a:xfrm>
            <a:off x="750094" y="2354535"/>
            <a:ext cx="3554016"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Automatically parses Aadhaar, PAN, and Income Certificates.</a:t>
            </a:r>
            <a:endParaRPr lang="en-US" sz="950" dirty="0"/>
          </a:p>
        </p:txBody>
      </p:sp>
      <p:sp>
        <p:nvSpPr>
          <p:cNvPr id="9" name="Text 6"/>
          <p:cNvSpPr/>
          <p:nvPr/>
        </p:nvSpPr>
        <p:spPr>
          <a:xfrm>
            <a:off x="750094" y="2837408"/>
            <a:ext cx="3554016"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Detects missing documents, expired certificates, blurry scans, or wrong formats.</a:t>
            </a:r>
            <a:endParaRPr lang="en-US" sz="950" dirty="0"/>
          </a:p>
        </p:txBody>
      </p:sp>
      <p:sp>
        <p:nvSpPr>
          <p:cNvPr id="10" name="Shape 7"/>
          <p:cNvSpPr/>
          <p:nvPr/>
        </p:nvSpPr>
        <p:spPr>
          <a:xfrm>
            <a:off x="4661297" y="1285875"/>
            <a:ext cx="3911203" cy="1643063"/>
          </a:xfrm>
          <a:prstGeom prst="rect">
            <a:avLst/>
          </a:prstGeom>
          <a:solidFill>
            <a:srgbClr val="FFFFFF"/>
          </a:solidFill>
          <a:ln w="9144">
            <a:solidFill>
              <a:srgbClr val="334155"/>
            </a:solidFill>
            <a:prstDash val="solid"/>
          </a:ln>
        </p:spPr>
      </p:sp>
      <p:sp>
        <p:nvSpPr>
          <p:cNvPr id="11" name="Text 8"/>
          <p:cNvSpPr/>
          <p:nvPr/>
        </p:nvSpPr>
        <p:spPr>
          <a:xfrm>
            <a:off x="750094" y="1821656"/>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12" name="Text 9"/>
          <p:cNvSpPr/>
          <p:nvPr/>
        </p:nvSpPr>
        <p:spPr>
          <a:xfrm>
            <a:off x="750094" y="2098811"/>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13" name="Text 10"/>
          <p:cNvSpPr/>
          <p:nvPr/>
        </p:nvSpPr>
        <p:spPr>
          <a:xfrm>
            <a:off x="750094" y="2375967"/>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14" name="Text 11"/>
          <p:cNvSpPr/>
          <p:nvPr/>
        </p:nvSpPr>
        <p:spPr>
          <a:xfrm>
            <a:off x="750094" y="2858839"/>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15" name="Text 12"/>
          <p:cNvSpPr/>
          <p:nvPr/>
        </p:nvSpPr>
        <p:spPr>
          <a:xfrm>
            <a:off x="4839891" y="1464469"/>
            <a:ext cx="3554016" cy="228600"/>
          </a:xfrm>
          <a:prstGeom prst="rect">
            <a:avLst/>
          </a:prstGeom>
          <a:noFill/>
          <a:ln/>
        </p:spPr>
        <p:txBody>
          <a:bodyPr wrap="square" lIns="0" tIns="0" rIns="0" bIns="42545" rtlCol="0" anchor="t">
            <a:spAutoFit/>
          </a:bodyPr>
          <a:lstStyle/>
          <a:p>
            <a:pPr algn="l" indent="0" marL="0">
              <a:buNone/>
            </a:pPr>
            <a:r>
              <a:rPr lang="en-US" sz="1100" b="1" dirty="0">
                <a:solidFill>
                  <a:srgbClr val="059669"/>
                </a:solidFill>
                <a:latin typeface="Courier New" pitchFamily="34" charset="0"/>
                <a:ea typeface="Courier New" pitchFamily="34" charset="-122"/>
                <a:cs typeface="Courier New" pitchFamily="34" charset="-120"/>
              </a:rPr>
              <a:t>ELI10 &amp; VOICE TRANSLATION</a:t>
            </a:r>
            <a:endParaRPr lang="en-US" sz="1100" dirty="0"/>
          </a:p>
        </p:txBody>
      </p:sp>
      <p:sp>
        <p:nvSpPr>
          <p:cNvPr id="16" name="Text 13"/>
          <p:cNvSpPr/>
          <p:nvPr/>
        </p:nvSpPr>
        <p:spPr>
          <a:xfrm>
            <a:off x="4839891" y="1800225"/>
            <a:ext cx="3554016"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Translates complex bureaucratic language ("Applicants satisfying clause 7.3.2...") into simple terms.</a:t>
            </a:r>
            <a:endParaRPr lang="en-US" sz="950" dirty="0"/>
          </a:p>
        </p:txBody>
      </p:sp>
      <p:sp>
        <p:nvSpPr>
          <p:cNvPr id="17" name="Text 14"/>
          <p:cNvSpPr/>
          <p:nvPr/>
        </p:nvSpPr>
        <p:spPr>
          <a:xfrm>
            <a:off x="4839891" y="2283098"/>
            <a:ext cx="3554016"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Delivers explanations in the user's native regional language.</a:t>
            </a:r>
            <a:endParaRPr lang="en-US" sz="950" dirty="0"/>
          </a:p>
        </p:txBody>
      </p:sp>
      <p:sp>
        <p:nvSpPr>
          <p:cNvPr id="18" name="Text 15"/>
          <p:cNvSpPr/>
          <p:nvPr/>
        </p:nvSpPr>
        <p:spPr>
          <a:xfrm>
            <a:off x="4839891" y="2765971"/>
            <a:ext cx="3554016"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Provides optional voice explanations via BHASHINI TTS for non-readers.</a:t>
            </a:r>
            <a:endParaRPr lang="en-US" sz="950" dirty="0"/>
          </a:p>
        </p:txBody>
      </p:sp>
      <p:sp>
        <p:nvSpPr>
          <p:cNvPr id="19" name="Shape 16"/>
          <p:cNvSpPr/>
          <p:nvPr/>
        </p:nvSpPr>
        <p:spPr>
          <a:xfrm>
            <a:off x="571500" y="3107531"/>
            <a:ext cx="3911203" cy="1643063"/>
          </a:xfrm>
          <a:prstGeom prst="rect">
            <a:avLst/>
          </a:prstGeom>
          <a:solidFill>
            <a:srgbClr val="FFFFFF"/>
          </a:solidFill>
          <a:ln w="9144">
            <a:solidFill>
              <a:srgbClr val="334155"/>
            </a:solidFill>
            <a:prstDash val="solid"/>
          </a:ln>
        </p:spPr>
      </p:sp>
      <p:sp>
        <p:nvSpPr>
          <p:cNvPr id="20" name="Text 17"/>
          <p:cNvSpPr/>
          <p:nvPr/>
        </p:nvSpPr>
        <p:spPr>
          <a:xfrm>
            <a:off x="4839891" y="1821656"/>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21" name="Text 18"/>
          <p:cNvSpPr/>
          <p:nvPr/>
        </p:nvSpPr>
        <p:spPr>
          <a:xfrm>
            <a:off x="4839891" y="2304529"/>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22" name="Text 19"/>
          <p:cNvSpPr/>
          <p:nvPr/>
        </p:nvSpPr>
        <p:spPr>
          <a:xfrm>
            <a:off x="4839891" y="2787402"/>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23" name="Text 20"/>
          <p:cNvSpPr/>
          <p:nvPr/>
        </p:nvSpPr>
        <p:spPr>
          <a:xfrm>
            <a:off x="750094" y="3286125"/>
            <a:ext cx="3554016" cy="228600"/>
          </a:xfrm>
          <a:prstGeom prst="rect">
            <a:avLst/>
          </a:prstGeom>
          <a:noFill/>
          <a:ln/>
        </p:spPr>
        <p:txBody>
          <a:bodyPr wrap="square" lIns="0" tIns="0" rIns="0" bIns="42545" rtlCol="0" anchor="t">
            <a:spAutoFit/>
          </a:bodyPr>
          <a:lstStyle/>
          <a:p>
            <a:pPr algn="l" indent="0" marL="0">
              <a:buNone/>
            </a:pPr>
            <a:r>
              <a:rPr lang="en-US" sz="1100" b="1" dirty="0">
                <a:solidFill>
                  <a:srgbClr val="059669"/>
                </a:solidFill>
                <a:latin typeface="Courier New" pitchFamily="34" charset="0"/>
                <a:ea typeface="Courier New" pitchFamily="34" charset="-122"/>
                <a:cs typeface="Courier New" pitchFamily="34" charset="-120"/>
              </a:rPr>
              <a:t>LIFE EVENT ENGINE</a:t>
            </a:r>
            <a:endParaRPr lang="en-US" sz="1100" dirty="0"/>
          </a:p>
        </p:txBody>
      </p:sp>
      <p:sp>
        <p:nvSpPr>
          <p:cNvPr id="24" name="Text 21"/>
          <p:cNvSpPr/>
          <p:nvPr/>
        </p:nvSpPr>
        <p:spPr>
          <a:xfrm>
            <a:off x="750094" y="3621881"/>
            <a:ext cx="3554016"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Creates a holistic "Family Wallet" profile (Father, Mother, Grandparents, Children).</a:t>
            </a:r>
            <a:endParaRPr lang="en-US" sz="950" dirty="0"/>
          </a:p>
        </p:txBody>
      </p:sp>
      <p:sp>
        <p:nvSpPr>
          <p:cNvPr id="25" name="Text 22"/>
          <p:cNvSpPr/>
          <p:nvPr/>
        </p:nvSpPr>
        <p:spPr>
          <a:xfrm>
            <a:off x="750094" y="4104754"/>
            <a:ext cx="3554016" cy="205718"/>
          </a:xfrm>
          <a:prstGeom prst="rect">
            <a:avLst/>
          </a:prstGeom>
          <a:noFill/>
          <a:ln/>
        </p:spPr>
        <p:txBody>
          <a:bodyPr wrap="non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Tracks major life events (e.g., marriage, birth, graduation).</a:t>
            </a:r>
            <a:endParaRPr lang="en-US" sz="950" dirty="0"/>
          </a:p>
        </p:txBody>
      </p:sp>
      <p:sp>
        <p:nvSpPr>
          <p:cNvPr id="26" name="Text 23"/>
          <p:cNvSpPr/>
          <p:nvPr/>
        </p:nvSpPr>
        <p:spPr>
          <a:xfrm>
            <a:off x="750094" y="4381909"/>
            <a:ext cx="3554016"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Proactively recommends necessary updates (Aadhaar, PAN, Bank KYC, Voter ID).</a:t>
            </a:r>
            <a:endParaRPr lang="en-US" sz="950" dirty="0"/>
          </a:p>
        </p:txBody>
      </p:sp>
      <p:sp>
        <p:nvSpPr>
          <p:cNvPr id="27" name="Text 24"/>
          <p:cNvSpPr/>
          <p:nvPr/>
        </p:nvSpPr>
        <p:spPr>
          <a:xfrm>
            <a:off x="750094" y="4864782"/>
            <a:ext cx="3554016" cy="205718"/>
          </a:xfrm>
          <a:prstGeom prst="rect">
            <a:avLst/>
          </a:prstGeom>
          <a:noFill/>
          <a:ln/>
        </p:spPr>
        <p:txBody>
          <a:bodyPr wrap="non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Identifies new schemes applicable to the entire household.</a:t>
            </a:r>
            <a:endParaRPr lang="en-US" sz="950" dirty="0"/>
          </a:p>
        </p:txBody>
      </p:sp>
      <p:sp>
        <p:nvSpPr>
          <p:cNvPr id="28" name="Shape 25"/>
          <p:cNvSpPr/>
          <p:nvPr/>
        </p:nvSpPr>
        <p:spPr>
          <a:xfrm>
            <a:off x="4661297" y="3107531"/>
            <a:ext cx="3911203" cy="1643063"/>
          </a:xfrm>
          <a:prstGeom prst="rect">
            <a:avLst/>
          </a:prstGeom>
          <a:solidFill>
            <a:srgbClr val="FFFFFF"/>
          </a:solidFill>
          <a:ln w="9144">
            <a:solidFill>
              <a:srgbClr val="334155"/>
            </a:solidFill>
            <a:prstDash val="solid"/>
          </a:ln>
        </p:spPr>
      </p:sp>
      <p:sp>
        <p:nvSpPr>
          <p:cNvPr id="29" name="Text 26"/>
          <p:cNvSpPr/>
          <p:nvPr/>
        </p:nvSpPr>
        <p:spPr>
          <a:xfrm>
            <a:off x="750094" y="3643313"/>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30" name="Text 27"/>
          <p:cNvSpPr/>
          <p:nvPr/>
        </p:nvSpPr>
        <p:spPr>
          <a:xfrm>
            <a:off x="750094" y="4126185"/>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31" name="Text 28"/>
          <p:cNvSpPr/>
          <p:nvPr/>
        </p:nvSpPr>
        <p:spPr>
          <a:xfrm>
            <a:off x="750094" y="4403341"/>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32" name="Text 29"/>
          <p:cNvSpPr/>
          <p:nvPr/>
        </p:nvSpPr>
        <p:spPr>
          <a:xfrm>
            <a:off x="750094" y="4886213"/>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33" name="Text 30"/>
          <p:cNvSpPr/>
          <p:nvPr/>
        </p:nvSpPr>
        <p:spPr>
          <a:xfrm>
            <a:off x="4839891" y="3286125"/>
            <a:ext cx="3554016" cy="228600"/>
          </a:xfrm>
          <a:prstGeom prst="rect">
            <a:avLst/>
          </a:prstGeom>
          <a:noFill/>
          <a:ln/>
        </p:spPr>
        <p:txBody>
          <a:bodyPr wrap="square" lIns="0" tIns="0" rIns="0" bIns="42545" rtlCol="0" anchor="t">
            <a:spAutoFit/>
          </a:bodyPr>
          <a:lstStyle/>
          <a:p>
            <a:pPr algn="l" indent="0" marL="0">
              <a:buNone/>
            </a:pPr>
            <a:r>
              <a:rPr lang="en-US" sz="1100" b="1" dirty="0">
                <a:solidFill>
                  <a:srgbClr val="059669"/>
                </a:solidFill>
                <a:latin typeface="Courier New" pitchFamily="34" charset="0"/>
                <a:ea typeface="Courier New" pitchFamily="34" charset="-122"/>
                <a:cs typeface="Courier New" pitchFamily="34" charset="-120"/>
              </a:rPr>
              <a:t>ROADMAP &amp; SCAM DETECTOR</a:t>
            </a:r>
            <a:endParaRPr lang="en-US" sz="1100" dirty="0"/>
          </a:p>
        </p:txBody>
      </p:sp>
      <p:sp>
        <p:nvSpPr>
          <p:cNvPr id="34" name="Text 31"/>
          <p:cNvSpPr/>
          <p:nvPr/>
        </p:nvSpPr>
        <p:spPr>
          <a:xfrm>
            <a:off x="4839891" y="3621881"/>
            <a:ext cx="3554016" cy="617153"/>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Roadmap:</a:t>
            </a:r>
            <a:r>
              <a:rPr lang="en-US" sz="950" dirty="0">
                <a:solidFill>
                  <a:srgbClr val="334155"/>
                </a:solidFill>
                <a:latin typeface="Helvetica Neue" pitchFamily="34" charset="0"/>
                <a:ea typeface="Helvetica Neue" pitchFamily="34" charset="-122"/>
                <a:cs typeface="Helvetica Neue" pitchFamily="34" charset="-120"/>
              </a:rPr>
              <a:t> Generates step-by-step execution plans (e.g., Visit nearest CSC -&gt; Carry Aadhaar -&gt; Fill application -&gt; Submit).</a:t>
            </a:r>
            <a:endParaRPr lang="en-US" sz="950" dirty="0"/>
          </a:p>
        </p:txBody>
      </p:sp>
      <p:sp>
        <p:nvSpPr>
          <p:cNvPr id="35" name="Text 32"/>
          <p:cNvSpPr/>
          <p:nvPr/>
        </p:nvSpPr>
        <p:spPr>
          <a:xfrm>
            <a:off x="4839891" y="4310472"/>
            <a:ext cx="3554016"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Scam Detector:</a:t>
            </a:r>
            <a:r>
              <a:rPr lang="en-US" sz="950" dirty="0">
                <a:solidFill>
                  <a:srgbClr val="334155"/>
                </a:solidFill>
                <a:latin typeface="Helvetica Neue" pitchFamily="34" charset="0"/>
                <a:ea typeface="Helvetica Neue" pitchFamily="34" charset="-122"/>
                <a:cs typeface="Helvetica Neue" pitchFamily="34" charset="-120"/>
              </a:rPr>
              <a:t> Verifies the authenticity of URLs provided by users to protect against phishing.</a:t>
            </a:r>
            <a:endParaRPr lang="en-US" sz="950" dirty="0"/>
          </a:p>
        </p:txBody>
      </p:sp>
      <p:sp>
        <p:nvSpPr>
          <p:cNvPr id="36" name="Text 33"/>
          <p:cNvSpPr/>
          <p:nvPr/>
        </p:nvSpPr>
        <p:spPr>
          <a:xfrm>
            <a:off x="4839891" y="4793345"/>
            <a:ext cx="3554016" cy="411435"/>
          </a:xfrm>
          <a:prstGeom prst="rect">
            <a:avLst/>
          </a:prstGeom>
          <a:noFill/>
          <a:ln/>
        </p:spPr>
        <p:txBody>
          <a:bodyPr wrap="square" lIns="170053" tIns="0" rIns="0" bIns="0" rtlCol="0" anchor="t">
            <a:spAutoFit/>
          </a:bodyPr>
          <a:lstStyle/>
          <a:p>
            <a:pPr algn="l" indent="0" marL="0">
              <a:lnSpc>
                <a:spcPct val="128000"/>
              </a:lnSpc>
              <a:buNone/>
            </a:pPr>
            <a:r>
              <a:rPr lang="en-US" sz="950" dirty="0">
                <a:solidFill>
                  <a:srgbClr val="334155"/>
                </a:solidFill>
                <a:latin typeface="Helvetica Neue" pitchFamily="34" charset="0"/>
                <a:ea typeface="Helvetica Neue" pitchFamily="34" charset="-122"/>
                <a:cs typeface="Helvetica Neue" pitchFamily="34" charset="-120"/>
              </a:rPr>
              <a:t>Complaint Assistant:</a:t>
            </a:r>
            <a:r>
              <a:rPr lang="en-US" sz="950" dirty="0">
                <a:solidFill>
                  <a:srgbClr val="334155"/>
                </a:solidFill>
                <a:latin typeface="Helvetica Neue" pitchFamily="34" charset="0"/>
                <a:ea typeface="Helvetica Neue" pitchFamily="34" charset="-122"/>
                <a:cs typeface="Helvetica Neue" pitchFamily="34" charset="-120"/>
              </a:rPr>
              <a:t> Drafts and submits complaints to the correct government departments.</a:t>
            </a:r>
            <a:endParaRPr lang="en-US" sz="950" dirty="0"/>
          </a:p>
        </p:txBody>
      </p:sp>
      <p:sp>
        <p:nvSpPr>
          <p:cNvPr id="37" name="Text 34"/>
          <p:cNvSpPr/>
          <p:nvPr/>
        </p:nvSpPr>
        <p:spPr>
          <a:xfrm>
            <a:off x="4839891" y="3643313"/>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38" name="Text 35"/>
          <p:cNvSpPr/>
          <p:nvPr/>
        </p:nvSpPr>
        <p:spPr>
          <a:xfrm>
            <a:off x="4839891" y="4331903"/>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39" name="Text 36"/>
          <p:cNvSpPr/>
          <p:nvPr/>
        </p:nvSpPr>
        <p:spPr>
          <a:xfrm>
            <a:off x="4839891" y="4814776"/>
            <a:ext cx="51792" cy="137071"/>
          </a:xfrm>
          <a:prstGeom prst="rect">
            <a:avLst/>
          </a:prstGeom>
          <a:noFill/>
          <a:ln/>
        </p:spPr>
        <p:txBody>
          <a:bodyPr wrap="none" lIns="0" tIns="0" rIns="0" bIns="0" rtlCol="0" anchor="t">
            <a:spAutoFit/>
          </a:bodyPr>
          <a:lstStyle/>
          <a:p>
            <a:pPr algn="l" indent="0" marL="0">
              <a:lnSpc>
                <a:spcPct val="128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2793709" cy="685800"/>
          </a:xfrm>
          <a:prstGeom prst="rect">
            <a:avLst/>
          </a:prstGeom>
          <a:noFill/>
          <a:ln/>
        </p:spPr>
        <p:txBody>
          <a:bodyPr wrap="square" lIns="0" tIns="0" rIns="0" bIns="0" rtlCol="0" anchor="t">
            <a:spAutoFit/>
          </a:bodyPr>
          <a:lstStyle/>
          <a:p>
            <a:pPr algn="l" indent="0" marL="0">
              <a:lnSpc>
                <a:spcPct val="96000"/>
              </a:lnSpc>
              <a:buNone/>
            </a:pPr>
            <a:r>
              <a:rPr lang="en-US" sz="2000" b="1" spc="-1" kern="0" dirty="0">
                <a:solidFill>
                  <a:srgbClr val="0F172A"/>
                </a:solidFill>
                <a:latin typeface="Courier New" pitchFamily="34" charset="0"/>
                <a:ea typeface="Courier New" pitchFamily="34" charset="-122"/>
                <a:cs typeface="Courier New" pitchFamily="34" charset="-120"/>
              </a:rPr>
              <a:t>ADVANCED DELIVERY</a:t>
            </a:r>
            <a:r>
              <a:rPr lang="en-US" sz="2000" b="1" spc="-1" kern="0" dirty="0">
                <a:solidFill>
                  <a:srgbClr val="0F172A"/>
                </a:solidFill>
                <a:latin typeface="Courier New" pitchFamily="34" charset="0"/>
                <a:ea typeface="Courier New" pitchFamily="34" charset="-122"/>
                <a:cs typeface="Courier New" pitchFamily="34" charset="-120"/>
              </a:rPr>
              <a:t>
</a:t>
            </a:r>
            <a:r>
              <a:rPr lang="en-US" sz="2000" b="1" spc="-1" kern="0" dirty="0">
                <a:solidFill>
                  <a:srgbClr val="0F172A"/>
                </a:solidFill>
                <a:latin typeface="Courier New" pitchFamily="34" charset="0"/>
                <a:ea typeface="Courier New" pitchFamily="34" charset="-122"/>
                <a:cs typeface="Courier New" pitchFamily="34" charset="-120"/>
              </a:rPr>
              <a:t>CHANNELS</a:t>
            </a:r>
            <a:endParaRPr lang="en-US" sz="2000" dirty="0"/>
          </a:p>
        </p:txBody>
      </p:sp>
      <p:sp>
        <p:nvSpPr>
          <p:cNvPr id="4" name="Shape 1"/>
          <p:cNvSpPr/>
          <p:nvPr/>
        </p:nvSpPr>
        <p:spPr>
          <a:xfrm>
            <a:off x="571500" y="1285875"/>
            <a:ext cx="3929063" cy="1071563"/>
          </a:xfrm>
          <a:prstGeom prst="rect">
            <a:avLst/>
          </a:prstGeom>
          <a:solidFill>
            <a:srgbClr val="FFFFFF"/>
          </a:solidFill>
          <a:ln w="9144">
            <a:solidFill>
              <a:srgbClr val="334155"/>
            </a:solidFill>
            <a:prstDash val="solid"/>
          </a:ln>
        </p:spPr>
      </p:sp>
      <p:sp>
        <p:nvSpPr>
          <p:cNvPr id="5" name="Text 2"/>
          <p:cNvSpPr/>
          <p:nvPr/>
        </p:nvSpPr>
        <p:spPr>
          <a:xfrm>
            <a:off x="714375" y="1428750"/>
            <a:ext cx="3643313" cy="210741"/>
          </a:xfrm>
          <a:prstGeom prst="rect">
            <a:avLst/>
          </a:prstGeom>
          <a:noFill/>
          <a:ln/>
        </p:spPr>
        <p:txBody>
          <a:bodyPr wrap="square" lIns="0" tIns="0" rIns="0" bIns="42545" rtlCol="0" anchor="t">
            <a:spAutoFit/>
          </a:bodyPr>
          <a:lstStyle/>
          <a:p>
            <a:pPr algn="l" indent="0" marL="0">
              <a:buNone/>
            </a:pPr>
            <a:r>
              <a:rPr lang="en-US" sz="1000" b="1" dirty="0">
                <a:solidFill>
                  <a:srgbClr val="059669"/>
                </a:solidFill>
                <a:latin typeface="Courier New" pitchFamily="34" charset="0"/>
                <a:ea typeface="Courier New" pitchFamily="34" charset="-122"/>
                <a:cs typeface="Courier New" pitchFamily="34" charset="-120"/>
              </a:rPr>
              <a:t>VOICE ASSISTANT</a:t>
            </a:r>
            <a:endParaRPr lang="en-US" sz="1000" dirty="0"/>
          </a:p>
        </p:txBody>
      </p:sp>
      <p:sp>
        <p:nvSpPr>
          <p:cNvPr id="6" name="Text 3"/>
          <p:cNvSpPr/>
          <p:nvPr/>
        </p:nvSpPr>
        <p:spPr>
          <a:xfrm>
            <a:off x="714375" y="1710928"/>
            <a:ext cx="3643313" cy="192881"/>
          </a:xfrm>
          <a:prstGeom prst="rect">
            <a:avLst/>
          </a:prstGeom>
          <a:noFill/>
          <a:ln/>
        </p:spPr>
        <p:txBody>
          <a:bodyPr wrap="non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Full support for 12+ Indian languages.</a:t>
            </a:r>
            <a:endParaRPr lang="en-US" sz="950" dirty="0"/>
          </a:p>
        </p:txBody>
      </p:sp>
      <p:sp>
        <p:nvSpPr>
          <p:cNvPr id="7" name="Text 4"/>
          <p:cNvSpPr/>
          <p:nvPr/>
        </p:nvSpPr>
        <p:spPr>
          <a:xfrm>
            <a:off x="714375" y="1960959"/>
            <a:ext cx="3643313" cy="385763"/>
          </a:xfrm>
          <a:prstGeom prst="rect">
            <a:avLst/>
          </a:prstGeom>
          <a:noFill/>
          <a:ln/>
        </p:spPr>
        <p:txBody>
          <a:bodyPr wrap="squar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Powered by BHASHINI APIs for highly accurate ASR and TTS.</a:t>
            </a:r>
            <a:endParaRPr lang="en-US" sz="950" dirty="0"/>
          </a:p>
        </p:txBody>
      </p:sp>
      <p:sp>
        <p:nvSpPr>
          <p:cNvPr id="8" name="Text 5"/>
          <p:cNvSpPr/>
          <p:nvPr/>
        </p:nvSpPr>
        <p:spPr>
          <a:xfrm>
            <a:off x="714375" y="2403872"/>
            <a:ext cx="3643313" cy="192881"/>
          </a:xfrm>
          <a:prstGeom prst="rect">
            <a:avLst/>
          </a:prstGeom>
          <a:noFill/>
          <a:ln/>
        </p:spPr>
        <p:txBody>
          <a:bodyPr wrap="non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Enables interaction for visually impaired or illiterate citizens.</a:t>
            </a:r>
            <a:endParaRPr lang="en-US" sz="950" dirty="0"/>
          </a:p>
        </p:txBody>
      </p:sp>
      <p:sp>
        <p:nvSpPr>
          <p:cNvPr id="9" name="Shape 6"/>
          <p:cNvSpPr/>
          <p:nvPr/>
        </p:nvSpPr>
        <p:spPr>
          <a:xfrm>
            <a:off x="4643438" y="1285875"/>
            <a:ext cx="3929063" cy="1071563"/>
          </a:xfrm>
          <a:prstGeom prst="rect">
            <a:avLst/>
          </a:prstGeom>
          <a:solidFill>
            <a:srgbClr val="FFFFFF"/>
          </a:solidFill>
          <a:ln w="9144">
            <a:solidFill>
              <a:srgbClr val="334155"/>
            </a:solidFill>
            <a:prstDash val="solid"/>
          </a:ln>
        </p:spPr>
      </p:sp>
      <p:sp>
        <p:nvSpPr>
          <p:cNvPr id="10" name="Text 7"/>
          <p:cNvSpPr/>
          <p:nvPr/>
        </p:nvSpPr>
        <p:spPr>
          <a:xfrm>
            <a:off x="714375" y="1732359"/>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11" name="Text 8"/>
          <p:cNvSpPr/>
          <p:nvPr/>
        </p:nvSpPr>
        <p:spPr>
          <a:xfrm>
            <a:off x="714375" y="1982391"/>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12" name="Text 9"/>
          <p:cNvSpPr/>
          <p:nvPr/>
        </p:nvSpPr>
        <p:spPr>
          <a:xfrm>
            <a:off x="714375" y="2425303"/>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13" name="Text 10"/>
          <p:cNvSpPr/>
          <p:nvPr/>
        </p:nvSpPr>
        <p:spPr>
          <a:xfrm>
            <a:off x="4786313" y="1428750"/>
            <a:ext cx="3643313" cy="210741"/>
          </a:xfrm>
          <a:prstGeom prst="rect">
            <a:avLst/>
          </a:prstGeom>
          <a:noFill/>
          <a:ln/>
        </p:spPr>
        <p:txBody>
          <a:bodyPr wrap="square" lIns="0" tIns="0" rIns="0" bIns="42545" rtlCol="0" anchor="t">
            <a:spAutoFit/>
          </a:bodyPr>
          <a:lstStyle/>
          <a:p>
            <a:pPr algn="l" indent="0" marL="0">
              <a:buNone/>
            </a:pPr>
            <a:r>
              <a:rPr lang="en-US" sz="1000" b="1" dirty="0">
                <a:solidFill>
                  <a:srgbClr val="059669"/>
                </a:solidFill>
                <a:latin typeface="Courier New" pitchFamily="34" charset="0"/>
                <a:ea typeface="Courier New" pitchFamily="34" charset="-122"/>
                <a:cs typeface="Courier New" pitchFamily="34" charset="-120"/>
              </a:rPr>
              <a:t>WHATSAPP &amp; IVR ASSISTANTS</a:t>
            </a:r>
            <a:endParaRPr lang="en-US" sz="1000" dirty="0"/>
          </a:p>
        </p:txBody>
      </p:sp>
      <p:sp>
        <p:nvSpPr>
          <p:cNvPr id="14" name="Text 11"/>
          <p:cNvSpPr/>
          <p:nvPr/>
        </p:nvSpPr>
        <p:spPr>
          <a:xfrm>
            <a:off x="4786313" y="1710928"/>
            <a:ext cx="3643313" cy="192881"/>
          </a:xfrm>
          <a:prstGeom prst="rect">
            <a:avLst/>
          </a:prstGeom>
          <a:noFill/>
          <a:ln/>
        </p:spPr>
        <p:txBody>
          <a:bodyPr wrap="non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Allows interaction without installing a dedicated app.</a:t>
            </a:r>
            <a:endParaRPr lang="en-US" sz="950" dirty="0"/>
          </a:p>
        </p:txBody>
      </p:sp>
      <p:sp>
        <p:nvSpPr>
          <p:cNvPr id="15" name="Text 12"/>
          <p:cNvSpPr/>
          <p:nvPr/>
        </p:nvSpPr>
        <p:spPr>
          <a:xfrm>
            <a:off x="4786313" y="1960959"/>
            <a:ext cx="3643313" cy="385763"/>
          </a:xfrm>
          <a:prstGeom prst="rect">
            <a:avLst/>
          </a:prstGeom>
          <a:noFill/>
          <a:ln/>
        </p:spPr>
        <p:txBody>
          <a:bodyPr wrap="squar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Crucial for non-smartphone users or those with limited storage.</a:t>
            </a:r>
            <a:endParaRPr lang="en-US" sz="950" dirty="0"/>
          </a:p>
        </p:txBody>
      </p:sp>
      <p:sp>
        <p:nvSpPr>
          <p:cNvPr id="16" name="Text 13"/>
          <p:cNvSpPr/>
          <p:nvPr/>
        </p:nvSpPr>
        <p:spPr>
          <a:xfrm>
            <a:off x="4786313" y="2403872"/>
            <a:ext cx="3643313" cy="192881"/>
          </a:xfrm>
          <a:prstGeom prst="rect">
            <a:avLst/>
          </a:prstGeom>
          <a:noFill/>
          <a:ln/>
        </p:spPr>
        <p:txBody>
          <a:bodyPr wrap="non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Provides seamless, familiar communication channels.</a:t>
            </a:r>
            <a:endParaRPr lang="en-US" sz="950" dirty="0"/>
          </a:p>
        </p:txBody>
      </p:sp>
      <p:sp>
        <p:nvSpPr>
          <p:cNvPr id="17" name="Shape 14"/>
          <p:cNvSpPr/>
          <p:nvPr/>
        </p:nvSpPr>
        <p:spPr>
          <a:xfrm>
            <a:off x="571500" y="2500313"/>
            <a:ext cx="3929063" cy="1071563"/>
          </a:xfrm>
          <a:prstGeom prst="rect">
            <a:avLst/>
          </a:prstGeom>
          <a:solidFill>
            <a:srgbClr val="FFFFFF"/>
          </a:solidFill>
          <a:ln w="9144">
            <a:solidFill>
              <a:srgbClr val="334155"/>
            </a:solidFill>
            <a:prstDash val="solid"/>
          </a:ln>
        </p:spPr>
      </p:sp>
      <p:sp>
        <p:nvSpPr>
          <p:cNvPr id="18" name="Text 15"/>
          <p:cNvSpPr/>
          <p:nvPr/>
        </p:nvSpPr>
        <p:spPr>
          <a:xfrm>
            <a:off x="4786313" y="1732359"/>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19" name="Text 16"/>
          <p:cNvSpPr/>
          <p:nvPr/>
        </p:nvSpPr>
        <p:spPr>
          <a:xfrm>
            <a:off x="4786313" y="1982391"/>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20" name="Text 17"/>
          <p:cNvSpPr/>
          <p:nvPr/>
        </p:nvSpPr>
        <p:spPr>
          <a:xfrm>
            <a:off x="4786313" y="2425303"/>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21" name="Text 18"/>
          <p:cNvSpPr/>
          <p:nvPr/>
        </p:nvSpPr>
        <p:spPr>
          <a:xfrm>
            <a:off x="714375" y="2643188"/>
            <a:ext cx="3643313" cy="210741"/>
          </a:xfrm>
          <a:prstGeom prst="rect">
            <a:avLst/>
          </a:prstGeom>
          <a:noFill/>
          <a:ln/>
        </p:spPr>
        <p:txBody>
          <a:bodyPr wrap="square" lIns="0" tIns="0" rIns="0" bIns="42545" rtlCol="0" anchor="t">
            <a:spAutoFit/>
          </a:bodyPr>
          <a:lstStyle/>
          <a:p>
            <a:pPr algn="l" indent="0" marL="0">
              <a:buNone/>
            </a:pPr>
            <a:r>
              <a:rPr lang="en-US" sz="1000" b="1" dirty="0">
                <a:solidFill>
                  <a:srgbClr val="059669"/>
                </a:solidFill>
                <a:latin typeface="Courier New" pitchFamily="34" charset="0"/>
                <a:ea typeface="Courier New" pitchFamily="34" charset="-122"/>
                <a:cs typeface="Courier New" pitchFamily="34" charset="-120"/>
              </a:rPr>
              <a:t>OFFLINE MODE</a:t>
            </a:r>
            <a:endParaRPr lang="en-US" sz="1000" dirty="0"/>
          </a:p>
        </p:txBody>
      </p:sp>
      <p:sp>
        <p:nvSpPr>
          <p:cNvPr id="22" name="Text 19"/>
          <p:cNvSpPr/>
          <p:nvPr/>
        </p:nvSpPr>
        <p:spPr>
          <a:xfrm>
            <a:off x="714375" y="2925366"/>
            <a:ext cx="3643313" cy="192881"/>
          </a:xfrm>
          <a:prstGeom prst="rect">
            <a:avLst/>
          </a:prstGeom>
          <a:noFill/>
          <a:ln/>
        </p:spPr>
        <p:txBody>
          <a:bodyPr wrap="non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Caches essential scheme data locally on the device.</a:t>
            </a:r>
            <a:endParaRPr lang="en-US" sz="950" dirty="0"/>
          </a:p>
        </p:txBody>
      </p:sp>
      <p:sp>
        <p:nvSpPr>
          <p:cNvPr id="23" name="Text 20"/>
          <p:cNvSpPr/>
          <p:nvPr/>
        </p:nvSpPr>
        <p:spPr>
          <a:xfrm>
            <a:off x="714375" y="3175397"/>
            <a:ext cx="3643313" cy="192881"/>
          </a:xfrm>
          <a:prstGeom prst="rect">
            <a:avLst/>
          </a:prstGeom>
          <a:noFill/>
          <a:ln/>
        </p:spPr>
        <p:txBody>
          <a:bodyPr wrap="non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Supports offline eligibility checks and basic navigation.</a:t>
            </a:r>
            <a:endParaRPr lang="en-US" sz="950" dirty="0"/>
          </a:p>
        </p:txBody>
      </p:sp>
      <p:sp>
        <p:nvSpPr>
          <p:cNvPr id="24" name="Text 21"/>
          <p:cNvSpPr/>
          <p:nvPr/>
        </p:nvSpPr>
        <p:spPr>
          <a:xfrm>
            <a:off x="714375" y="3425428"/>
            <a:ext cx="3643313" cy="192881"/>
          </a:xfrm>
          <a:prstGeom prst="rect">
            <a:avLst/>
          </a:prstGeom>
          <a:noFill/>
          <a:ln/>
        </p:spPr>
        <p:txBody>
          <a:bodyPr wrap="non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Designed specifically for rural areas with poor connectivity.</a:t>
            </a:r>
            <a:endParaRPr lang="en-US" sz="950" dirty="0"/>
          </a:p>
        </p:txBody>
      </p:sp>
      <p:sp>
        <p:nvSpPr>
          <p:cNvPr id="25" name="Shape 22"/>
          <p:cNvSpPr/>
          <p:nvPr/>
        </p:nvSpPr>
        <p:spPr>
          <a:xfrm>
            <a:off x="4643438" y="2500313"/>
            <a:ext cx="3929063" cy="1071563"/>
          </a:xfrm>
          <a:prstGeom prst="rect">
            <a:avLst/>
          </a:prstGeom>
          <a:solidFill>
            <a:srgbClr val="FFFFFF"/>
          </a:solidFill>
          <a:ln w="9144">
            <a:solidFill>
              <a:srgbClr val="334155"/>
            </a:solidFill>
            <a:prstDash val="solid"/>
          </a:ln>
        </p:spPr>
      </p:sp>
      <p:sp>
        <p:nvSpPr>
          <p:cNvPr id="26" name="Text 23"/>
          <p:cNvSpPr/>
          <p:nvPr/>
        </p:nvSpPr>
        <p:spPr>
          <a:xfrm>
            <a:off x="714375" y="2946797"/>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27" name="Text 24"/>
          <p:cNvSpPr/>
          <p:nvPr/>
        </p:nvSpPr>
        <p:spPr>
          <a:xfrm>
            <a:off x="714375" y="3196828"/>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28" name="Text 25"/>
          <p:cNvSpPr/>
          <p:nvPr/>
        </p:nvSpPr>
        <p:spPr>
          <a:xfrm>
            <a:off x="714375" y="3446859"/>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29" name="Text 26"/>
          <p:cNvSpPr/>
          <p:nvPr/>
        </p:nvSpPr>
        <p:spPr>
          <a:xfrm>
            <a:off x="4786313" y="2643188"/>
            <a:ext cx="3643313" cy="210741"/>
          </a:xfrm>
          <a:prstGeom prst="rect">
            <a:avLst/>
          </a:prstGeom>
          <a:noFill/>
          <a:ln/>
        </p:spPr>
        <p:txBody>
          <a:bodyPr wrap="square" lIns="0" tIns="0" rIns="0" bIns="42545" rtlCol="0" anchor="t">
            <a:spAutoFit/>
          </a:bodyPr>
          <a:lstStyle/>
          <a:p>
            <a:pPr algn="l" indent="0" marL="0">
              <a:buNone/>
            </a:pPr>
            <a:r>
              <a:rPr lang="en-US" sz="1000" b="1" dirty="0">
                <a:solidFill>
                  <a:srgbClr val="059669"/>
                </a:solidFill>
                <a:latin typeface="Courier New" pitchFamily="34" charset="0"/>
                <a:ea typeface="Courier New" pitchFamily="34" charset="-122"/>
                <a:cs typeface="Courier New" pitchFamily="34" charset="-120"/>
              </a:rPr>
              <a:t>NEARBY OFFICE FINDER</a:t>
            </a:r>
            <a:endParaRPr lang="en-US" sz="1000" dirty="0"/>
          </a:p>
        </p:txBody>
      </p:sp>
      <p:sp>
        <p:nvSpPr>
          <p:cNvPr id="30" name="Text 27"/>
          <p:cNvSpPr/>
          <p:nvPr/>
        </p:nvSpPr>
        <p:spPr>
          <a:xfrm>
            <a:off x="4786313" y="2925366"/>
            <a:ext cx="3643313" cy="385763"/>
          </a:xfrm>
          <a:prstGeom prst="rect">
            <a:avLst/>
          </a:prstGeom>
          <a:noFill/>
          <a:ln/>
        </p:spPr>
        <p:txBody>
          <a:bodyPr wrap="squar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Locates Common Service Centres (CSCs) and Aadhaar Centers.</a:t>
            </a:r>
            <a:endParaRPr lang="en-US" sz="950" dirty="0"/>
          </a:p>
        </p:txBody>
      </p:sp>
      <p:sp>
        <p:nvSpPr>
          <p:cNvPr id="31" name="Text 28"/>
          <p:cNvSpPr/>
          <p:nvPr/>
        </p:nvSpPr>
        <p:spPr>
          <a:xfrm>
            <a:off x="4786313" y="3368278"/>
            <a:ext cx="3643313" cy="192881"/>
          </a:xfrm>
          <a:prstGeom prst="rect">
            <a:avLst/>
          </a:prstGeom>
          <a:noFill/>
          <a:ln/>
        </p:spPr>
        <p:txBody>
          <a:bodyPr wrap="non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Identifies local Tehsil offices and relevant departments.</a:t>
            </a:r>
            <a:endParaRPr lang="en-US" sz="950" dirty="0"/>
          </a:p>
        </p:txBody>
      </p:sp>
      <p:sp>
        <p:nvSpPr>
          <p:cNvPr id="32" name="Text 29"/>
          <p:cNvSpPr/>
          <p:nvPr/>
        </p:nvSpPr>
        <p:spPr>
          <a:xfrm>
            <a:off x="4786313" y="3618309"/>
            <a:ext cx="3643313" cy="192881"/>
          </a:xfrm>
          <a:prstGeom prst="rect">
            <a:avLst/>
          </a:prstGeom>
          <a:noFill/>
          <a:ln/>
        </p:spPr>
        <p:txBody>
          <a:bodyPr wrap="non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Provides direct navigation and operating hours.</a:t>
            </a:r>
            <a:endParaRPr lang="en-US" sz="950" dirty="0"/>
          </a:p>
        </p:txBody>
      </p:sp>
      <p:sp>
        <p:nvSpPr>
          <p:cNvPr id="33" name="Shape 30"/>
          <p:cNvSpPr/>
          <p:nvPr/>
        </p:nvSpPr>
        <p:spPr>
          <a:xfrm>
            <a:off x="571500" y="3714750"/>
            <a:ext cx="3929063" cy="1071563"/>
          </a:xfrm>
          <a:prstGeom prst="rect">
            <a:avLst/>
          </a:prstGeom>
          <a:solidFill>
            <a:srgbClr val="FFFFFF"/>
          </a:solidFill>
          <a:ln w="9144">
            <a:solidFill>
              <a:srgbClr val="334155"/>
            </a:solidFill>
            <a:prstDash val="solid"/>
          </a:ln>
        </p:spPr>
      </p:sp>
      <p:sp>
        <p:nvSpPr>
          <p:cNvPr id="34" name="Text 31"/>
          <p:cNvSpPr/>
          <p:nvPr/>
        </p:nvSpPr>
        <p:spPr>
          <a:xfrm>
            <a:off x="4786313" y="2946797"/>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35" name="Text 32"/>
          <p:cNvSpPr/>
          <p:nvPr/>
        </p:nvSpPr>
        <p:spPr>
          <a:xfrm>
            <a:off x="4786313" y="3389709"/>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36" name="Text 33"/>
          <p:cNvSpPr/>
          <p:nvPr/>
        </p:nvSpPr>
        <p:spPr>
          <a:xfrm>
            <a:off x="4786313" y="3639741"/>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37" name="Text 34"/>
          <p:cNvSpPr/>
          <p:nvPr/>
        </p:nvSpPr>
        <p:spPr>
          <a:xfrm>
            <a:off x="714375" y="3857625"/>
            <a:ext cx="3643313" cy="210741"/>
          </a:xfrm>
          <a:prstGeom prst="rect">
            <a:avLst/>
          </a:prstGeom>
          <a:noFill/>
          <a:ln/>
        </p:spPr>
        <p:txBody>
          <a:bodyPr wrap="square" lIns="0" tIns="0" rIns="0" bIns="42545" rtlCol="0" anchor="t">
            <a:spAutoFit/>
          </a:bodyPr>
          <a:lstStyle/>
          <a:p>
            <a:pPr algn="l" indent="0" marL="0">
              <a:buNone/>
            </a:pPr>
            <a:r>
              <a:rPr lang="en-US" sz="1000" b="1" dirty="0">
                <a:solidFill>
                  <a:srgbClr val="059669"/>
                </a:solidFill>
                <a:latin typeface="Courier New" pitchFamily="34" charset="0"/>
                <a:ea typeface="Courier New" pitchFamily="34" charset="-122"/>
                <a:cs typeface="Courier New" pitchFamily="34" charset="-120"/>
              </a:rPr>
              <a:t>DIGILOCKER INTEGRATION</a:t>
            </a:r>
            <a:endParaRPr lang="en-US" sz="1000" dirty="0"/>
          </a:p>
        </p:txBody>
      </p:sp>
      <p:sp>
        <p:nvSpPr>
          <p:cNvPr id="38" name="Text 35"/>
          <p:cNvSpPr/>
          <p:nvPr/>
        </p:nvSpPr>
        <p:spPr>
          <a:xfrm>
            <a:off x="714375" y="4139803"/>
            <a:ext cx="3643313" cy="192881"/>
          </a:xfrm>
          <a:prstGeom prst="rect">
            <a:avLst/>
          </a:prstGeom>
          <a:noFill/>
          <a:ln/>
        </p:spPr>
        <p:txBody>
          <a:bodyPr wrap="non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Fetches and verifies documents automatically via API.</a:t>
            </a:r>
            <a:endParaRPr lang="en-US" sz="950" dirty="0"/>
          </a:p>
        </p:txBody>
      </p:sp>
      <p:sp>
        <p:nvSpPr>
          <p:cNvPr id="39" name="Text 36"/>
          <p:cNvSpPr/>
          <p:nvPr/>
        </p:nvSpPr>
        <p:spPr>
          <a:xfrm>
            <a:off x="714375" y="4389834"/>
            <a:ext cx="3643313" cy="192881"/>
          </a:xfrm>
          <a:prstGeom prst="rect">
            <a:avLst/>
          </a:prstGeom>
          <a:noFill/>
          <a:ln/>
        </p:spPr>
        <p:txBody>
          <a:bodyPr wrap="non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Drastically reduces the need for manual document uploads.</a:t>
            </a:r>
            <a:endParaRPr lang="en-US" sz="950" dirty="0"/>
          </a:p>
        </p:txBody>
      </p:sp>
      <p:sp>
        <p:nvSpPr>
          <p:cNvPr id="40" name="Text 37"/>
          <p:cNvSpPr/>
          <p:nvPr/>
        </p:nvSpPr>
        <p:spPr>
          <a:xfrm>
            <a:off x="714375" y="4639866"/>
            <a:ext cx="3643313" cy="192881"/>
          </a:xfrm>
          <a:prstGeom prst="rect">
            <a:avLst/>
          </a:prstGeom>
          <a:noFill/>
          <a:ln/>
        </p:spPr>
        <p:txBody>
          <a:bodyPr wrap="non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Ensures authenticity of submitted certificates.</a:t>
            </a:r>
            <a:endParaRPr lang="en-US" sz="950" dirty="0"/>
          </a:p>
        </p:txBody>
      </p:sp>
      <p:sp>
        <p:nvSpPr>
          <p:cNvPr id="41" name="Shape 38"/>
          <p:cNvSpPr/>
          <p:nvPr/>
        </p:nvSpPr>
        <p:spPr>
          <a:xfrm>
            <a:off x="4643438" y="3714750"/>
            <a:ext cx="3929063" cy="1071563"/>
          </a:xfrm>
          <a:prstGeom prst="rect">
            <a:avLst/>
          </a:prstGeom>
          <a:solidFill>
            <a:srgbClr val="FFFFFF"/>
          </a:solidFill>
          <a:ln w="9144">
            <a:solidFill>
              <a:srgbClr val="334155"/>
            </a:solidFill>
            <a:prstDash val="solid"/>
          </a:ln>
        </p:spPr>
      </p:sp>
      <p:sp>
        <p:nvSpPr>
          <p:cNvPr id="42" name="Text 39"/>
          <p:cNvSpPr/>
          <p:nvPr/>
        </p:nvSpPr>
        <p:spPr>
          <a:xfrm>
            <a:off x="714375" y="4161234"/>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43" name="Text 40"/>
          <p:cNvSpPr/>
          <p:nvPr/>
        </p:nvSpPr>
        <p:spPr>
          <a:xfrm>
            <a:off x="714375" y="4411266"/>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44" name="Text 41"/>
          <p:cNvSpPr/>
          <p:nvPr/>
        </p:nvSpPr>
        <p:spPr>
          <a:xfrm>
            <a:off x="714375" y="4661297"/>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45" name="Text 42"/>
          <p:cNvSpPr/>
          <p:nvPr/>
        </p:nvSpPr>
        <p:spPr>
          <a:xfrm>
            <a:off x="4786313" y="3857625"/>
            <a:ext cx="3643313" cy="210741"/>
          </a:xfrm>
          <a:prstGeom prst="rect">
            <a:avLst/>
          </a:prstGeom>
          <a:noFill/>
          <a:ln/>
        </p:spPr>
        <p:txBody>
          <a:bodyPr wrap="square" lIns="0" tIns="0" rIns="0" bIns="42545" rtlCol="0" anchor="t">
            <a:spAutoFit/>
          </a:bodyPr>
          <a:lstStyle/>
          <a:p>
            <a:pPr algn="l" indent="0" marL="0">
              <a:buNone/>
            </a:pPr>
            <a:r>
              <a:rPr lang="en-US" sz="1000" b="1" dirty="0">
                <a:solidFill>
                  <a:srgbClr val="059669"/>
                </a:solidFill>
                <a:latin typeface="Courier New" pitchFamily="34" charset="0"/>
                <a:ea typeface="Courier New" pitchFamily="34" charset="-122"/>
                <a:cs typeface="Courier New" pitchFamily="34" charset="-120"/>
              </a:rPr>
              <a:t>UNIVERSAL ACCESSIBILITY</a:t>
            </a:r>
            <a:endParaRPr lang="en-US" sz="1000" dirty="0"/>
          </a:p>
        </p:txBody>
      </p:sp>
      <p:sp>
        <p:nvSpPr>
          <p:cNvPr id="46" name="Text 43"/>
          <p:cNvSpPr/>
          <p:nvPr/>
        </p:nvSpPr>
        <p:spPr>
          <a:xfrm>
            <a:off x="4786313" y="4139803"/>
            <a:ext cx="3643313" cy="192881"/>
          </a:xfrm>
          <a:prstGeom prst="rect">
            <a:avLst/>
          </a:prstGeom>
          <a:noFill/>
          <a:ln/>
        </p:spPr>
        <p:txBody>
          <a:bodyPr wrap="non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Combines all channels to ensure no citizen is left behind.</a:t>
            </a:r>
            <a:endParaRPr lang="en-US" sz="950" dirty="0"/>
          </a:p>
        </p:txBody>
      </p:sp>
      <p:sp>
        <p:nvSpPr>
          <p:cNvPr id="47" name="Text 44"/>
          <p:cNvSpPr/>
          <p:nvPr/>
        </p:nvSpPr>
        <p:spPr>
          <a:xfrm>
            <a:off x="4786313" y="4389834"/>
            <a:ext cx="3643313" cy="192881"/>
          </a:xfrm>
          <a:prstGeom prst="rect">
            <a:avLst/>
          </a:prstGeom>
          <a:noFill/>
          <a:ln/>
        </p:spPr>
        <p:txBody>
          <a:bodyPr wrap="non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Bridges the digital divide between urban and rural India.</a:t>
            </a:r>
            <a:endParaRPr lang="en-US" sz="950" dirty="0"/>
          </a:p>
        </p:txBody>
      </p:sp>
      <p:sp>
        <p:nvSpPr>
          <p:cNvPr id="48" name="Text 45"/>
          <p:cNvSpPr/>
          <p:nvPr/>
        </p:nvSpPr>
        <p:spPr>
          <a:xfrm>
            <a:off x="4786313" y="4639866"/>
            <a:ext cx="3643313" cy="192881"/>
          </a:xfrm>
          <a:prstGeom prst="rect">
            <a:avLst/>
          </a:prstGeom>
          <a:noFill/>
          <a:ln/>
        </p:spPr>
        <p:txBody>
          <a:bodyPr wrap="none" lIns="170053" tIns="0" rIns="0" bIns="0" rtlCol="0" anchor="t">
            <a:spAutoFit/>
          </a:bodyPr>
          <a:lstStyle/>
          <a:p>
            <a:pPr algn="l" indent="0" marL="0">
              <a:lnSpc>
                <a:spcPct val="120000"/>
              </a:lnSpc>
              <a:buNone/>
            </a:pPr>
            <a:r>
              <a:rPr lang="en-US" sz="950" dirty="0">
                <a:solidFill>
                  <a:srgbClr val="334155"/>
                </a:solidFill>
                <a:latin typeface="Helvetica Neue" pitchFamily="34" charset="0"/>
                <a:ea typeface="Helvetica Neue" pitchFamily="34" charset="-122"/>
                <a:cs typeface="Helvetica Neue" pitchFamily="34" charset="-120"/>
              </a:rPr>
              <a:t>Adapts to the user's specific technological constraints.</a:t>
            </a:r>
            <a:endParaRPr lang="en-US" sz="950" dirty="0"/>
          </a:p>
        </p:txBody>
      </p:sp>
      <p:sp>
        <p:nvSpPr>
          <p:cNvPr id="49" name="Text 46"/>
          <p:cNvSpPr/>
          <p:nvPr/>
        </p:nvSpPr>
        <p:spPr>
          <a:xfrm>
            <a:off x="4786313" y="4161234"/>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50" name="Text 47"/>
          <p:cNvSpPr/>
          <p:nvPr/>
        </p:nvSpPr>
        <p:spPr>
          <a:xfrm>
            <a:off x="4786313" y="4411266"/>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
        <p:nvSpPr>
          <p:cNvPr id="51" name="Text 48"/>
          <p:cNvSpPr/>
          <p:nvPr/>
        </p:nvSpPr>
        <p:spPr>
          <a:xfrm>
            <a:off x="4786313" y="4661297"/>
            <a:ext cx="51792" cy="128588"/>
          </a:xfrm>
          <a:prstGeom prst="rect">
            <a:avLst/>
          </a:prstGeom>
          <a:noFill/>
          <a:ln/>
        </p:spPr>
        <p:txBody>
          <a:bodyPr wrap="none" lIns="0" tIns="0" rIns="0" bIns="0" rtlCol="0" anchor="t">
            <a:spAutoFit/>
          </a:bodyPr>
          <a:lstStyle/>
          <a:p>
            <a:pPr algn="l" indent="0" marL="0">
              <a:lnSpc>
                <a:spcPct val="120000"/>
              </a:lnSpc>
              <a:buNone/>
            </a:pPr>
            <a:r>
              <a:rPr lang="en-US" sz="600" dirty="0">
                <a:solidFill>
                  <a:srgbClr val="0F172A"/>
                </a:solidFill>
                <a:latin typeface="Helvetica Neue" pitchFamily="34" charset="0"/>
                <a:ea typeface="Helvetica Neue" pitchFamily="34" charset="-122"/>
                <a:cs typeface="Helvetica Neue" pitchFamily="34" charset="-120"/>
              </a:rPr>
              <a:t>■</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3286683" cy="685800"/>
          </a:xfrm>
          <a:prstGeom prst="rect">
            <a:avLst/>
          </a:prstGeom>
          <a:noFill/>
          <a:ln/>
        </p:spPr>
        <p:txBody>
          <a:bodyPr wrap="square" lIns="0" tIns="0" rIns="0" bIns="0" rtlCol="0" anchor="t">
            <a:spAutoFit/>
          </a:bodyPr>
          <a:lstStyle/>
          <a:p>
            <a:pPr algn="l" indent="0" marL="0">
              <a:lnSpc>
                <a:spcPct val="96000"/>
              </a:lnSpc>
              <a:buNone/>
            </a:pPr>
            <a:r>
              <a:rPr lang="en-US" sz="2000" b="1" spc="-1" kern="0" dirty="0">
                <a:solidFill>
                  <a:srgbClr val="0F172A"/>
                </a:solidFill>
                <a:latin typeface="Courier New" pitchFamily="34" charset="0"/>
                <a:ea typeface="Courier New" pitchFamily="34" charset="-122"/>
                <a:cs typeface="Courier New" pitchFamily="34" charset="-120"/>
              </a:rPr>
              <a:t>DEMONSTRATION:</a:t>
            </a:r>
            <a:r>
              <a:rPr lang="en-US" sz="2000" b="1" spc="-1" kern="0" dirty="0">
                <a:solidFill>
                  <a:srgbClr val="0F172A"/>
                </a:solidFill>
                <a:latin typeface="Courier New" pitchFamily="34" charset="0"/>
                <a:ea typeface="Courier New" pitchFamily="34" charset="-122"/>
                <a:cs typeface="Courier New" pitchFamily="34" charset="-120"/>
              </a:rPr>
              <a:t>
</a:t>
            </a:r>
            <a:r>
              <a:rPr lang="en-US" sz="2000" b="1" spc="-1" kern="0" dirty="0">
                <a:solidFill>
                  <a:srgbClr val="0F172A"/>
                </a:solidFill>
                <a:latin typeface="Courier New" pitchFamily="34" charset="0"/>
                <a:ea typeface="Courier New" pitchFamily="34" charset="-122"/>
                <a:cs typeface="Courier New" pitchFamily="34" charset="-120"/>
              </a:rPr>
              <a:t>THE FARMER'S JOURNEY</a:t>
            </a:r>
            <a:endParaRPr lang="en-US" sz="2000" dirty="0"/>
          </a:p>
        </p:txBody>
      </p:sp>
      <p:sp>
        <p:nvSpPr>
          <p:cNvPr id="4" name="Shape 1"/>
          <p:cNvSpPr/>
          <p:nvPr/>
        </p:nvSpPr>
        <p:spPr>
          <a:xfrm>
            <a:off x="571500" y="1364456"/>
            <a:ext cx="285750" cy="285750"/>
          </a:xfrm>
          <a:prstGeom prst="rect">
            <a:avLst/>
          </a:prstGeom>
          <a:solidFill>
            <a:srgbClr val="0F172A"/>
          </a:solidFill>
          <a:ln/>
        </p:spPr>
      </p:sp>
      <p:sp>
        <p:nvSpPr>
          <p:cNvPr id="5" name="Text 2"/>
          <p:cNvSpPr/>
          <p:nvPr/>
        </p:nvSpPr>
        <p:spPr>
          <a:xfrm>
            <a:off x="571500" y="1364456"/>
            <a:ext cx="285750" cy="285750"/>
          </a:xfrm>
          <a:prstGeom prst="rect">
            <a:avLst/>
          </a:prstGeom>
          <a:noFill/>
          <a:ln/>
        </p:spPr>
        <p:txBody>
          <a:bodyPr wrap="none" lIns="0" tIns="0" rIns="0" bIns="0" rtlCol="0" anchor="ctr">
            <a:spAutoFit/>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1</a:t>
            </a:r>
            <a:endParaRPr lang="en-US" sz="1000" dirty="0"/>
          </a:p>
        </p:txBody>
      </p:sp>
      <p:sp>
        <p:nvSpPr>
          <p:cNvPr id="6" name="Shape 3"/>
          <p:cNvSpPr/>
          <p:nvPr/>
        </p:nvSpPr>
        <p:spPr>
          <a:xfrm>
            <a:off x="1000125" y="1285875"/>
            <a:ext cx="5286375" cy="442913"/>
          </a:xfrm>
          <a:prstGeom prst="rect">
            <a:avLst/>
          </a:prstGeom>
          <a:solidFill>
            <a:srgbClr val="FFFFFF"/>
          </a:solidFill>
          <a:ln w="9144">
            <a:solidFill>
              <a:srgbClr val="334155"/>
            </a:solidFill>
            <a:prstDash val="solid"/>
          </a:ln>
        </p:spPr>
      </p:sp>
      <p:sp>
        <p:nvSpPr>
          <p:cNvPr id="7" name="Text 4"/>
          <p:cNvSpPr/>
          <p:nvPr/>
        </p:nvSpPr>
        <p:spPr>
          <a:xfrm>
            <a:off x="1000125" y="1285875"/>
            <a:ext cx="5286375" cy="442913"/>
          </a:xfrm>
          <a:prstGeom prst="rect">
            <a:avLst/>
          </a:prstGeom>
          <a:noFill/>
          <a:ln/>
        </p:spPr>
        <p:txBody>
          <a:bodyPr wrap="square" lIns="170053" tIns="127508" rIns="170053" bIns="127508" rtlCol="0" anchor="t">
            <a:spAutoFit/>
          </a:bodyPr>
          <a:lstStyle/>
          <a:p>
            <a:pPr algn="l" indent="0" marL="0">
              <a:lnSpc>
                <a:spcPct val="120000"/>
              </a:lnSpc>
              <a:buNone/>
            </a:pPr>
            <a:r>
              <a:rPr lang="en-US" sz="1000" b="1" dirty="0">
                <a:solidFill>
                  <a:srgbClr val="0F172A"/>
                </a:solidFill>
                <a:latin typeface="Helvetica Neue" pitchFamily="34" charset="0"/>
                <a:ea typeface="Helvetica Neue" pitchFamily="34" charset="-122"/>
                <a:cs typeface="Helvetica Neue" pitchFamily="34" charset="-120"/>
              </a:rPr>
              <a:t>Voice Input:</a:t>
            </a:r>
            <a:r>
              <a:rPr lang="en-US" sz="1050" dirty="0">
                <a:solidFill>
                  <a:srgbClr val="334155"/>
                </a:solidFill>
                <a:latin typeface="Helvetica Neue" pitchFamily="34" charset="0"/>
                <a:ea typeface="Helvetica Neue" pitchFamily="34" charset="-122"/>
                <a:cs typeface="Helvetica Neue" pitchFamily="34" charset="-120"/>
              </a:rPr>
              <a:t> A farmer speaks in Hindi: "I am a farmer, what help can I get?"</a:t>
            </a:r>
            <a:endParaRPr lang="en-US" sz="1000" dirty="0"/>
          </a:p>
        </p:txBody>
      </p:sp>
      <p:sp>
        <p:nvSpPr>
          <p:cNvPr id="8" name="Shape 5"/>
          <p:cNvSpPr/>
          <p:nvPr/>
        </p:nvSpPr>
        <p:spPr>
          <a:xfrm>
            <a:off x="571500" y="2007394"/>
            <a:ext cx="285750" cy="285750"/>
          </a:xfrm>
          <a:prstGeom prst="rect">
            <a:avLst/>
          </a:prstGeom>
          <a:solidFill>
            <a:srgbClr val="0F172A"/>
          </a:solidFill>
          <a:ln/>
        </p:spPr>
      </p:sp>
      <p:sp>
        <p:nvSpPr>
          <p:cNvPr id="9" name="Text 6"/>
          <p:cNvSpPr/>
          <p:nvPr/>
        </p:nvSpPr>
        <p:spPr>
          <a:xfrm>
            <a:off x="571500" y="2007394"/>
            <a:ext cx="285750" cy="285750"/>
          </a:xfrm>
          <a:prstGeom prst="rect">
            <a:avLst/>
          </a:prstGeom>
          <a:noFill/>
          <a:ln/>
        </p:spPr>
        <p:txBody>
          <a:bodyPr wrap="none" lIns="0" tIns="0" rIns="0" bIns="0" rtlCol="0" anchor="ctr">
            <a:spAutoFit/>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2</a:t>
            </a:r>
            <a:endParaRPr lang="en-US" sz="1000" dirty="0"/>
          </a:p>
        </p:txBody>
      </p:sp>
      <p:sp>
        <p:nvSpPr>
          <p:cNvPr id="10" name="Shape 7"/>
          <p:cNvSpPr/>
          <p:nvPr/>
        </p:nvSpPr>
        <p:spPr>
          <a:xfrm>
            <a:off x="1000125" y="1821656"/>
            <a:ext cx="5286375" cy="657225"/>
          </a:xfrm>
          <a:prstGeom prst="rect">
            <a:avLst/>
          </a:prstGeom>
          <a:solidFill>
            <a:srgbClr val="FFFFFF"/>
          </a:solidFill>
          <a:ln w="9144">
            <a:solidFill>
              <a:srgbClr val="334155"/>
            </a:solidFill>
            <a:prstDash val="solid"/>
          </a:ln>
        </p:spPr>
      </p:sp>
      <p:sp>
        <p:nvSpPr>
          <p:cNvPr id="11" name="Text 8"/>
          <p:cNvSpPr/>
          <p:nvPr/>
        </p:nvSpPr>
        <p:spPr>
          <a:xfrm>
            <a:off x="1000125" y="1821656"/>
            <a:ext cx="5286375" cy="657225"/>
          </a:xfrm>
          <a:prstGeom prst="rect">
            <a:avLst/>
          </a:prstGeom>
          <a:noFill/>
          <a:ln/>
        </p:spPr>
        <p:txBody>
          <a:bodyPr wrap="square" lIns="170053" tIns="127508" rIns="170053" bIns="127508" rtlCol="0" anchor="t">
            <a:spAutoFit/>
          </a:bodyPr>
          <a:lstStyle/>
          <a:p>
            <a:pPr algn="l" indent="0" marL="0">
              <a:lnSpc>
                <a:spcPct val="120000"/>
              </a:lnSpc>
              <a:buNone/>
            </a:pPr>
            <a:r>
              <a:rPr lang="en-US" sz="1000" b="1" dirty="0">
                <a:solidFill>
                  <a:srgbClr val="0F172A"/>
                </a:solidFill>
                <a:latin typeface="Helvetica Neue" pitchFamily="34" charset="0"/>
                <a:ea typeface="Helvetica Neue" pitchFamily="34" charset="-122"/>
                <a:cs typeface="Helvetica Neue" pitchFamily="34" charset="-120"/>
              </a:rPr>
              <a:t>AI Processing:</a:t>
            </a:r>
            <a:r>
              <a:rPr lang="en-US" sz="1050" dirty="0">
                <a:solidFill>
                  <a:srgbClr val="334155"/>
                </a:solidFill>
                <a:latin typeface="Helvetica Neue" pitchFamily="34" charset="0"/>
                <a:ea typeface="Helvetica Neue" pitchFamily="34" charset="-122"/>
                <a:cs typeface="Helvetica Neue" pitchFamily="34" charset="-120"/>
              </a:rPr>
              <a:t> The AI detects the language, identifies PM-KISAN and crop </a:t>
            </a:r>
            <a:r>
              <a:rPr lang="en-US" sz="1050" dirty="0">
                <a:solidFill>
                  <a:srgbClr val="334155"/>
                </a:solidFill>
                <a:latin typeface="Helvetica Neue" pitchFamily="34" charset="0"/>
                <a:ea typeface="Helvetica Neue" pitchFamily="34" charset="-122"/>
                <a:cs typeface="Helvetica Neue" pitchFamily="34" charset="-120"/>
              </a:rPr>
              <a:t>insurance eligibility.</a:t>
            </a:r>
            <a:endParaRPr lang="en-US" sz="1000" dirty="0"/>
          </a:p>
        </p:txBody>
      </p:sp>
      <p:sp>
        <p:nvSpPr>
          <p:cNvPr id="12" name="Shape 9"/>
          <p:cNvSpPr/>
          <p:nvPr/>
        </p:nvSpPr>
        <p:spPr>
          <a:xfrm>
            <a:off x="571500" y="2757488"/>
            <a:ext cx="285750" cy="285750"/>
          </a:xfrm>
          <a:prstGeom prst="rect">
            <a:avLst/>
          </a:prstGeom>
          <a:solidFill>
            <a:srgbClr val="0F172A"/>
          </a:solidFill>
          <a:ln/>
        </p:spPr>
      </p:sp>
      <p:sp>
        <p:nvSpPr>
          <p:cNvPr id="13" name="Text 10"/>
          <p:cNvSpPr/>
          <p:nvPr/>
        </p:nvSpPr>
        <p:spPr>
          <a:xfrm>
            <a:off x="571500" y="2757488"/>
            <a:ext cx="285750" cy="285750"/>
          </a:xfrm>
          <a:prstGeom prst="rect">
            <a:avLst/>
          </a:prstGeom>
          <a:noFill/>
          <a:ln/>
        </p:spPr>
        <p:txBody>
          <a:bodyPr wrap="none" lIns="0" tIns="0" rIns="0" bIns="0" rtlCol="0" anchor="ctr">
            <a:spAutoFit/>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3</a:t>
            </a:r>
            <a:endParaRPr lang="en-US" sz="1000" dirty="0"/>
          </a:p>
        </p:txBody>
      </p:sp>
      <p:sp>
        <p:nvSpPr>
          <p:cNvPr id="14" name="Shape 11"/>
          <p:cNvSpPr/>
          <p:nvPr/>
        </p:nvSpPr>
        <p:spPr>
          <a:xfrm>
            <a:off x="1000125" y="2571750"/>
            <a:ext cx="5286375" cy="657225"/>
          </a:xfrm>
          <a:prstGeom prst="rect">
            <a:avLst/>
          </a:prstGeom>
          <a:solidFill>
            <a:srgbClr val="FFFFFF"/>
          </a:solidFill>
          <a:ln w="9144">
            <a:solidFill>
              <a:srgbClr val="334155"/>
            </a:solidFill>
            <a:prstDash val="solid"/>
          </a:ln>
        </p:spPr>
      </p:sp>
      <p:sp>
        <p:nvSpPr>
          <p:cNvPr id="15" name="Text 12"/>
          <p:cNvSpPr/>
          <p:nvPr/>
        </p:nvSpPr>
        <p:spPr>
          <a:xfrm>
            <a:off x="1000125" y="2571750"/>
            <a:ext cx="5286375" cy="657225"/>
          </a:xfrm>
          <a:prstGeom prst="rect">
            <a:avLst/>
          </a:prstGeom>
          <a:noFill/>
          <a:ln/>
        </p:spPr>
        <p:txBody>
          <a:bodyPr wrap="square" lIns="170053" tIns="127508" rIns="170053" bIns="127508" rtlCol="0" anchor="t">
            <a:spAutoFit/>
          </a:bodyPr>
          <a:lstStyle/>
          <a:p>
            <a:pPr algn="l" indent="0" marL="0">
              <a:lnSpc>
                <a:spcPct val="120000"/>
              </a:lnSpc>
              <a:buNone/>
            </a:pPr>
            <a:r>
              <a:rPr lang="en-US" sz="1000" b="1" dirty="0">
                <a:solidFill>
                  <a:srgbClr val="0F172A"/>
                </a:solidFill>
                <a:latin typeface="Helvetica Neue" pitchFamily="34" charset="0"/>
                <a:ea typeface="Helvetica Neue" pitchFamily="34" charset="-122"/>
                <a:cs typeface="Helvetica Neue" pitchFamily="34" charset="-120"/>
              </a:rPr>
              <a:t>Document Intelligence:</a:t>
            </a:r>
            <a:r>
              <a:rPr lang="en-US" sz="1050" dirty="0">
                <a:solidFill>
                  <a:srgbClr val="334155"/>
                </a:solidFill>
                <a:latin typeface="Helvetica Neue" pitchFamily="34" charset="0"/>
                <a:ea typeface="Helvetica Neue" pitchFamily="34" charset="-122"/>
                <a:cs typeface="Helvetica Neue" pitchFamily="34" charset="-120"/>
              </a:rPr>
              <a:t> The farmer uploads an Aadhaar card; the AI extracts </a:t>
            </a:r>
            <a:r>
              <a:rPr lang="en-US" sz="1050" dirty="0">
                <a:solidFill>
                  <a:srgbClr val="334155"/>
                </a:solidFill>
                <a:latin typeface="Helvetica Neue" pitchFamily="34" charset="0"/>
                <a:ea typeface="Helvetica Neue" pitchFamily="34" charset="-122"/>
                <a:cs typeface="Helvetica Neue" pitchFamily="34" charset="-120"/>
              </a:rPr>
              <a:t>details and detects a missing income certificate.</a:t>
            </a:r>
            <a:endParaRPr lang="en-US" sz="1000" dirty="0"/>
          </a:p>
        </p:txBody>
      </p:sp>
      <p:sp>
        <p:nvSpPr>
          <p:cNvPr id="16" name="Shape 13"/>
          <p:cNvSpPr/>
          <p:nvPr/>
        </p:nvSpPr>
        <p:spPr>
          <a:xfrm>
            <a:off x="571500" y="3507581"/>
            <a:ext cx="285750" cy="285750"/>
          </a:xfrm>
          <a:prstGeom prst="rect">
            <a:avLst/>
          </a:prstGeom>
          <a:solidFill>
            <a:srgbClr val="0F172A"/>
          </a:solidFill>
          <a:ln/>
        </p:spPr>
      </p:sp>
      <p:sp>
        <p:nvSpPr>
          <p:cNvPr id="17" name="Text 14"/>
          <p:cNvSpPr/>
          <p:nvPr/>
        </p:nvSpPr>
        <p:spPr>
          <a:xfrm>
            <a:off x="571500" y="3507581"/>
            <a:ext cx="285750" cy="285750"/>
          </a:xfrm>
          <a:prstGeom prst="rect">
            <a:avLst/>
          </a:prstGeom>
          <a:noFill/>
          <a:ln/>
        </p:spPr>
        <p:txBody>
          <a:bodyPr wrap="none" lIns="0" tIns="0" rIns="0" bIns="0" rtlCol="0" anchor="ctr">
            <a:spAutoFit/>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4</a:t>
            </a:r>
            <a:endParaRPr lang="en-US" sz="1000" dirty="0"/>
          </a:p>
        </p:txBody>
      </p:sp>
      <p:sp>
        <p:nvSpPr>
          <p:cNvPr id="18" name="Shape 15"/>
          <p:cNvSpPr/>
          <p:nvPr/>
        </p:nvSpPr>
        <p:spPr>
          <a:xfrm>
            <a:off x="1000125" y="3321844"/>
            <a:ext cx="5286375" cy="657225"/>
          </a:xfrm>
          <a:prstGeom prst="rect">
            <a:avLst/>
          </a:prstGeom>
          <a:solidFill>
            <a:srgbClr val="FFFFFF"/>
          </a:solidFill>
          <a:ln w="9144">
            <a:solidFill>
              <a:srgbClr val="334155"/>
            </a:solidFill>
            <a:prstDash val="solid"/>
          </a:ln>
        </p:spPr>
      </p:sp>
      <p:sp>
        <p:nvSpPr>
          <p:cNvPr id="19" name="Text 16"/>
          <p:cNvSpPr/>
          <p:nvPr/>
        </p:nvSpPr>
        <p:spPr>
          <a:xfrm>
            <a:off x="1000125" y="3321844"/>
            <a:ext cx="5286375" cy="657225"/>
          </a:xfrm>
          <a:prstGeom prst="rect">
            <a:avLst/>
          </a:prstGeom>
          <a:noFill/>
          <a:ln/>
        </p:spPr>
        <p:txBody>
          <a:bodyPr wrap="square" lIns="170053" tIns="127508" rIns="170053" bIns="127508" rtlCol="0" anchor="t">
            <a:spAutoFit/>
          </a:bodyPr>
          <a:lstStyle/>
          <a:p>
            <a:pPr algn="l" indent="0" marL="0">
              <a:lnSpc>
                <a:spcPct val="120000"/>
              </a:lnSpc>
              <a:buNone/>
            </a:pPr>
            <a:r>
              <a:rPr lang="en-US" sz="1000" b="1" dirty="0">
                <a:solidFill>
                  <a:srgbClr val="0F172A"/>
                </a:solidFill>
                <a:latin typeface="Helvetica Neue" pitchFamily="34" charset="0"/>
                <a:ea typeface="Helvetica Neue" pitchFamily="34" charset="-122"/>
                <a:cs typeface="Helvetica Neue" pitchFamily="34" charset="-120"/>
              </a:rPr>
              <a:t>Guided Action:</a:t>
            </a:r>
            <a:r>
              <a:rPr lang="en-US" sz="1050" dirty="0">
                <a:solidFill>
                  <a:srgbClr val="334155"/>
                </a:solidFill>
                <a:latin typeface="Helvetica Neue" pitchFamily="34" charset="0"/>
                <a:ea typeface="Helvetica Neue" pitchFamily="34" charset="-122"/>
                <a:cs typeface="Helvetica Neue" pitchFamily="34" charset="-120"/>
              </a:rPr>
              <a:t> The AI explains the process in simple Hindi and locates the </a:t>
            </a:r>
            <a:r>
              <a:rPr lang="en-US" sz="1050" dirty="0">
                <a:solidFill>
                  <a:srgbClr val="334155"/>
                </a:solidFill>
                <a:latin typeface="Helvetica Neue" pitchFamily="34" charset="0"/>
                <a:ea typeface="Helvetica Neue" pitchFamily="34" charset="-122"/>
                <a:cs typeface="Helvetica Neue" pitchFamily="34" charset="-120"/>
              </a:rPr>
              <a:t>nearest Common Service Centre (CSC).</a:t>
            </a:r>
            <a:endParaRPr lang="en-US" sz="1000" dirty="0"/>
          </a:p>
        </p:txBody>
      </p:sp>
      <p:sp>
        <p:nvSpPr>
          <p:cNvPr id="20" name="Shape 17"/>
          <p:cNvSpPr/>
          <p:nvPr/>
        </p:nvSpPr>
        <p:spPr>
          <a:xfrm>
            <a:off x="571500" y="4257675"/>
            <a:ext cx="285750" cy="285750"/>
          </a:xfrm>
          <a:prstGeom prst="rect">
            <a:avLst/>
          </a:prstGeom>
          <a:solidFill>
            <a:srgbClr val="0F172A"/>
          </a:solidFill>
          <a:ln/>
        </p:spPr>
      </p:sp>
      <p:sp>
        <p:nvSpPr>
          <p:cNvPr id="21" name="Text 18"/>
          <p:cNvSpPr/>
          <p:nvPr/>
        </p:nvSpPr>
        <p:spPr>
          <a:xfrm>
            <a:off x="571500" y="4257675"/>
            <a:ext cx="285750" cy="285750"/>
          </a:xfrm>
          <a:prstGeom prst="rect">
            <a:avLst/>
          </a:prstGeom>
          <a:noFill/>
          <a:ln/>
        </p:spPr>
        <p:txBody>
          <a:bodyPr wrap="none" lIns="0" tIns="0" rIns="0" bIns="0" rtlCol="0" anchor="ctr">
            <a:spAutoFit/>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5</a:t>
            </a:r>
            <a:endParaRPr lang="en-US" sz="1000" dirty="0"/>
          </a:p>
        </p:txBody>
      </p:sp>
      <p:sp>
        <p:nvSpPr>
          <p:cNvPr id="22" name="Shape 19"/>
          <p:cNvSpPr/>
          <p:nvPr/>
        </p:nvSpPr>
        <p:spPr>
          <a:xfrm>
            <a:off x="1000125" y="4071938"/>
            <a:ext cx="5286375" cy="657225"/>
          </a:xfrm>
          <a:prstGeom prst="rect">
            <a:avLst/>
          </a:prstGeom>
          <a:solidFill>
            <a:srgbClr val="FFFFFF"/>
          </a:solidFill>
          <a:ln w="9144">
            <a:solidFill>
              <a:srgbClr val="334155"/>
            </a:solidFill>
            <a:prstDash val="solid"/>
          </a:ln>
        </p:spPr>
      </p:sp>
      <p:sp>
        <p:nvSpPr>
          <p:cNvPr id="23" name="Text 20"/>
          <p:cNvSpPr/>
          <p:nvPr/>
        </p:nvSpPr>
        <p:spPr>
          <a:xfrm>
            <a:off x="1000125" y="4071938"/>
            <a:ext cx="5286375" cy="657225"/>
          </a:xfrm>
          <a:prstGeom prst="rect">
            <a:avLst/>
          </a:prstGeom>
          <a:noFill/>
          <a:ln/>
        </p:spPr>
        <p:txBody>
          <a:bodyPr wrap="square" lIns="170053" tIns="127508" rIns="170053" bIns="127508" rtlCol="0" anchor="t">
            <a:spAutoFit/>
          </a:bodyPr>
          <a:lstStyle/>
          <a:p>
            <a:pPr algn="l" indent="0" marL="0">
              <a:lnSpc>
                <a:spcPct val="120000"/>
              </a:lnSpc>
              <a:buNone/>
            </a:pPr>
            <a:r>
              <a:rPr lang="en-US" sz="1000" b="1" dirty="0">
                <a:solidFill>
                  <a:srgbClr val="0F172A"/>
                </a:solidFill>
                <a:latin typeface="Helvetica Neue" pitchFamily="34" charset="0"/>
                <a:ea typeface="Helvetica Neue" pitchFamily="34" charset="-122"/>
                <a:cs typeface="Helvetica Neue" pitchFamily="34" charset="-120"/>
              </a:rPr>
              <a:t>Comprehensive Support:</a:t>
            </a:r>
            <a:r>
              <a:rPr lang="en-US" sz="1050" dirty="0">
                <a:solidFill>
                  <a:srgbClr val="334155"/>
                </a:solidFill>
                <a:latin typeface="Helvetica Neue" pitchFamily="34" charset="0"/>
                <a:ea typeface="Helvetica Neue" pitchFamily="34" charset="-122"/>
                <a:cs typeface="Helvetica Neue" pitchFamily="34" charset="-120"/>
              </a:rPr>
              <a:t> The AI creates a checklist. Later, when the farmer </a:t>
            </a:r>
            <a:r>
              <a:rPr lang="en-US" sz="1050" dirty="0">
                <a:solidFill>
                  <a:srgbClr val="334155"/>
                </a:solidFill>
                <a:latin typeface="Helvetica Neue" pitchFamily="34" charset="0"/>
                <a:ea typeface="Helvetica Neue" pitchFamily="34" charset="-122"/>
                <a:cs typeface="Helvetica Neue" pitchFamily="34" charset="-120"/>
              </a:rPr>
              <a:t>has a billing issue, the AI drafts a complaint to the correct department.</a:t>
            </a:r>
            <a:endParaRPr lang="en-US" sz="1000" dirty="0"/>
          </a:p>
        </p:txBody>
      </p:sp>
      <p:sp>
        <p:nvSpPr>
          <p:cNvPr id="24" name="Shape 21"/>
          <p:cNvSpPr/>
          <p:nvPr/>
        </p:nvSpPr>
        <p:spPr>
          <a:xfrm>
            <a:off x="571500" y="4893469"/>
            <a:ext cx="5715000" cy="850106"/>
          </a:xfrm>
          <a:prstGeom prst="rect">
            <a:avLst/>
          </a:prstGeom>
          <a:solidFill>
            <a:srgbClr val="F0FDF4"/>
          </a:solidFill>
          <a:ln w="18288">
            <a:solidFill>
              <a:srgbClr val="059669"/>
            </a:solidFill>
            <a:prstDash val="solid"/>
          </a:ln>
        </p:spPr>
      </p:sp>
      <p:sp>
        <p:nvSpPr>
          <p:cNvPr id="25" name="Text 22"/>
          <p:cNvSpPr/>
          <p:nvPr/>
        </p:nvSpPr>
        <p:spPr>
          <a:xfrm>
            <a:off x="571500" y="4893469"/>
            <a:ext cx="5715000" cy="850106"/>
          </a:xfrm>
          <a:prstGeom prst="rect">
            <a:avLst/>
          </a:prstGeom>
          <a:noFill/>
          <a:ln/>
        </p:spPr>
        <p:txBody>
          <a:bodyPr wrap="square" lIns="170053" tIns="170053" rIns="170053" bIns="170053" rtlCol="0" anchor="t">
            <a:spAutoFit/>
          </a:bodyPr>
          <a:lstStyle/>
          <a:p>
            <a:pPr algn="l" indent="0" marL="0">
              <a:buNone/>
            </a:pPr>
            <a:r>
              <a:rPr lang="en-US" sz="1100" b="1" dirty="0">
                <a:solidFill>
                  <a:srgbClr val="059669"/>
                </a:solidFill>
                <a:latin typeface="Helvetica Neue" pitchFamily="34" charset="0"/>
                <a:ea typeface="Helvetica Neue" pitchFamily="34" charset="-122"/>
                <a:cs typeface="Helvetica Neue" pitchFamily="34" charset="-120"/>
              </a:rPr>
              <a:t>This comprehensive journey showcases CitizenOS as an intelligent government navigator, combining multilingual conversation, document intelligence, and personalized execution.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2136372" cy="685800"/>
          </a:xfrm>
          <a:prstGeom prst="rect">
            <a:avLst/>
          </a:prstGeom>
          <a:noFill/>
          <a:ln/>
        </p:spPr>
        <p:txBody>
          <a:bodyPr wrap="square" lIns="0" tIns="0" rIns="0" bIns="0" rtlCol="0" anchor="t">
            <a:spAutoFit/>
          </a:bodyPr>
          <a:lstStyle/>
          <a:p>
            <a:pPr algn="l" indent="0" marL="0">
              <a:lnSpc>
                <a:spcPct val="96000"/>
              </a:lnSpc>
              <a:buNone/>
            </a:pPr>
            <a:r>
              <a:rPr lang="en-US" sz="2000" b="1" spc="-1" kern="0" dirty="0">
                <a:solidFill>
                  <a:srgbClr val="0F172A"/>
                </a:solidFill>
                <a:latin typeface="Courier New" pitchFamily="34" charset="0"/>
                <a:ea typeface="Courier New" pitchFamily="34" charset="-122"/>
                <a:cs typeface="Courier New" pitchFamily="34" charset="-120"/>
              </a:rPr>
              <a:t>WHY CITIZENOS</a:t>
            </a:r>
            <a:r>
              <a:rPr lang="en-US" sz="2000" b="1" spc="-1" kern="0" dirty="0">
                <a:solidFill>
                  <a:srgbClr val="0F172A"/>
                </a:solidFill>
                <a:latin typeface="Courier New" pitchFamily="34" charset="0"/>
                <a:ea typeface="Courier New" pitchFamily="34" charset="-122"/>
                <a:cs typeface="Courier New" pitchFamily="34" charset="-120"/>
              </a:rPr>
              <a:t>
</a:t>
            </a:r>
            <a:r>
              <a:rPr lang="en-US" sz="2000" b="1" spc="-1" kern="0" dirty="0">
                <a:solidFill>
                  <a:srgbClr val="0F172A"/>
                </a:solidFill>
                <a:latin typeface="Courier New" pitchFamily="34" charset="0"/>
                <a:ea typeface="Courier New" pitchFamily="34" charset="-122"/>
                <a:cs typeface="Courier New" pitchFamily="34" charset="-120"/>
              </a:rPr>
              <a:t>IS DIFFERENT</a:t>
            </a:r>
            <a:endParaRPr lang="en-US" sz="2000" dirty="0"/>
          </a:p>
        </p:txBody>
      </p:sp>
      <p:sp>
        <p:nvSpPr>
          <p:cNvPr id="4" name="Shape 1"/>
          <p:cNvSpPr/>
          <p:nvPr/>
        </p:nvSpPr>
        <p:spPr>
          <a:xfrm>
            <a:off x="575072" y="1289447"/>
            <a:ext cx="1998464" cy="757238"/>
          </a:xfrm>
          <a:prstGeom prst="rect">
            <a:avLst/>
          </a:prstGeom>
          <a:solidFill>
            <a:srgbClr val="0F172A"/>
          </a:solidFill>
          <a:ln w="9144">
            <a:solidFill>
              <a:srgbClr val="334155"/>
            </a:solidFill>
            <a:prstDash val="solid"/>
          </a:ln>
        </p:spPr>
      </p:sp>
      <p:sp>
        <p:nvSpPr>
          <p:cNvPr id="5" name="Text 2"/>
          <p:cNvSpPr/>
          <p:nvPr/>
        </p:nvSpPr>
        <p:spPr>
          <a:xfrm>
            <a:off x="575072" y="1289447"/>
            <a:ext cx="1998464" cy="757238"/>
          </a:xfrm>
          <a:prstGeom prst="rect">
            <a:avLst/>
          </a:prstGeom>
          <a:noFill/>
          <a:ln/>
        </p:spPr>
        <p:txBody>
          <a:bodyPr wrap="square" lIns="170053" tIns="127508" rIns="170053" bIns="127508" rtlCol="0" anchor="ctr">
            <a:spAutoFit/>
          </a:bodyP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CAPABILITY</a:t>
            </a:r>
            <a:endParaRPr lang="en-US" sz="1100" dirty="0"/>
          </a:p>
        </p:txBody>
      </p:sp>
      <p:sp>
        <p:nvSpPr>
          <p:cNvPr id="6" name="Shape 3"/>
          <p:cNvSpPr/>
          <p:nvPr/>
        </p:nvSpPr>
        <p:spPr>
          <a:xfrm>
            <a:off x="2573536" y="1289447"/>
            <a:ext cx="2797839" cy="757238"/>
          </a:xfrm>
          <a:prstGeom prst="rect">
            <a:avLst/>
          </a:prstGeom>
          <a:solidFill>
            <a:srgbClr val="334155"/>
          </a:solidFill>
          <a:ln w="9144">
            <a:solidFill>
              <a:srgbClr val="334155"/>
            </a:solidFill>
            <a:prstDash val="solid"/>
          </a:ln>
        </p:spPr>
      </p:sp>
      <p:sp>
        <p:nvSpPr>
          <p:cNvPr id="7" name="Text 4"/>
          <p:cNvSpPr/>
          <p:nvPr/>
        </p:nvSpPr>
        <p:spPr>
          <a:xfrm>
            <a:off x="2716411" y="1396603"/>
            <a:ext cx="1697645" cy="178594"/>
          </a:xfrm>
          <a:prstGeom prst="rect">
            <a:avLst/>
          </a:prstGeom>
          <a:noFill/>
          <a:ln/>
        </p:spPr>
        <p:txBody>
          <a:bodyPr wrap="square" lIns="0" tIns="0" rIns="0" bIns="0" rtlCol="0" anchor="t">
            <a:spAutoFit/>
          </a:bodyP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EXISTING SOLUTIONS</a:t>
            </a:r>
            <a:endParaRPr lang="en-US" sz="1100" dirty="0"/>
          </a:p>
        </p:txBody>
      </p:sp>
      <p:sp>
        <p:nvSpPr>
          <p:cNvPr id="8" name="Text 5"/>
          <p:cNvSpPr/>
          <p:nvPr/>
        </p:nvSpPr>
        <p:spPr>
          <a:xfrm>
            <a:off x="2716411" y="1575197"/>
            <a:ext cx="1791965" cy="357188"/>
          </a:xfrm>
          <a:prstGeom prst="rect">
            <a:avLst/>
          </a:prstGeom>
          <a:noFill/>
          <a:ln/>
        </p:spPr>
        <p:txBody>
          <a:bodyPr wrap="square" lIns="0" tIns="0" rIns="0" bIns="0" rtlCol="0" anchor="t">
            <a:spAutoFit/>
          </a:bodyP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(MYSCHEME / UMANG / BHASHINI)</a:t>
            </a:r>
            <a:endParaRPr lang="en-US" sz="1100" dirty="0"/>
          </a:p>
        </p:txBody>
      </p:sp>
      <p:sp>
        <p:nvSpPr>
          <p:cNvPr id="9" name="Shape 6"/>
          <p:cNvSpPr/>
          <p:nvPr/>
        </p:nvSpPr>
        <p:spPr>
          <a:xfrm>
            <a:off x="5371374" y="1289447"/>
            <a:ext cx="3197554" cy="753666"/>
          </a:xfrm>
          <a:prstGeom prst="rect">
            <a:avLst/>
          </a:prstGeom>
          <a:solidFill>
            <a:srgbClr val="059669"/>
          </a:solidFill>
          <a:ln w="9144">
            <a:solidFill>
              <a:srgbClr val="334155"/>
            </a:solidFill>
            <a:prstDash val="solid"/>
          </a:ln>
        </p:spPr>
      </p:sp>
      <p:sp>
        <p:nvSpPr>
          <p:cNvPr id="10" name="Text 7"/>
          <p:cNvSpPr/>
          <p:nvPr/>
        </p:nvSpPr>
        <p:spPr>
          <a:xfrm>
            <a:off x="5371374" y="1289447"/>
            <a:ext cx="3197554" cy="753666"/>
          </a:xfrm>
          <a:prstGeom prst="rect">
            <a:avLst/>
          </a:prstGeom>
          <a:noFill/>
          <a:ln/>
        </p:spPr>
        <p:txBody>
          <a:bodyPr wrap="square" lIns="170053" tIns="127508" rIns="170053" bIns="127508" rtlCol="0" anchor="ctr">
            <a:spAutoFit/>
          </a:bodyP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CITIZENOS PLATFORM</a:t>
            </a:r>
            <a:endParaRPr lang="en-US" sz="1100" dirty="0"/>
          </a:p>
        </p:txBody>
      </p:sp>
      <p:sp>
        <p:nvSpPr>
          <p:cNvPr id="11" name="Shape 8"/>
          <p:cNvSpPr/>
          <p:nvPr/>
        </p:nvSpPr>
        <p:spPr>
          <a:xfrm>
            <a:off x="575072" y="2039541"/>
            <a:ext cx="1998464" cy="650081"/>
          </a:xfrm>
          <a:prstGeom prst="rect">
            <a:avLst/>
          </a:prstGeom>
          <a:solidFill>
            <a:srgbClr val="FFFFFF"/>
          </a:solidFill>
          <a:ln w="9144">
            <a:solidFill>
              <a:srgbClr val="334155"/>
            </a:solidFill>
            <a:prstDash val="solid"/>
          </a:ln>
        </p:spPr>
      </p:sp>
      <p:sp>
        <p:nvSpPr>
          <p:cNvPr id="12" name="Text 9"/>
          <p:cNvSpPr/>
          <p:nvPr/>
        </p:nvSpPr>
        <p:spPr>
          <a:xfrm>
            <a:off x="575072" y="2039541"/>
            <a:ext cx="1998464"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Core Approach</a:t>
            </a:r>
            <a:endParaRPr lang="en-US" sz="1050" dirty="0"/>
          </a:p>
        </p:txBody>
      </p:sp>
      <p:sp>
        <p:nvSpPr>
          <p:cNvPr id="13" name="Shape 10"/>
          <p:cNvSpPr/>
          <p:nvPr/>
        </p:nvSpPr>
        <p:spPr>
          <a:xfrm>
            <a:off x="2573536" y="2039541"/>
            <a:ext cx="2797839" cy="650081"/>
          </a:xfrm>
          <a:prstGeom prst="rect">
            <a:avLst/>
          </a:prstGeom>
          <a:solidFill>
            <a:srgbClr val="F1F5F9"/>
          </a:solidFill>
          <a:ln w="9144">
            <a:solidFill>
              <a:srgbClr val="334155"/>
            </a:solidFill>
            <a:prstDash val="solid"/>
          </a:ln>
        </p:spPr>
      </p:sp>
      <p:sp>
        <p:nvSpPr>
          <p:cNvPr id="14" name="Text 11"/>
          <p:cNvSpPr/>
          <p:nvPr/>
        </p:nvSpPr>
        <p:spPr>
          <a:xfrm>
            <a:off x="2573536" y="2039541"/>
            <a:ext cx="2797839"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Passive information repositories and filter-based search.</a:t>
            </a:r>
            <a:endParaRPr lang="en-US" sz="1050" dirty="0"/>
          </a:p>
        </p:txBody>
      </p:sp>
      <p:sp>
        <p:nvSpPr>
          <p:cNvPr id="15" name="Shape 12"/>
          <p:cNvSpPr/>
          <p:nvPr/>
        </p:nvSpPr>
        <p:spPr>
          <a:xfrm>
            <a:off x="5371374" y="2035969"/>
            <a:ext cx="3197554" cy="650081"/>
          </a:xfrm>
          <a:prstGeom prst="rect">
            <a:avLst/>
          </a:prstGeom>
          <a:solidFill>
            <a:srgbClr val="ECFDF5"/>
          </a:solidFill>
          <a:ln w="9144">
            <a:solidFill>
              <a:srgbClr val="334155"/>
            </a:solidFill>
            <a:prstDash val="solid"/>
          </a:ln>
        </p:spPr>
      </p:sp>
      <p:sp>
        <p:nvSpPr>
          <p:cNvPr id="16" name="Text 13"/>
          <p:cNvSpPr/>
          <p:nvPr/>
        </p:nvSpPr>
        <p:spPr>
          <a:xfrm>
            <a:off x="5371374" y="2035969"/>
            <a:ext cx="3197554"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Active AI navigator that executes the full citizen journey.</a:t>
            </a:r>
            <a:endParaRPr lang="en-US" sz="1050" dirty="0"/>
          </a:p>
        </p:txBody>
      </p:sp>
      <p:sp>
        <p:nvSpPr>
          <p:cNvPr id="17" name="Shape 14"/>
          <p:cNvSpPr/>
          <p:nvPr/>
        </p:nvSpPr>
        <p:spPr>
          <a:xfrm>
            <a:off x="575072" y="2682478"/>
            <a:ext cx="1998464" cy="650081"/>
          </a:xfrm>
          <a:prstGeom prst="rect">
            <a:avLst/>
          </a:prstGeom>
          <a:solidFill>
            <a:srgbClr val="FFFFFF"/>
          </a:solidFill>
          <a:ln w="9144">
            <a:solidFill>
              <a:srgbClr val="334155"/>
            </a:solidFill>
            <a:prstDash val="solid"/>
          </a:ln>
        </p:spPr>
      </p:sp>
      <p:sp>
        <p:nvSpPr>
          <p:cNvPr id="18" name="Text 15"/>
          <p:cNvSpPr/>
          <p:nvPr/>
        </p:nvSpPr>
        <p:spPr>
          <a:xfrm>
            <a:off x="575072" y="2682478"/>
            <a:ext cx="1998464"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Eligibility Check</a:t>
            </a:r>
            <a:endParaRPr lang="en-US" sz="1050" dirty="0"/>
          </a:p>
        </p:txBody>
      </p:sp>
      <p:sp>
        <p:nvSpPr>
          <p:cNvPr id="19" name="Shape 16"/>
          <p:cNvSpPr/>
          <p:nvPr/>
        </p:nvSpPr>
        <p:spPr>
          <a:xfrm>
            <a:off x="2573536" y="2682478"/>
            <a:ext cx="2797839" cy="650081"/>
          </a:xfrm>
          <a:prstGeom prst="rect">
            <a:avLst/>
          </a:prstGeom>
          <a:solidFill>
            <a:srgbClr val="F1F5F9"/>
          </a:solidFill>
          <a:ln w="9144">
            <a:solidFill>
              <a:srgbClr val="334155"/>
            </a:solidFill>
            <a:prstDash val="solid"/>
          </a:ln>
        </p:spPr>
      </p:sp>
      <p:sp>
        <p:nvSpPr>
          <p:cNvPr id="20" name="Text 17"/>
          <p:cNvSpPr/>
          <p:nvPr/>
        </p:nvSpPr>
        <p:spPr>
          <a:xfrm>
            <a:off x="2573536" y="2682478"/>
            <a:ext cx="2797839"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Users must manually read criteria and guess their fit.</a:t>
            </a:r>
            <a:endParaRPr lang="en-US" sz="1050" dirty="0"/>
          </a:p>
        </p:txBody>
      </p:sp>
      <p:sp>
        <p:nvSpPr>
          <p:cNvPr id="21" name="Shape 18"/>
          <p:cNvSpPr/>
          <p:nvPr/>
        </p:nvSpPr>
        <p:spPr>
          <a:xfrm>
            <a:off x="5371374" y="2682478"/>
            <a:ext cx="3197554" cy="650081"/>
          </a:xfrm>
          <a:prstGeom prst="rect">
            <a:avLst/>
          </a:prstGeom>
          <a:solidFill>
            <a:srgbClr val="ECFDF5"/>
          </a:solidFill>
          <a:ln w="9144">
            <a:solidFill>
              <a:srgbClr val="334155"/>
            </a:solidFill>
            <a:prstDash val="solid"/>
          </a:ln>
        </p:spPr>
      </p:sp>
      <p:sp>
        <p:nvSpPr>
          <p:cNvPr id="22" name="Text 19"/>
          <p:cNvSpPr/>
          <p:nvPr/>
        </p:nvSpPr>
        <p:spPr>
          <a:xfrm>
            <a:off x="5371374" y="2682478"/>
            <a:ext cx="3197554"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Interactive scoring engine that interviews the citizen and matches against 2,000+ schemes.</a:t>
            </a:r>
            <a:endParaRPr lang="en-US" sz="1050" dirty="0"/>
          </a:p>
        </p:txBody>
      </p:sp>
      <p:sp>
        <p:nvSpPr>
          <p:cNvPr id="23" name="Shape 20"/>
          <p:cNvSpPr/>
          <p:nvPr/>
        </p:nvSpPr>
        <p:spPr>
          <a:xfrm>
            <a:off x="575072" y="3325416"/>
            <a:ext cx="1998464" cy="650081"/>
          </a:xfrm>
          <a:prstGeom prst="rect">
            <a:avLst/>
          </a:prstGeom>
          <a:solidFill>
            <a:srgbClr val="FFFFFF"/>
          </a:solidFill>
          <a:ln w="9144">
            <a:solidFill>
              <a:srgbClr val="334155"/>
            </a:solidFill>
            <a:prstDash val="solid"/>
          </a:ln>
        </p:spPr>
      </p:sp>
      <p:sp>
        <p:nvSpPr>
          <p:cNvPr id="24" name="Text 21"/>
          <p:cNvSpPr/>
          <p:nvPr/>
        </p:nvSpPr>
        <p:spPr>
          <a:xfrm>
            <a:off x="575072" y="3325416"/>
            <a:ext cx="1998464"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Document Handling</a:t>
            </a:r>
            <a:endParaRPr lang="en-US" sz="1050" dirty="0"/>
          </a:p>
        </p:txBody>
      </p:sp>
      <p:sp>
        <p:nvSpPr>
          <p:cNvPr id="25" name="Shape 22"/>
          <p:cNvSpPr/>
          <p:nvPr/>
        </p:nvSpPr>
        <p:spPr>
          <a:xfrm>
            <a:off x="2573536" y="3325416"/>
            <a:ext cx="2797839" cy="650081"/>
          </a:xfrm>
          <a:prstGeom prst="rect">
            <a:avLst/>
          </a:prstGeom>
          <a:solidFill>
            <a:srgbClr val="F1F5F9"/>
          </a:solidFill>
          <a:ln w="9144">
            <a:solidFill>
              <a:srgbClr val="334155"/>
            </a:solidFill>
            <a:prstDash val="solid"/>
          </a:ln>
        </p:spPr>
      </p:sp>
      <p:sp>
        <p:nvSpPr>
          <p:cNvPr id="26" name="Text 23"/>
          <p:cNvSpPr/>
          <p:nvPr/>
        </p:nvSpPr>
        <p:spPr>
          <a:xfrm>
            <a:off x="2573536" y="3325416"/>
            <a:ext cx="2797839"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Manual upload of PDFs; no validation of format or expiry.</a:t>
            </a:r>
            <a:endParaRPr lang="en-US" sz="1050" dirty="0"/>
          </a:p>
        </p:txBody>
      </p:sp>
      <p:sp>
        <p:nvSpPr>
          <p:cNvPr id="27" name="Shape 24"/>
          <p:cNvSpPr/>
          <p:nvPr/>
        </p:nvSpPr>
        <p:spPr>
          <a:xfrm>
            <a:off x="5371374" y="3325416"/>
            <a:ext cx="3197554" cy="650081"/>
          </a:xfrm>
          <a:prstGeom prst="rect">
            <a:avLst/>
          </a:prstGeom>
          <a:solidFill>
            <a:srgbClr val="ECFDF5"/>
          </a:solidFill>
          <a:ln w="9144">
            <a:solidFill>
              <a:srgbClr val="334155"/>
            </a:solidFill>
            <a:prstDash val="solid"/>
          </a:ln>
        </p:spPr>
      </p:sp>
      <p:sp>
        <p:nvSpPr>
          <p:cNvPr id="28" name="Text 25"/>
          <p:cNvSpPr/>
          <p:nvPr/>
        </p:nvSpPr>
        <p:spPr>
          <a:xfrm>
            <a:off x="5371374" y="3325416"/>
            <a:ext cx="3197554"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PaddleOCR extracts data, validates formats, and flags missing documents.</a:t>
            </a:r>
            <a:endParaRPr lang="en-US" sz="1050" dirty="0"/>
          </a:p>
        </p:txBody>
      </p:sp>
      <p:sp>
        <p:nvSpPr>
          <p:cNvPr id="29" name="Shape 26"/>
          <p:cNvSpPr/>
          <p:nvPr/>
        </p:nvSpPr>
        <p:spPr>
          <a:xfrm>
            <a:off x="575072" y="3968353"/>
            <a:ext cx="1998464" cy="650081"/>
          </a:xfrm>
          <a:prstGeom prst="rect">
            <a:avLst/>
          </a:prstGeom>
          <a:solidFill>
            <a:srgbClr val="FFFFFF"/>
          </a:solidFill>
          <a:ln w="9144">
            <a:solidFill>
              <a:srgbClr val="334155"/>
            </a:solidFill>
            <a:prstDash val="solid"/>
          </a:ln>
        </p:spPr>
      </p:sp>
      <p:sp>
        <p:nvSpPr>
          <p:cNvPr id="30" name="Text 27"/>
          <p:cNvSpPr/>
          <p:nvPr/>
        </p:nvSpPr>
        <p:spPr>
          <a:xfrm>
            <a:off x="575072" y="3968353"/>
            <a:ext cx="1998464"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Language &amp; Accessibility</a:t>
            </a:r>
            <a:endParaRPr lang="en-US" sz="1050" dirty="0"/>
          </a:p>
        </p:txBody>
      </p:sp>
      <p:sp>
        <p:nvSpPr>
          <p:cNvPr id="31" name="Shape 28"/>
          <p:cNvSpPr/>
          <p:nvPr/>
        </p:nvSpPr>
        <p:spPr>
          <a:xfrm>
            <a:off x="2573536" y="3968353"/>
            <a:ext cx="2797839" cy="650081"/>
          </a:xfrm>
          <a:prstGeom prst="rect">
            <a:avLst/>
          </a:prstGeom>
          <a:solidFill>
            <a:srgbClr val="F1F5F9"/>
          </a:solidFill>
          <a:ln w="9144">
            <a:solidFill>
              <a:srgbClr val="334155"/>
            </a:solidFill>
            <a:prstDash val="solid"/>
          </a:ln>
        </p:spPr>
      </p:sp>
      <p:sp>
        <p:nvSpPr>
          <p:cNvPr id="32" name="Text 29"/>
          <p:cNvSpPr/>
          <p:nvPr/>
        </p:nvSpPr>
        <p:spPr>
          <a:xfrm>
            <a:off x="2573536" y="3968353"/>
            <a:ext cx="2797839"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Primarily text-based, heavily reliant on English or standard Hindi.</a:t>
            </a:r>
            <a:endParaRPr lang="en-US" sz="1050" dirty="0"/>
          </a:p>
        </p:txBody>
      </p:sp>
      <p:sp>
        <p:nvSpPr>
          <p:cNvPr id="33" name="Shape 30"/>
          <p:cNvSpPr/>
          <p:nvPr/>
        </p:nvSpPr>
        <p:spPr>
          <a:xfrm>
            <a:off x="5371374" y="3968353"/>
            <a:ext cx="3197554" cy="650081"/>
          </a:xfrm>
          <a:prstGeom prst="rect">
            <a:avLst/>
          </a:prstGeom>
          <a:solidFill>
            <a:srgbClr val="ECFDF5"/>
          </a:solidFill>
          <a:ln w="9144">
            <a:solidFill>
              <a:srgbClr val="334155"/>
            </a:solidFill>
            <a:prstDash val="solid"/>
          </a:ln>
        </p:spPr>
      </p:sp>
      <p:sp>
        <p:nvSpPr>
          <p:cNvPr id="34" name="Text 31"/>
          <p:cNvSpPr/>
          <p:nvPr/>
        </p:nvSpPr>
        <p:spPr>
          <a:xfrm>
            <a:off x="5371374" y="3968353"/>
            <a:ext cx="3197554"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12+ regional languages with full voice interaction (ASR/TTS) and offline mode.</a:t>
            </a:r>
            <a:endParaRPr lang="en-US" sz="1050" dirty="0"/>
          </a:p>
        </p:txBody>
      </p:sp>
      <p:sp>
        <p:nvSpPr>
          <p:cNvPr id="35" name="Shape 32"/>
          <p:cNvSpPr/>
          <p:nvPr/>
        </p:nvSpPr>
        <p:spPr>
          <a:xfrm>
            <a:off x="575072" y="4611291"/>
            <a:ext cx="1998464" cy="650081"/>
          </a:xfrm>
          <a:prstGeom prst="rect">
            <a:avLst/>
          </a:prstGeom>
          <a:solidFill>
            <a:srgbClr val="FFFFFF"/>
          </a:solidFill>
          <a:ln w="9144">
            <a:solidFill>
              <a:srgbClr val="334155"/>
            </a:solidFill>
            <a:prstDash val="solid"/>
          </a:ln>
        </p:spPr>
      </p:sp>
      <p:sp>
        <p:nvSpPr>
          <p:cNvPr id="36" name="Text 33"/>
          <p:cNvSpPr/>
          <p:nvPr/>
        </p:nvSpPr>
        <p:spPr>
          <a:xfrm>
            <a:off x="575072" y="4611291"/>
            <a:ext cx="1998464"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Application Roadmap</a:t>
            </a:r>
            <a:endParaRPr lang="en-US" sz="1050" dirty="0"/>
          </a:p>
        </p:txBody>
      </p:sp>
      <p:sp>
        <p:nvSpPr>
          <p:cNvPr id="37" name="Shape 34"/>
          <p:cNvSpPr/>
          <p:nvPr/>
        </p:nvSpPr>
        <p:spPr>
          <a:xfrm>
            <a:off x="2573536" y="4611291"/>
            <a:ext cx="2797839" cy="650081"/>
          </a:xfrm>
          <a:prstGeom prst="rect">
            <a:avLst/>
          </a:prstGeom>
          <a:solidFill>
            <a:srgbClr val="F1F5F9"/>
          </a:solidFill>
          <a:ln w="9144">
            <a:solidFill>
              <a:srgbClr val="334155"/>
            </a:solidFill>
            <a:prstDash val="solid"/>
          </a:ln>
        </p:spPr>
      </p:sp>
      <p:sp>
        <p:nvSpPr>
          <p:cNvPr id="38" name="Text 35"/>
          <p:cNvSpPr/>
          <p:nvPr/>
        </p:nvSpPr>
        <p:spPr>
          <a:xfrm>
            <a:off x="2573536" y="4611291"/>
            <a:ext cx="2797839"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Provides a simple "Apply Here" link to an external portal.</a:t>
            </a:r>
            <a:endParaRPr lang="en-US" sz="1050" dirty="0"/>
          </a:p>
        </p:txBody>
      </p:sp>
      <p:sp>
        <p:nvSpPr>
          <p:cNvPr id="39" name="Shape 36"/>
          <p:cNvSpPr/>
          <p:nvPr/>
        </p:nvSpPr>
        <p:spPr>
          <a:xfrm>
            <a:off x="5371374" y="4611291"/>
            <a:ext cx="3197554" cy="650081"/>
          </a:xfrm>
          <a:prstGeom prst="rect">
            <a:avLst/>
          </a:prstGeom>
          <a:solidFill>
            <a:srgbClr val="ECFDF5"/>
          </a:solidFill>
          <a:ln w="9144">
            <a:solidFill>
              <a:srgbClr val="334155"/>
            </a:solidFill>
            <a:prstDash val="solid"/>
          </a:ln>
        </p:spPr>
      </p:sp>
      <p:sp>
        <p:nvSpPr>
          <p:cNvPr id="40" name="Text 37"/>
          <p:cNvSpPr/>
          <p:nvPr/>
        </p:nvSpPr>
        <p:spPr>
          <a:xfrm>
            <a:off x="5371374" y="4611291"/>
            <a:ext cx="3197554"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Generates step-by-step execution plans and locates the nearest CSC.</a:t>
            </a:r>
            <a:endParaRPr lang="en-US" sz="1050" dirty="0"/>
          </a:p>
        </p:txBody>
      </p:sp>
      <p:sp>
        <p:nvSpPr>
          <p:cNvPr id="41" name="Shape 38"/>
          <p:cNvSpPr/>
          <p:nvPr/>
        </p:nvSpPr>
        <p:spPr>
          <a:xfrm>
            <a:off x="575072" y="5254228"/>
            <a:ext cx="1998464" cy="650081"/>
          </a:xfrm>
          <a:prstGeom prst="rect">
            <a:avLst/>
          </a:prstGeom>
          <a:solidFill>
            <a:srgbClr val="FFFFFF"/>
          </a:solidFill>
          <a:ln w="9144">
            <a:solidFill>
              <a:srgbClr val="334155"/>
            </a:solidFill>
            <a:prstDash val="solid"/>
          </a:ln>
        </p:spPr>
      </p:sp>
      <p:sp>
        <p:nvSpPr>
          <p:cNvPr id="42" name="Text 39"/>
          <p:cNvSpPr/>
          <p:nvPr/>
        </p:nvSpPr>
        <p:spPr>
          <a:xfrm>
            <a:off x="575072" y="5254228"/>
            <a:ext cx="1998464"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Security</a:t>
            </a:r>
            <a:endParaRPr lang="en-US" sz="1050" dirty="0"/>
          </a:p>
        </p:txBody>
      </p:sp>
      <p:sp>
        <p:nvSpPr>
          <p:cNvPr id="43" name="Shape 40"/>
          <p:cNvSpPr/>
          <p:nvPr/>
        </p:nvSpPr>
        <p:spPr>
          <a:xfrm>
            <a:off x="2570857" y="5254228"/>
            <a:ext cx="2799066" cy="650081"/>
          </a:xfrm>
          <a:prstGeom prst="rect">
            <a:avLst/>
          </a:prstGeom>
          <a:solidFill>
            <a:srgbClr val="F1F5F9"/>
          </a:solidFill>
          <a:ln w="9144">
            <a:solidFill>
              <a:srgbClr val="334155"/>
            </a:solidFill>
            <a:prstDash val="solid"/>
          </a:ln>
        </p:spPr>
      </p:sp>
      <p:sp>
        <p:nvSpPr>
          <p:cNvPr id="44" name="Text 41"/>
          <p:cNvSpPr/>
          <p:nvPr/>
        </p:nvSpPr>
        <p:spPr>
          <a:xfrm>
            <a:off x="2570857" y="5254228"/>
            <a:ext cx="2799066"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No built-in protection against fake portals.</a:t>
            </a:r>
            <a:endParaRPr lang="en-US" sz="1050" dirty="0"/>
          </a:p>
        </p:txBody>
      </p:sp>
      <p:sp>
        <p:nvSpPr>
          <p:cNvPr id="45" name="Shape 42"/>
          <p:cNvSpPr/>
          <p:nvPr/>
        </p:nvSpPr>
        <p:spPr>
          <a:xfrm>
            <a:off x="5369923" y="5254228"/>
            <a:ext cx="3199005" cy="650081"/>
          </a:xfrm>
          <a:prstGeom prst="rect">
            <a:avLst/>
          </a:prstGeom>
          <a:solidFill>
            <a:srgbClr val="ECFDF5"/>
          </a:solidFill>
          <a:ln w="9144">
            <a:solidFill>
              <a:srgbClr val="334155"/>
            </a:solidFill>
            <a:prstDash val="solid"/>
          </a:ln>
        </p:spPr>
      </p:sp>
      <p:sp>
        <p:nvSpPr>
          <p:cNvPr id="46" name="Text 43"/>
          <p:cNvSpPr/>
          <p:nvPr/>
        </p:nvSpPr>
        <p:spPr>
          <a:xfrm>
            <a:off x="5369923" y="5254228"/>
            <a:ext cx="3199005" cy="650081"/>
          </a:xfrm>
          <a:prstGeom prst="rect">
            <a:avLst/>
          </a:prstGeom>
          <a:noFill/>
          <a:ln/>
        </p:spPr>
        <p:txBody>
          <a:bodyPr wrap="square" lIns="170053" tIns="127508" rIns="170053" bIns="127508" rtlCol="0" anchor="ctr">
            <a:spAutoFit/>
          </a:bodyPr>
          <a:lstStyle/>
          <a:p>
            <a:pPr algn="l" indent="0" marL="0">
              <a:lnSpc>
                <a:spcPct val="120000"/>
              </a:lnSpc>
              <a:buNone/>
            </a:pPr>
            <a:r>
              <a:rPr lang="en-US" sz="1050" dirty="0">
                <a:solidFill>
                  <a:srgbClr val="334155"/>
                </a:solidFill>
                <a:latin typeface="Helvetica Neue" pitchFamily="34" charset="0"/>
                <a:ea typeface="Helvetica Neue" pitchFamily="34" charset="-122"/>
                <a:cs typeface="Helvetica Neue" pitchFamily="34" charset="-120"/>
              </a:rPr>
              <a:t>Integrated Scam Detector verifies URLs to protect against phishing.</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1972010" cy="685800"/>
          </a:xfrm>
          <a:prstGeom prst="rect">
            <a:avLst/>
          </a:prstGeom>
          <a:noFill/>
          <a:ln/>
        </p:spPr>
        <p:txBody>
          <a:bodyPr wrap="square" lIns="0" tIns="0" rIns="0" bIns="0" rtlCol="0" anchor="t">
            <a:spAutoFit/>
          </a:bodyPr>
          <a:lstStyle/>
          <a:p>
            <a:pPr algn="l" indent="0" marL="0">
              <a:lnSpc>
                <a:spcPct val="96000"/>
              </a:lnSpc>
              <a:buNone/>
            </a:pPr>
            <a:r>
              <a:rPr lang="en-US" sz="2000" b="1" spc="-1" kern="0" dirty="0">
                <a:solidFill>
                  <a:srgbClr val="0F172A"/>
                </a:solidFill>
                <a:latin typeface="Courier New" pitchFamily="34" charset="0"/>
                <a:ea typeface="Courier New" pitchFamily="34" charset="-122"/>
                <a:cs typeface="Courier New" pitchFamily="34" charset="-120"/>
              </a:rPr>
              <a:t>TECH STACK &amp;</a:t>
            </a:r>
            <a:r>
              <a:rPr lang="en-US" sz="2000" b="1" spc="-1" kern="0" dirty="0">
                <a:solidFill>
                  <a:srgbClr val="0F172A"/>
                </a:solidFill>
                <a:latin typeface="Courier New" pitchFamily="34" charset="0"/>
                <a:ea typeface="Courier New" pitchFamily="34" charset="-122"/>
                <a:cs typeface="Courier New" pitchFamily="34" charset="-120"/>
              </a:rPr>
              <a:t>
</a:t>
            </a:r>
            <a:r>
              <a:rPr lang="en-US" sz="2000" b="1" spc="-1" kern="0" dirty="0">
                <a:solidFill>
                  <a:srgbClr val="0F172A"/>
                </a:solidFill>
                <a:latin typeface="Courier New" pitchFamily="34" charset="0"/>
                <a:ea typeface="Courier New" pitchFamily="34" charset="-122"/>
                <a:cs typeface="Courier New" pitchFamily="34" charset="-120"/>
              </a:rPr>
              <a:t>ARCHITECTURE</a:t>
            </a:r>
            <a:endParaRPr lang="en-US" sz="2000" dirty="0"/>
          </a:p>
        </p:txBody>
      </p:sp>
      <p:sp>
        <p:nvSpPr>
          <p:cNvPr id="4" name="Shape 1"/>
          <p:cNvSpPr/>
          <p:nvPr/>
        </p:nvSpPr>
        <p:spPr>
          <a:xfrm>
            <a:off x="571500" y="1285875"/>
            <a:ext cx="3929063" cy="2528888"/>
          </a:xfrm>
          <a:prstGeom prst="rect">
            <a:avLst/>
          </a:prstGeom>
          <a:solidFill>
            <a:srgbClr val="FFFFFF"/>
          </a:solidFill>
          <a:ln w="9144">
            <a:solidFill>
              <a:srgbClr val="E2E8F0"/>
            </a:solidFill>
            <a:prstDash val="solid"/>
          </a:ln>
        </p:spPr>
      </p:sp>
      <p:sp>
        <p:nvSpPr>
          <p:cNvPr id="5" name="Text 2"/>
          <p:cNvSpPr/>
          <p:nvPr/>
        </p:nvSpPr>
        <p:spPr>
          <a:xfrm>
            <a:off x="714375" y="1428750"/>
            <a:ext cx="892578" cy="246459"/>
          </a:xfrm>
          <a:prstGeom prst="rect">
            <a:avLst/>
          </a:prstGeom>
          <a:noFill/>
          <a:ln/>
        </p:spPr>
        <p:txBody>
          <a:bodyPr wrap="none" lIns="0" tIns="0" rIns="0" bIns="42545" rtlCol="0" anchor="t">
            <a:spAutoFit/>
          </a:bodyPr>
          <a:lstStyle/>
          <a:p>
            <a:pPr algn="l" indent="0" marL="0">
              <a:buNone/>
            </a:pPr>
            <a:r>
              <a:rPr lang="en-US" sz="1200" b="1" dirty="0">
                <a:solidFill>
                  <a:srgbClr val="0F172A"/>
                </a:solidFill>
                <a:latin typeface="Helvetica Neue" pitchFamily="34" charset="0"/>
                <a:ea typeface="Helvetica Neue" pitchFamily="34" charset="-122"/>
                <a:cs typeface="Helvetica Neue" pitchFamily="34" charset="-120"/>
              </a:rPr>
              <a:t>Tech Stack</a:t>
            </a:r>
            <a:endParaRPr lang="en-US" sz="1200" dirty="0"/>
          </a:p>
        </p:txBody>
      </p:sp>
      <p:sp>
        <p:nvSpPr>
          <p:cNvPr id="6" name="Text 3"/>
          <p:cNvSpPr/>
          <p:nvPr/>
        </p:nvSpPr>
        <p:spPr>
          <a:xfrm>
            <a:off x="714375" y="1782366"/>
            <a:ext cx="1768078" cy="150019"/>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Helvetica Neue" pitchFamily="34" charset="0"/>
                <a:ea typeface="Helvetica Neue" pitchFamily="34" charset="-122"/>
                <a:cs typeface="Helvetica Neue" pitchFamily="34" charset="-120"/>
              </a:rPr>
              <a:t>Frontend</a:t>
            </a:r>
            <a:endParaRPr lang="en-US" sz="900" dirty="0"/>
          </a:p>
        </p:txBody>
      </p:sp>
      <p:sp>
        <p:nvSpPr>
          <p:cNvPr id="7" name="Text 4"/>
          <p:cNvSpPr/>
          <p:nvPr/>
        </p:nvSpPr>
        <p:spPr>
          <a:xfrm>
            <a:off x="714375" y="1932384"/>
            <a:ext cx="1768078" cy="300038"/>
          </a:xfrm>
          <a:prstGeom prst="rect">
            <a:avLst/>
          </a:prstGeom>
          <a:noFill/>
          <a:ln/>
        </p:spPr>
        <p:txBody>
          <a:bodyPr wrap="square" lIns="0" tIns="0" rIns="0" bIns="0" rtlCol="0" anchor="t">
            <a:spAutoFit/>
          </a:bodyPr>
          <a:lstStyle/>
          <a:p>
            <a:pPr algn="l" indent="0" marL="0">
              <a:buNone/>
            </a:pPr>
            <a:r>
              <a:rPr lang="en-US" sz="950" dirty="0">
                <a:solidFill>
                  <a:srgbClr val="334155"/>
                </a:solidFill>
                <a:latin typeface="Helvetica Neue" pitchFamily="34" charset="0"/>
                <a:ea typeface="Helvetica Neue" pitchFamily="34" charset="-122"/>
                <a:cs typeface="Helvetica Neue" pitchFamily="34" charset="-120"/>
              </a:rPr>
              <a:t>Next.js, TypeScript, Tailwind CSS, shadcn/ui</a:t>
            </a:r>
            <a:endParaRPr lang="en-US" sz="950" dirty="0"/>
          </a:p>
        </p:txBody>
      </p:sp>
      <p:sp>
        <p:nvSpPr>
          <p:cNvPr id="8" name="Text 5"/>
          <p:cNvSpPr/>
          <p:nvPr/>
        </p:nvSpPr>
        <p:spPr>
          <a:xfrm>
            <a:off x="2589609" y="1782366"/>
            <a:ext cx="1768078" cy="150019"/>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Helvetica Neue" pitchFamily="34" charset="0"/>
                <a:ea typeface="Helvetica Neue" pitchFamily="34" charset="-122"/>
                <a:cs typeface="Helvetica Neue" pitchFamily="34" charset="-120"/>
              </a:rPr>
              <a:t>Backend</a:t>
            </a:r>
            <a:endParaRPr lang="en-US" sz="900" dirty="0"/>
          </a:p>
        </p:txBody>
      </p:sp>
      <p:sp>
        <p:nvSpPr>
          <p:cNvPr id="9" name="Text 6"/>
          <p:cNvSpPr/>
          <p:nvPr/>
        </p:nvSpPr>
        <p:spPr>
          <a:xfrm>
            <a:off x="2589609" y="1932384"/>
            <a:ext cx="1768078" cy="150019"/>
          </a:xfrm>
          <a:prstGeom prst="rect">
            <a:avLst/>
          </a:prstGeom>
          <a:noFill/>
          <a:ln/>
        </p:spPr>
        <p:txBody>
          <a:bodyPr wrap="square" lIns="0" tIns="0" rIns="0" bIns="0" rtlCol="0" anchor="t">
            <a:spAutoFit/>
          </a:bodyPr>
          <a:lstStyle/>
          <a:p>
            <a:pPr algn="l" indent="0" marL="0">
              <a:buNone/>
            </a:pPr>
            <a:r>
              <a:rPr lang="en-US" sz="950" dirty="0">
                <a:solidFill>
                  <a:srgbClr val="334155"/>
                </a:solidFill>
                <a:latin typeface="Helvetica Neue" pitchFamily="34" charset="0"/>
                <a:ea typeface="Helvetica Neue" pitchFamily="34" charset="-122"/>
                <a:cs typeface="Helvetica Neue" pitchFamily="34" charset="-120"/>
              </a:rPr>
              <a:t>FastAPI (Python)</a:t>
            </a:r>
            <a:endParaRPr lang="en-US" sz="950" dirty="0"/>
          </a:p>
        </p:txBody>
      </p:sp>
      <p:sp>
        <p:nvSpPr>
          <p:cNvPr id="10" name="Text 7"/>
          <p:cNvSpPr/>
          <p:nvPr/>
        </p:nvSpPr>
        <p:spPr>
          <a:xfrm>
            <a:off x="714375" y="2339578"/>
            <a:ext cx="1768078" cy="150019"/>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Helvetica Neue" pitchFamily="34" charset="0"/>
                <a:ea typeface="Helvetica Neue" pitchFamily="34" charset="-122"/>
                <a:cs typeface="Helvetica Neue" pitchFamily="34" charset="-120"/>
              </a:rPr>
              <a:t>Database</a:t>
            </a:r>
            <a:endParaRPr lang="en-US" sz="900" dirty="0"/>
          </a:p>
        </p:txBody>
      </p:sp>
      <p:sp>
        <p:nvSpPr>
          <p:cNvPr id="11" name="Text 8"/>
          <p:cNvSpPr/>
          <p:nvPr/>
        </p:nvSpPr>
        <p:spPr>
          <a:xfrm>
            <a:off x="714375" y="2489597"/>
            <a:ext cx="1768078" cy="300038"/>
          </a:xfrm>
          <a:prstGeom prst="rect">
            <a:avLst/>
          </a:prstGeom>
          <a:noFill/>
          <a:ln/>
        </p:spPr>
        <p:txBody>
          <a:bodyPr wrap="square" lIns="0" tIns="0" rIns="0" bIns="0" rtlCol="0" anchor="t">
            <a:spAutoFit/>
          </a:bodyPr>
          <a:lstStyle/>
          <a:p>
            <a:pPr algn="l" indent="0" marL="0">
              <a:buNone/>
            </a:pPr>
            <a:r>
              <a:rPr lang="en-US" sz="950" dirty="0">
                <a:solidFill>
                  <a:srgbClr val="334155"/>
                </a:solidFill>
                <a:latin typeface="Helvetica Neue" pitchFamily="34" charset="0"/>
                <a:ea typeface="Helvetica Neue" pitchFamily="34" charset="-122"/>
                <a:cs typeface="Helvetica Neue" pitchFamily="34" charset="-120"/>
              </a:rPr>
              <a:t>PostgreSQL + Qdrant (Vector DB)</a:t>
            </a:r>
            <a:endParaRPr lang="en-US" sz="950" dirty="0"/>
          </a:p>
        </p:txBody>
      </p:sp>
      <p:sp>
        <p:nvSpPr>
          <p:cNvPr id="12" name="Text 9"/>
          <p:cNvSpPr/>
          <p:nvPr/>
        </p:nvSpPr>
        <p:spPr>
          <a:xfrm>
            <a:off x="2589609" y="2339578"/>
            <a:ext cx="1768078" cy="150019"/>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Helvetica Neue" pitchFamily="34" charset="0"/>
                <a:ea typeface="Helvetica Neue" pitchFamily="34" charset="-122"/>
                <a:cs typeface="Helvetica Neue" pitchFamily="34" charset="-120"/>
              </a:rPr>
              <a:t>Deployment</a:t>
            </a:r>
            <a:endParaRPr lang="en-US" sz="900" dirty="0"/>
          </a:p>
        </p:txBody>
      </p:sp>
      <p:sp>
        <p:nvSpPr>
          <p:cNvPr id="13" name="Text 10"/>
          <p:cNvSpPr/>
          <p:nvPr/>
        </p:nvSpPr>
        <p:spPr>
          <a:xfrm>
            <a:off x="2589609" y="2489597"/>
            <a:ext cx="1768078" cy="300038"/>
          </a:xfrm>
          <a:prstGeom prst="rect">
            <a:avLst/>
          </a:prstGeom>
          <a:noFill/>
          <a:ln/>
        </p:spPr>
        <p:txBody>
          <a:bodyPr wrap="square" lIns="0" tIns="0" rIns="0" bIns="0" rtlCol="0" anchor="t">
            <a:spAutoFit/>
          </a:bodyPr>
          <a:lstStyle/>
          <a:p>
            <a:pPr algn="l" indent="0" marL="0">
              <a:buNone/>
            </a:pPr>
            <a:r>
              <a:rPr lang="en-US" sz="950" dirty="0">
                <a:solidFill>
                  <a:srgbClr val="334155"/>
                </a:solidFill>
                <a:latin typeface="Helvetica Neue" pitchFamily="34" charset="0"/>
                <a:ea typeface="Helvetica Neue" pitchFamily="34" charset="-122"/>
                <a:cs typeface="Helvetica Neue" pitchFamily="34" charset="-120"/>
              </a:rPr>
              <a:t>Vercel, Railway/Render, Docker</a:t>
            </a:r>
            <a:endParaRPr lang="en-US" sz="950" dirty="0"/>
          </a:p>
        </p:txBody>
      </p:sp>
      <p:sp>
        <p:nvSpPr>
          <p:cNvPr id="14" name="Shape 11"/>
          <p:cNvSpPr/>
          <p:nvPr/>
        </p:nvSpPr>
        <p:spPr>
          <a:xfrm>
            <a:off x="4643438" y="1285875"/>
            <a:ext cx="3929063" cy="2528888"/>
          </a:xfrm>
          <a:prstGeom prst="rect">
            <a:avLst/>
          </a:prstGeom>
          <a:solidFill>
            <a:srgbClr val="FFFFFF"/>
          </a:solidFill>
          <a:ln w="9144">
            <a:solidFill>
              <a:srgbClr val="E2E8F0"/>
            </a:solidFill>
            <a:prstDash val="solid"/>
          </a:ln>
        </p:spPr>
      </p:sp>
      <p:sp>
        <p:nvSpPr>
          <p:cNvPr id="15" name="Text 12"/>
          <p:cNvSpPr/>
          <p:nvPr/>
        </p:nvSpPr>
        <p:spPr>
          <a:xfrm>
            <a:off x="4786313" y="1428750"/>
            <a:ext cx="1153046" cy="246459"/>
          </a:xfrm>
          <a:prstGeom prst="rect">
            <a:avLst/>
          </a:prstGeom>
          <a:noFill/>
          <a:ln/>
        </p:spPr>
        <p:txBody>
          <a:bodyPr wrap="none" lIns="0" tIns="0" rIns="0" bIns="42545" rtlCol="0" anchor="t">
            <a:spAutoFit/>
          </a:bodyPr>
          <a:lstStyle/>
          <a:p>
            <a:pPr algn="l" indent="0" marL="0">
              <a:buNone/>
            </a:pPr>
            <a:r>
              <a:rPr lang="en-US" sz="1200" b="1" dirty="0">
                <a:solidFill>
                  <a:srgbClr val="0F172A"/>
                </a:solidFill>
                <a:latin typeface="Helvetica Neue" pitchFamily="34" charset="0"/>
                <a:ea typeface="Helvetica Neue" pitchFamily="34" charset="-122"/>
                <a:cs typeface="Helvetica Neue" pitchFamily="34" charset="-120"/>
              </a:rPr>
              <a:t>APIs/Libraries</a:t>
            </a:r>
            <a:endParaRPr lang="en-US" sz="1200" dirty="0"/>
          </a:p>
        </p:txBody>
      </p:sp>
      <p:sp>
        <p:nvSpPr>
          <p:cNvPr id="16" name="Text 13"/>
          <p:cNvSpPr/>
          <p:nvPr/>
        </p:nvSpPr>
        <p:spPr>
          <a:xfrm>
            <a:off x="4786313" y="1782366"/>
            <a:ext cx="3643313" cy="321469"/>
          </a:xfrm>
          <a:prstGeom prst="rect">
            <a:avLst/>
          </a:prstGeom>
          <a:noFill/>
          <a:ln/>
        </p:spPr>
        <p:txBody>
          <a:bodyPr wrap="square" lIns="170053" tIns="0" rIns="0" bIns="0" rtlCol="0" anchor="t">
            <a:spAutoFit/>
          </a:bodyPr>
          <a:lstStyle/>
          <a:p>
            <a:pPr algn="l" indent="0" marL="0">
              <a:buNone/>
            </a:pPr>
            <a:r>
              <a:rPr lang="en-US" sz="1000" b="1" dirty="0">
                <a:solidFill>
                  <a:srgbClr val="334155"/>
                </a:solidFill>
                <a:latin typeface="Helvetica Neue" pitchFamily="34" charset="0"/>
                <a:ea typeface="Helvetica Neue" pitchFamily="34" charset="-122"/>
                <a:cs typeface="Helvetica Neue" pitchFamily="34" charset="-120"/>
              </a:rPr>
              <a:t>BHASHINI APIs</a:t>
            </a:r>
            <a:r>
              <a:rPr lang="en-US" sz="1050" dirty="0">
                <a:solidFill>
                  <a:srgbClr val="334155"/>
                </a:solidFill>
                <a:latin typeface="Helvetica Neue" pitchFamily="34" charset="0"/>
                <a:ea typeface="Helvetica Neue" pitchFamily="34" charset="-122"/>
                <a:cs typeface="Helvetica Neue" pitchFamily="34" charset="-120"/>
              </a:rPr>
              <a:t> (translation, speech recognition, synthesis)</a:t>
            </a:r>
            <a:endParaRPr lang="en-US" sz="1000" dirty="0"/>
          </a:p>
        </p:txBody>
      </p:sp>
      <p:sp>
        <p:nvSpPr>
          <p:cNvPr id="17" name="Text 14"/>
          <p:cNvSpPr/>
          <p:nvPr/>
        </p:nvSpPr>
        <p:spPr>
          <a:xfrm>
            <a:off x="4786313" y="2175272"/>
            <a:ext cx="3643313" cy="321469"/>
          </a:xfrm>
          <a:prstGeom prst="rect">
            <a:avLst/>
          </a:prstGeom>
          <a:noFill/>
          <a:ln/>
        </p:spPr>
        <p:txBody>
          <a:bodyPr wrap="square" lIns="170053" tIns="0" rIns="0" bIns="0" rtlCol="0" anchor="t">
            <a:spAutoFit/>
          </a:bodyPr>
          <a:lstStyle/>
          <a:p>
            <a:pPr algn="l" indent="0" marL="0">
              <a:buNone/>
            </a:pPr>
            <a:r>
              <a:rPr lang="en-US" sz="1000" b="1" dirty="0">
                <a:solidFill>
                  <a:srgbClr val="334155"/>
                </a:solidFill>
                <a:latin typeface="Helvetica Neue" pitchFamily="34" charset="0"/>
                <a:ea typeface="Helvetica Neue" pitchFamily="34" charset="-122"/>
                <a:cs typeface="Helvetica Neue" pitchFamily="34" charset="-120"/>
              </a:rPr>
              <a:t>PaddleOCR</a:t>
            </a:r>
            <a:r>
              <a:rPr lang="en-US" sz="1050" dirty="0">
                <a:solidFill>
                  <a:srgbClr val="334155"/>
                </a:solidFill>
                <a:latin typeface="Helvetica Neue" pitchFamily="34" charset="0"/>
                <a:ea typeface="Helvetica Neue" pitchFamily="34" charset="-122"/>
                <a:cs typeface="Helvetica Neue" pitchFamily="34" charset="-120"/>
              </a:rPr>
              <a:t> (document OCR - 96.3% accuracy, 80+ languages)</a:t>
            </a:r>
            <a:endParaRPr lang="en-US" sz="1000" dirty="0"/>
          </a:p>
        </p:txBody>
      </p:sp>
      <p:sp>
        <p:nvSpPr>
          <p:cNvPr id="18" name="Text 15"/>
          <p:cNvSpPr/>
          <p:nvPr/>
        </p:nvSpPr>
        <p:spPr>
          <a:xfrm>
            <a:off x="4786313" y="2568178"/>
            <a:ext cx="3643313" cy="160734"/>
          </a:xfrm>
          <a:prstGeom prst="rect">
            <a:avLst/>
          </a:prstGeom>
          <a:noFill/>
          <a:ln/>
        </p:spPr>
        <p:txBody>
          <a:bodyPr wrap="square" lIns="170053" tIns="0" rIns="0" bIns="0" rtlCol="0" anchor="t">
            <a:spAutoFit/>
          </a:bodyPr>
          <a:lstStyle/>
          <a:p>
            <a:pPr algn="l" indent="0" marL="0">
              <a:buNone/>
            </a:pPr>
            <a:r>
              <a:rPr lang="en-US" sz="1000" b="1" dirty="0">
                <a:solidFill>
                  <a:srgbClr val="334155"/>
                </a:solidFill>
                <a:latin typeface="Helvetica Neue" pitchFamily="34" charset="0"/>
                <a:ea typeface="Helvetica Neue" pitchFamily="34" charset="-122"/>
                <a:cs typeface="Helvetica Neue" pitchFamily="34" charset="-120"/>
              </a:rPr>
              <a:t>BGE-M3</a:t>
            </a:r>
            <a:r>
              <a:rPr lang="en-US" sz="1050" dirty="0">
                <a:solidFill>
                  <a:srgbClr val="334155"/>
                </a:solidFill>
                <a:latin typeface="Helvetica Neue" pitchFamily="34" charset="0"/>
                <a:ea typeface="Helvetica Neue" pitchFamily="34" charset="-122"/>
                <a:cs typeface="Helvetica Neue" pitchFamily="34" charset="-120"/>
              </a:rPr>
              <a:t> (multilingual embeddings, 100+ languages)</a:t>
            </a:r>
            <a:endParaRPr lang="en-US" sz="1000" dirty="0"/>
          </a:p>
        </p:txBody>
      </p:sp>
      <p:sp>
        <p:nvSpPr>
          <p:cNvPr id="19" name="Text 16"/>
          <p:cNvSpPr/>
          <p:nvPr/>
        </p:nvSpPr>
        <p:spPr>
          <a:xfrm>
            <a:off x="4786313" y="2800350"/>
            <a:ext cx="3643313" cy="321469"/>
          </a:xfrm>
          <a:prstGeom prst="rect">
            <a:avLst/>
          </a:prstGeom>
          <a:noFill/>
          <a:ln/>
        </p:spPr>
        <p:txBody>
          <a:bodyPr wrap="square" lIns="170053" tIns="0" rIns="0" bIns="0" rtlCol="0" anchor="t">
            <a:spAutoFit/>
          </a:bodyPr>
          <a:lstStyle/>
          <a:p>
            <a:pPr algn="l" indent="0" marL="0">
              <a:buNone/>
            </a:pPr>
            <a:r>
              <a:rPr lang="en-US" sz="1000" b="1" dirty="0">
                <a:solidFill>
                  <a:srgbClr val="334155"/>
                </a:solidFill>
                <a:latin typeface="Helvetica Neue" pitchFamily="34" charset="0"/>
                <a:ea typeface="Helvetica Neue" pitchFamily="34" charset="-122"/>
                <a:cs typeface="Helvetica Neue" pitchFamily="34" charset="-120"/>
              </a:rPr>
              <a:t>LangGraph + LangChain</a:t>
            </a:r>
            <a:r>
              <a:rPr lang="en-US" sz="1050" dirty="0">
                <a:solidFill>
                  <a:srgbClr val="334155"/>
                </a:solidFill>
                <a:latin typeface="Helvetica Neue" pitchFamily="34" charset="0"/>
                <a:ea typeface="Helvetica Neue" pitchFamily="34" charset="-122"/>
                <a:cs typeface="Helvetica Neue" pitchFamily="34" charset="-120"/>
              </a:rPr>
              <a:t> (agent orchestration and RAG pipeline)</a:t>
            </a:r>
            <a:endParaRPr lang="en-US" sz="1000" dirty="0"/>
          </a:p>
        </p:txBody>
      </p:sp>
      <p:sp>
        <p:nvSpPr>
          <p:cNvPr id="20" name="Text 17"/>
          <p:cNvSpPr/>
          <p:nvPr/>
        </p:nvSpPr>
        <p:spPr>
          <a:xfrm>
            <a:off x="4786313" y="3193256"/>
            <a:ext cx="3643313" cy="160734"/>
          </a:xfrm>
          <a:prstGeom prst="rect">
            <a:avLst/>
          </a:prstGeom>
          <a:noFill/>
          <a:ln/>
        </p:spPr>
        <p:txBody>
          <a:bodyPr wrap="square" lIns="170053" tIns="0" rIns="0" bIns="0" rtlCol="0" anchor="t">
            <a:spAutoFit/>
          </a:bodyPr>
          <a:lstStyle/>
          <a:p>
            <a:pPr algn="l" indent="0" marL="0">
              <a:buNone/>
            </a:pPr>
            <a:r>
              <a:rPr lang="en-US" sz="1000" b="1" dirty="0">
                <a:solidFill>
                  <a:srgbClr val="334155"/>
                </a:solidFill>
                <a:latin typeface="Helvetica Neue" pitchFamily="34" charset="0"/>
                <a:ea typeface="Helvetica Neue" pitchFamily="34" charset="-122"/>
                <a:cs typeface="Helvetica Neue" pitchFamily="34" charset="-120"/>
              </a:rPr>
              <a:t>Whisper</a:t>
            </a:r>
            <a:r>
              <a:rPr lang="en-US" sz="1050" dirty="0">
                <a:solidFill>
                  <a:srgbClr val="334155"/>
                </a:solidFill>
                <a:latin typeface="Helvetica Neue" pitchFamily="34" charset="0"/>
                <a:ea typeface="Helvetica Neue" pitchFamily="34" charset="-122"/>
                <a:cs typeface="Helvetica Neue" pitchFamily="34" charset="-120"/>
              </a:rPr>
              <a:t> (fallback speech-to-text)</a:t>
            </a:r>
            <a:endParaRPr lang="en-US" sz="1000" dirty="0"/>
          </a:p>
        </p:txBody>
      </p:sp>
      <p:sp>
        <p:nvSpPr>
          <p:cNvPr id="21" name="Text 18"/>
          <p:cNvSpPr/>
          <p:nvPr/>
        </p:nvSpPr>
        <p:spPr>
          <a:xfrm>
            <a:off x="4786313" y="3425428"/>
            <a:ext cx="3643313" cy="160734"/>
          </a:xfrm>
          <a:prstGeom prst="rect">
            <a:avLst/>
          </a:prstGeom>
          <a:noFill/>
          <a:ln/>
        </p:spPr>
        <p:txBody>
          <a:bodyPr wrap="square" lIns="170053" tIns="0" rIns="0" bIns="0" rtlCol="0" anchor="t">
            <a:spAutoFit/>
          </a:bodyPr>
          <a:lstStyle/>
          <a:p>
            <a:pPr algn="l" indent="0" marL="0">
              <a:buNone/>
            </a:pPr>
            <a:r>
              <a:rPr lang="en-US" sz="1000" b="1" dirty="0">
                <a:solidFill>
                  <a:srgbClr val="334155"/>
                </a:solidFill>
                <a:latin typeface="Helvetica Neue" pitchFamily="34" charset="0"/>
                <a:ea typeface="Helvetica Neue" pitchFamily="34" charset="-122"/>
                <a:cs typeface="Helvetica Neue" pitchFamily="34" charset="-120"/>
              </a:rPr>
              <a:t>DigiLocker API</a:t>
            </a:r>
            <a:r>
              <a:rPr lang="en-US" sz="1050" dirty="0">
                <a:solidFill>
                  <a:srgbClr val="334155"/>
                </a:solidFill>
                <a:latin typeface="Helvetica Neue" pitchFamily="34" charset="0"/>
                <a:ea typeface="Helvetica Neue" pitchFamily="34" charset="-122"/>
                <a:cs typeface="Helvetica Neue" pitchFamily="34" charset="-120"/>
              </a:rPr>
              <a:t> (document fetch and verification)</a:t>
            </a:r>
            <a:endParaRPr lang="en-US" sz="1000" dirty="0"/>
          </a:p>
        </p:txBody>
      </p:sp>
      <p:sp>
        <p:nvSpPr>
          <p:cNvPr id="22" name="Shape 19"/>
          <p:cNvSpPr/>
          <p:nvPr/>
        </p:nvSpPr>
        <p:spPr>
          <a:xfrm>
            <a:off x="571500" y="3943350"/>
            <a:ext cx="8001000" cy="1218009"/>
          </a:xfrm>
          <a:prstGeom prst="rect">
            <a:avLst/>
          </a:prstGeom>
          <a:solidFill>
            <a:srgbClr val="FFFFFF"/>
          </a:solidFill>
          <a:ln w="9144">
            <a:solidFill>
              <a:srgbClr val="E2E8F0"/>
            </a:solidFill>
            <a:prstDash val="solid"/>
          </a:ln>
        </p:spPr>
      </p:sp>
      <p:sp>
        <p:nvSpPr>
          <p:cNvPr id="23" name="Text 20"/>
          <p:cNvSpPr/>
          <p:nvPr/>
        </p:nvSpPr>
        <p:spPr>
          <a:xfrm>
            <a:off x="4786313" y="1796653"/>
            <a:ext cx="60443" cy="114300"/>
          </a:xfrm>
          <a:prstGeom prst="rect">
            <a:avLst/>
          </a:prstGeom>
          <a:noFill/>
          <a:ln/>
        </p:spPr>
        <p:txBody>
          <a:bodyPr wrap="none" lIns="0" tIns="0" rIns="0" bIns="0" rtlCol="0" anchor="t">
            <a:spAutoFit/>
          </a:bodyPr>
          <a:lstStyle/>
          <a:p>
            <a:pPr algn="l" indent="0" marL="0">
              <a:buNone/>
            </a:pPr>
            <a:r>
              <a:rPr lang="en-US" sz="750" dirty="0">
                <a:solidFill>
                  <a:srgbClr val="059669"/>
                </a:solidFill>
                <a:latin typeface="Helvetica Neue" pitchFamily="34" charset="0"/>
                <a:ea typeface="Helvetica Neue" pitchFamily="34" charset="-122"/>
                <a:cs typeface="Helvetica Neue" pitchFamily="34" charset="-120"/>
              </a:rPr>
              <a:t>■</a:t>
            </a:r>
            <a:endParaRPr lang="en-US" sz="750" dirty="0"/>
          </a:p>
        </p:txBody>
      </p:sp>
      <p:sp>
        <p:nvSpPr>
          <p:cNvPr id="24" name="Text 21"/>
          <p:cNvSpPr/>
          <p:nvPr/>
        </p:nvSpPr>
        <p:spPr>
          <a:xfrm>
            <a:off x="4786313" y="2189559"/>
            <a:ext cx="60443" cy="114300"/>
          </a:xfrm>
          <a:prstGeom prst="rect">
            <a:avLst/>
          </a:prstGeom>
          <a:noFill/>
          <a:ln/>
        </p:spPr>
        <p:txBody>
          <a:bodyPr wrap="none" lIns="0" tIns="0" rIns="0" bIns="0" rtlCol="0" anchor="t">
            <a:spAutoFit/>
          </a:bodyPr>
          <a:lstStyle/>
          <a:p>
            <a:pPr algn="l" indent="0" marL="0">
              <a:buNone/>
            </a:pPr>
            <a:r>
              <a:rPr lang="en-US" sz="750" dirty="0">
                <a:solidFill>
                  <a:srgbClr val="059669"/>
                </a:solidFill>
                <a:latin typeface="Helvetica Neue" pitchFamily="34" charset="0"/>
                <a:ea typeface="Helvetica Neue" pitchFamily="34" charset="-122"/>
                <a:cs typeface="Helvetica Neue" pitchFamily="34" charset="-120"/>
              </a:rPr>
              <a:t>■</a:t>
            </a:r>
            <a:endParaRPr lang="en-US" sz="750" dirty="0"/>
          </a:p>
        </p:txBody>
      </p:sp>
      <p:sp>
        <p:nvSpPr>
          <p:cNvPr id="25" name="Text 22"/>
          <p:cNvSpPr/>
          <p:nvPr/>
        </p:nvSpPr>
        <p:spPr>
          <a:xfrm>
            <a:off x="4786313" y="2582466"/>
            <a:ext cx="60443" cy="114300"/>
          </a:xfrm>
          <a:prstGeom prst="rect">
            <a:avLst/>
          </a:prstGeom>
          <a:noFill/>
          <a:ln/>
        </p:spPr>
        <p:txBody>
          <a:bodyPr wrap="none" lIns="0" tIns="0" rIns="0" bIns="0" rtlCol="0" anchor="t">
            <a:spAutoFit/>
          </a:bodyPr>
          <a:lstStyle/>
          <a:p>
            <a:pPr algn="l" indent="0" marL="0">
              <a:buNone/>
            </a:pPr>
            <a:r>
              <a:rPr lang="en-US" sz="750" dirty="0">
                <a:solidFill>
                  <a:srgbClr val="059669"/>
                </a:solidFill>
                <a:latin typeface="Helvetica Neue" pitchFamily="34" charset="0"/>
                <a:ea typeface="Helvetica Neue" pitchFamily="34" charset="-122"/>
                <a:cs typeface="Helvetica Neue" pitchFamily="34" charset="-120"/>
              </a:rPr>
              <a:t>■</a:t>
            </a:r>
            <a:endParaRPr lang="en-US" sz="750" dirty="0"/>
          </a:p>
        </p:txBody>
      </p:sp>
      <p:sp>
        <p:nvSpPr>
          <p:cNvPr id="26" name="Text 23"/>
          <p:cNvSpPr/>
          <p:nvPr/>
        </p:nvSpPr>
        <p:spPr>
          <a:xfrm>
            <a:off x="4786313" y="2814638"/>
            <a:ext cx="60443" cy="114300"/>
          </a:xfrm>
          <a:prstGeom prst="rect">
            <a:avLst/>
          </a:prstGeom>
          <a:noFill/>
          <a:ln/>
        </p:spPr>
        <p:txBody>
          <a:bodyPr wrap="none" lIns="0" tIns="0" rIns="0" bIns="0" rtlCol="0" anchor="t">
            <a:spAutoFit/>
          </a:bodyPr>
          <a:lstStyle/>
          <a:p>
            <a:pPr algn="l" indent="0" marL="0">
              <a:buNone/>
            </a:pPr>
            <a:r>
              <a:rPr lang="en-US" sz="750" dirty="0">
                <a:solidFill>
                  <a:srgbClr val="059669"/>
                </a:solidFill>
                <a:latin typeface="Helvetica Neue" pitchFamily="34" charset="0"/>
                <a:ea typeface="Helvetica Neue" pitchFamily="34" charset="-122"/>
                <a:cs typeface="Helvetica Neue" pitchFamily="34" charset="-120"/>
              </a:rPr>
              <a:t>■</a:t>
            </a:r>
            <a:endParaRPr lang="en-US" sz="750" dirty="0"/>
          </a:p>
        </p:txBody>
      </p:sp>
      <p:sp>
        <p:nvSpPr>
          <p:cNvPr id="27" name="Text 24"/>
          <p:cNvSpPr/>
          <p:nvPr/>
        </p:nvSpPr>
        <p:spPr>
          <a:xfrm>
            <a:off x="4786313" y="3207544"/>
            <a:ext cx="60443" cy="114300"/>
          </a:xfrm>
          <a:prstGeom prst="rect">
            <a:avLst/>
          </a:prstGeom>
          <a:noFill/>
          <a:ln/>
        </p:spPr>
        <p:txBody>
          <a:bodyPr wrap="none" lIns="0" tIns="0" rIns="0" bIns="0" rtlCol="0" anchor="t">
            <a:spAutoFit/>
          </a:bodyPr>
          <a:lstStyle/>
          <a:p>
            <a:pPr algn="l" indent="0" marL="0">
              <a:buNone/>
            </a:pPr>
            <a:r>
              <a:rPr lang="en-US" sz="750" dirty="0">
                <a:solidFill>
                  <a:srgbClr val="059669"/>
                </a:solidFill>
                <a:latin typeface="Helvetica Neue" pitchFamily="34" charset="0"/>
                <a:ea typeface="Helvetica Neue" pitchFamily="34" charset="-122"/>
                <a:cs typeface="Helvetica Neue" pitchFamily="34" charset="-120"/>
              </a:rPr>
              <a:t>■</a:t>
            </a:r>
            <a:endParaRPr lang="en-US" sz="750" dirty="0"/>
          </a:p>
        </p:txBody>
      </p:sp>
      <p:sp>
        <p:nvSpPr>
          <p:cNvPr id="28" name="Text 25"/>
          <p:cNvSpPr/>
          <p:nvPr/>
        </p:nvSpPr>
        <p:spPr>
          <a:xfrm>
            <a:off x="4786313" y="3439716"/>
            <a:ext cx="60443" cy="114300"/>
          </a:xfrm>
          <a:prstGeom prst="rect">
            <a:avLst/>
          </a:prstGeom>
          <a:noFill/>
          <a:ln/>
        </p:spPr>
        <p:txBody>
          <a:bodyPr wrap="none" lIns="0" tIns="0" rIns="0" bIns="0" rtlCol="0" anchor="t">
            <a:spAutoFit/>
          </a:bodyPr>
          <a:lstStyle/>
          <a:p>
            <a:pPr algn="l" indent="0" marL="0">
              <a:buNone/>
            </a:pPr>
            <a:r>
              <a:rPr lang="en-US" sz="750" dirty="0">
                <a:solidFill>
                  <a:srgbClr val="059669"/>
                </a:solidFill>
                <a:latin typeface="Helvetica Neue" pitchFamily="34" charset="0"/>
                <a:ea typeface="Helvetica Neue" pitchFamily="34" charset="-122"/>
                <a:cs typeface="Helvetica Neue" pitchFamily="34" charset="-120"/>
              </a:rPr>
              <a:t>■</a:t>
            </a:r>
            <a:endParaRPr lang="en-US" sz="750" dirty="0"/>
          </a:p>
        </p:txBody>
      </p:sp>
      <p:sp>
        <p:nvSpPr>
          <p:cNvPr id="29" name="Text 26"/>
          <p:cNvSpPr/>
          <p:nvPr/>
        </p:nvSpPr>
        <p:spPr>
          <a:xfrm>
            <a:off x="714375" y="4086225"/>
            <a:ext cx="2067558" cy="246459"/>
          </a:xfrm>
          <a:prstGeom prst="rect">
            <a:avLst/>
          </a:prstGeom>
          <a:noFill/>
          <a:ln/>
        </p:spPr>
        <p:txBody>
          <a:bodyPr wrap="square" lIns="0" tIns="0" rIns="0" bIns="42545" rtlCol="0" anchor="t">
            <a:spAutoFit/>
          </a:bodyPr>
          <a:lstStyle/>
          <a:p>
            <a:pPr algn="l" indent="0" marL="0">
              <a:buNone/>
            </a:pPr>
            <a:r>
              <a:rPr lang="en-US" sz="1200" b="1" dirty="0">
                <a:solidFill>
                  <a:srgbClr val="0F172A"/>
                </a:solidFill>
                <a:latin typeface="Helvetica Neue" pitchFamily="34" charset="0"/>
                <a:ea typeface="Helvetica Neue" pitchFamily="34" charset="-122"/>
                <a:cs typeface="Helvetica Neue" pitchFamily="34" charset="-120"/>
              </a:rPr>
              <a:t>High-level Block Diagram</a:t>
            </a:r>
            <a:endParaRPr lang="en-US" sz="1200" dirty="0"/>
          </a:p>
        </p:txBody>
      </p:sp>
      <p:sp>
        <p:nvSpPr>
          <p:cNvPr id="30" name="Shape 27"/>
          <p:cNvSpPr/>
          <p:nvPr/>
        </p:nvSpPr>
        <p:spPr>
          <a:xfrm>
            <a:off x="714375" y="4439841"/>
            <a:ext cx="1208745" cy="246459"/>
          </a:xfrm>
          <a:prstGeom prst="rect">
            <a:avLst/>
          </a:prstGeom>
          <a:solidFill>
            <a:srgbClr val="059669"/>
          </a:solidFill>
          <a:ln/>
        </p:spPr>
      </p:sp>
      <p:sp>
        <p:nvSpPr>
          <p:cNvPr id="31" name="Text 28"/>
          <p:cNvSpPr/>
          <p:nvPr/>
        </p:nvSpPr>
        <p:spPr>
          <a:xfrm>
            <a:off x="714375" y="4439841"/>
            <a:ext cx="1208745" cy="246459"/>
          </a:xfrm>
          <a:prstGeom prst="rect">
            <a:avLst/>
          </a:prstGeom>
          <a:noFill/>
          <a:ln/>
        </p:spPr>
        <p:txBody>
          <a:bodyPr wrap="none" lIns="102108" tIns="68072" rIns="102108" bIns="68072" rtlCol="0" anchor="t">
            <a:spAutoFit/>
          </a:bodyPr>
          <a:lstStyle/>
          <a:p>
            <a:pPr algn="ctr" indent="0" marL="0">
              <a:buNone/>
            </a:pPr>
            <a:r>
              <a:rPr lang="en-US" sz="800" b="1" dirty="0">
                <a:solidFill>
                  <a:srgbClr val="FFFFFF"/>
                </a:solidFill>
                <a:latin typeface="Helvetica Neue" pitchFamily="34" charset="0"/>
                <a:ea typeface="Helvetica Neue" pitchFamily="34" charset="-122"/>
                <a:cs typeface="Helvetica Neue" pitchFamily="34" charset="-120"/>
              </a:rPr>
              <a:t>Citizen (Voice/Text)</a:t>
            </a:r>
            <a:endParaRPr lang="en-US" sz="800" dirty="0"/>
          </a:p>
        </p:txBody>
      </p:sp>
      <p:sp>
        <p:nvSpPr>
          <p:cNvPr id="32" name="Text 29"/>
          <p:cNvSpPr/>
          <p:nvPr/>
        </p:nvSpPr>
        <p:spPr>
          <a:xfrm>
            <a:off x="1994557" y="4482703"/>
            <a:ext cx="142875" cy="160734"/>
          </a:xfrm>
          <a:prstGeom prst="rect">
            <a:avLst/>
          </a:prstGeom>
          <a:noFill/>
          <a:ln/>
        </p:spPr>
        <p:txBody>
          <a:bodyPr wrap="none" lIns="0" tIns="0" rIns="0" bIns="0" rtlCol="0" anchor="t">
            <a:spAutoFit/>
          </a:bodyPr>
          <a:lstStyle/>
          <a:p>
            <a:pPr algn="l" indent="0" marL="0">
              <a:buNone/>
            </a:pPr>
            <a:r>
              <a:rPr lang="en-US" sz="1000" b="1" dirty="0">
                <a:solidFill>
                  <a:srgbClr val="334155"/>
                </a:solidFill>
                <a:latin typeface="Helvetica Neue" pitchFamily="34" charset="0"/>
                <a:ea typeface="Helvetica Neue" pitchFamily="34" charset="-122"/>
                <a:cs typeface="Helvetica Neue" pitchFamily="34" charset="-120"/>
              </a:rPr>
              <a:t>→</a:t>
            </a:r>
            <a:endParaRPr lang="en-US" sz="1000" dirty="0"/>
          </a:p>
        </p:txBody>
      </p:sp>
      <p:sp>
        <p:nvSpPr>
          <p:cNvPr id="33" name="Shape 30"/>
          <p:cNvSpPr/>
          <p:nvPr/>
        </p:nvSpPr>
        <p:spPr>
          <a:xfrm>
            <a:off x="2208870" y="4439841"/>
            <a:ext cx="1263774" cy="246459"/>
          </a:xfrm>
          <a:prstGeom prst="rect">
            <a:avLst/>
          </a:prstGeom>
          <a:solidFill>
            <a:srgbClr val="059669"/>
          </a:solidFill>
          <a:ln/>
        </p:spPr>
      </p:sp>
      <p:sp>
        <p:nvSpPr>
          <p:cNvPr id="34" name="Text 31"/>
          <p:cNvSpPr/>
          <p:nvPr/>
        </p:nvSpPr>
        <p:spPr>
          <a:xfrm>
            <a:off x="2208870" y="4439841"/>
            <a:ext cx="1263774" cy="246459"/>
          </a:xfrm>
          <a:prstGeom prst="rect">
            <a:avLst/>
          </a:prstGeom>
          <a:noFill/>
          <a:ln/>
        </p:spPr>
        <p:txBody>
          <a:bodyPr wrap="none" lIns="102108" tIns="68072" rIns="102108" bIns="68072" rtlCol="0" anchor="t">
            <a:spAutoFit/>
          </a:bodyPr>
          <a:lstStyle/>
          <a:p>
            <a:pPr algn="ctr" indent="0" marL="0">
              <a:buNone/>
            </a:pPr>
            <a:r>
              <a:rPr lang="en-US" sz="800" b="1" dirty="0">
                <a:solidFill>
                  <a:srgbClr val="FFFFFF"/>
                </a:solidFill>
                <a:latin typeface="Helvetica Neue" pitchFamily="34" charset="0"/>
                <a:ea typeface="Helvetica Neue" pitchFamily="34" charset="-122"/>
                <a:cs typeface="Helvetica Neue" pitchFamily="34" charset="-120"/>
              </a:rPr>
              <a:t>Language Detection</a:t>
            </a:r>
            <a:endParaRPr lang="en-US" sz="800" dirty="0"/>
          </a:p>
        </p:txBody>
      </p:sp>
      <p:sp>
        <p:nvSpPr>
          <p:cNvPr id="35" name="Text 32"/>
          <p:cNvSpPr/>
          <p:nvPr/>
        </p:nvSpPr>
        <p:spPr>
          <a:xfrm>
            <a:off x="3544081" y="4482703"/>
            <a:ext cx="142875" cy="160734"/>
          </a:xfrm>
          <a:prstGeom prst="rect">
            <a:avLst/>
          </a:prstGeom>
          <a:noFill/>
          <a:ln/>
        </p:spPr>
        <p:txBody>
          <a:bodyPr wrap="none" lIns="0" tIns="0" rIns="0" bIns="0" rtlCol="0" anchor="t">
            <a:spAutoFit/>
          </a:bodyPr>
          <a:lstStyle/>
          <a:p>
            <a:pPr algn="l" indent="0" marL="0">
              <a:buNone/>
            </a:pPr>
            <a:r>
              <a:rPr lang="en-US" sz="1000" b="1" dirty="0">
                <a:solidFill>
                  <a:srgbClr val="334155"/>
                </a:solidFill>
                <a:latin typeface="Helvetica Neue" pitchFamily="34" charset="0"/>
                <a:ea typeface="Helvetica Neue" pitchFamily="34" charset="-122"/>
                <a:cs typeface="Helvetica Neue" pitchFamily="34" charset="-120"/>
              </a:rPr>
              <a:t>→</a:t>
            </a:r>
            <a:endParaRPr lang="en-US" sz="1000" dirty="0"/>
          </a:p>
        </p:txBody>
      </p:sp>
      <p:sp>
        <p:nvSpPr>
          <p:cNvPr id="36" name="Shape 33"/>
          <p:cNvSpPr/>
          <p:nvPr/>
        </p:nvSpPr>
        <p:spPr>
          <a:xfrm>
            <a:off x="3758394" y="4439841"/>
            <a:ext cx="1441531" cy="246459"/>
          </a:xfrm>
          <a:prstGeom prst="rect">
            <a:avLst/>
          </a:prstGeom>
          <a:solidFill>
            <a:srgbClr val="059669"/>
          </a:solidFill>
          <a:ln/>
        </p:spPr>
      </p:sp>
      <p:sp>
        <p:nvSpPr>
          <p:cNvPr id="37" name="Text 34"/>
          <p:cNvSpPr/>
          <p:nvPr/>
        </p:nvSpPr>
        <p:spPr>
          <a:xfrm>
            <a:off x="3758394" y="4439841"/>
            <a:ext cx="1441531" cy="246459"/>
          </a:xfrm>
          <a:prstGeom prst="rect">
            <a:avLst/>
          </a:prstGeom>
          <a:noFill/>
          <a:ln/>
        </p:spPr>
        <p:txBody>
          <a:bodyPr wrap="square" lIns="102108" tIns="68072" rIns="102108" bIns="68072" rtlCol="0" anchor="t">
            <a:spAutoFit/>
          </a:bodyPr>
          <a:lstStyle/>
          <a:p>
            <a:pPr algn="ctr" indent="0" marL="0">
              <a:buNone/>
            </a:pPr>
            <a:r>
              <a:rPr lang="en-US" sz="800" b="1" dirty="0">
                <a:solidFill>
                  <a:srgbClr val="FFFFFF"/>
                </a:solidFill>
                <a:latin typeface="Helvetica Neue" pitchFamily="34" charset="0"/>
                <a:ea typeface="Helvetica Neue" pitchFamily="34" charset="-122"/>
                <a:cs typeface="Helvetica Neue" pitchFamily="34" charset="-120"/>
              </a:rPr>
              <a:t>Translation (BHASHINI)</a:t>
            </a:r>
            <a:endParaRPr lang="en-US" sz="800" dirty="0"/>
          </a:p>
        </p:txBody>
      </p:sp>
      <p:sp>
        <p:nvSpPr>
          <p:cNvPr id="38" name="Text 35"/>
          <p:cNvSpPr/>
          <p:nvPr/>
        </p:nvSpPr>
        <p:spPr>
          <a:xfrm>
            <a:off x="5271362" y="4482703"/>
            <a:ext cx="142875" cy="160734"/>
          </a:xfrm>
          <a:prstGeom prst="rect">
            <a:avLst/>
          </a:prstGeom>
          <a:noFill/>
          <a:ln/>
        </p:spPr>
        <p:txBody>
          <a:bodyPr wrap="none" lIns="0" tIns="0" rIns="0" bIns="0" rtlCol="0" anchor="t">
            <a:spAutoFit/>
          </a:bodyPr>
          <a:lstStyle/>
          <a:p>
            <a:pPr algn="l" indent="0" marL="0">
              <a:buNone/>
            </a:pPr>
            <a:r>
              <a:rPr lang="en-US" sz="1000" b="1" dirty="0">
                <a:solidFill>
                  <a:srgbClr val="334155"/>
                </a:solidFill>
                <a:latin typeface="Helvetica Neue" pitchFamily="34" charset="0"/>
                <a:ea typeface="Helvetica Neue" pitchFamily="34" charset="-122"/>
                <a:cs typeface="Helvetica Neue" pitchFamily="34" charset="-120"/>
              </a:rPr>
              <a:t>→</a:t>
            </a:r>
            <a:endParaRPr lang="en-US" sz="1000" dirty="0"/>
          </a:p>
        </p:txBody>
      </p:sp>
      <p:sp>
        <p:nvSpPr>
          <p:cNvPr id="39" name="Shape 36"/>
          <p:cNvSpPr/>
          <p:nvPr/>
        </p:nvSpPr>
        <p:spPr>
          <a:xfrm>
            <a:off x="5485674" y="4439841"/>
            <a:ext cx="1231962" cy="246459"/>
          </a:xfrm>
          <a:prstGeom prst="rect">
            <a:avLst/>
          </a:prstGeom>
          <a:solidFill>
            <a:srgbClr val="059669"/>
          </a:solidFill>
          <a:ln/>
        </p:spPr>
      </p:sp>
      <p:sp>
        <p:nvSpPr>
          <p:cNvPr id="40" name="Text 37"/>
          <p:cNvSpPr/>
          <p:nvPr/>
        </p:nvSpPr>
        <p:spPr>
          <a:xfrm>
            <a:off x="5485674" y="4439841"/>
            <a:ext cx="1231962" cy="246459"/>
          </a:xfrm>
          <a:prstGeom prst="rect">
            <a:avLst/>
          </a:prstGeom>
          <a:noFill/>
          <a:ln/>
        </p:spPr>
        <p:txBody>
          <a:bodyPr wrap="none" lIns="102108" tIns="68072" rIns="102108" bIns="68072" rtlCol="0" anchor="t">
            <a:spAutoFit/>
          </a:bodyPr>
          <a:lstStyle/>
          <a:p>
            <a:pPr algn="ctr" indent="0" marL="0">
              <a:buNone/>
            </a:pPr>
            <a:r>
              <a:rPr lang="en-US" sz="800" b="1" dirty="0">
                <a:solidFill>
                  <a:srgbClr val="FFFFFF"/>
                </a:solidFill>
                <a:latin typeface="Helvetica Neue" pitchFamily="34" charset="0"/>
                <a:ea typeface="Helvetica Neue" pitchFamily="34" charset="-122"/>
                <a:cs typeface="Helvetica Neue" pitchFamily="34" charset="-120"/>
              </a:rPr>
              <a:t>Hybrid RAG Engine</a:t>
            </a:r>
            <a:endParaRPr lang="en-US" sz="800" dirty="0"/>
          </a:p>
        </p:txBody>
      </p:sp>
      <p:sp>
        <p:nvSpPr>
          <p:cNvPr id="41" name="Text 38"/>
          <p:cNvSpPr/>
          <p:nvPr/>
        </p:nvSpPr>
        <p:spPr>
          <a:xfrm>
            <a:off x="6789074" y="4482703"/>
            <a:ext cx="142875" cy="160734"/>
          </a:xfrm>
          <a:prstGeom prst="rect">
            <a:avLst/>
          </a:prstGeom>
          <a:noFill/>
          <a:ln/>
        </p:spPr>
        <p:txBody>
          <a:bodyPr wrap="none" lIns="0" tIns="0" rIns="0" bIns="0" rtlCol="0" anchor="t">
            <a:spAutoFit/>
          </a:bodyPr>
          <a:lstStyle/>
          <a:p>
            <a:pPr algn="l" indent="0" marL="0">
              <a:buNone/>
            </a:pPr>
            <a:r>
              <a:rPr lang="en-US" sz="1000" b="1" dirty="0">
                <a:solidFill>
                  <a:srgbClr val="334155"/>
                </a:solidFill>
                <a:latin typeface="Helvetica Neue" pitchFamily="34" charset="0"/>
                <a:ea typeface="Helvetica Neue" pitchFamily="34" charset="-122"/>
                <a:cs typeface="Helvetica Neue" pitchFamily="34" charset="-120"/>
              </a:rPr>
              <a:t>→</a:t>
            </a:r>
            <a:endParaRPr lang="en-US" sz="1000" dirty="0"/>
          </a:p>
        </p:txBody>
      </p:sp>
      <p:sp>
        <p:nvSpPr>
          <p:cNvPr id="42" name="Shape 39"/>
          <p:cNvSpPr/>
          <p:nvPr/>
        </p:nvSpPr>
        <p:spPr>
          <a:xfrm>
            <a:off x="7003386" y="4439841"/>
            <a:ext cx="1403468" cy="246459"/>
          </a:xfrm>
          <a:prstGeom prst="rect">
            <a:avLst/>
          </a:prstGeom>
          <a:solidFill>
            <a:srgbClr val="059669"/>
          </a:solidFill>
          <a:ln/>
        </p:spPr>
      </p:sp>
      <p:sp>
        <p:nvSpPr>
          <p:cNvPr id="43" name="Text 40"/>
          <p:cNvSpPr/>
          <p:nvPr/>
        </p:nvSpPr>
        <p:spPr>
          <a:xfrm>
            <a:off x="7003386" y="4439841"/>
            <a:ext cx="1403468" cy="246459"/>
          </a:xfrm>
          <a:prstGeom prst="rect">
            <a:avLst/>
          </a:prstGeom>
          <a:noFill/>
          <a:ln/>
        </p:spPr>
        <p:txBody>
          <a:bodyPr wrap="square" lIns="102108" tIns="68072" rIns="102108" bIns="68072" rtlCol="0" anchor="t">
            <a:spAutoFit/>
          </a:bodyPr>
          <a:lstStyle/>
          <a:p>
            <a:pPr algn="ctr" indent="0" marL="0">
              <a:buNone/>
            </a:pPr>
            <a:r>
              <a:rPr lang="en-US" sz="800" b="1" dirty="0">
                <a:solidFill>
                  <a:srgbClr val="FFFFFF"/>
                </a:solidFill>
                <a:latin typeface="Helvetica Neue" pitchFamily="34" charset="0"/>
                <a:ea typeface="Helvetica Neue" pitchFamily="34" charset="-122"/>
                <a:cs typeface="Helvetica Neue" pitchFamily="34" charset="-120"/>
              </a:rPr>
              <a:t>Gov Knowledge Graph</a:t>
            </a:r>
            <a:endParaRPr lang="en-US" sz="800" dirty="0"/>
          </a:p>
        </p:txBody>
      </p:sp>
      <p:sp>
        <p:nvSpPr>
          <p:cNvPr id="44" name="Text 41"/>
          <p:cNvSpPr/>
          <p:nvPr/>
        </p:nvSpPr>
        <p:spPr>
          <a:xfrm>
            <a:off x="714375" y="4800600"/>
            <a:ext cx="142875" cy="160734"/>
          </a:xfrm>
          <a:prstGeom prst="rect">
            <a:avLst/>
          </a:prstGeom>
          <a:noFill/>
          <a:ln/>
        </p:spPr>
        <p:txBody>
          <a:bodyPr wrap="none" lIns="0" tIns="0" rIns="0" bIns="0" rtlCol="0" anchor="t">
            <a:spAutoFit/>
          </a:bodyPr>
          <a:lstStyle/>
          <a:p>
            <a:pPr algn="l" indent="0" marL="0">
              <a:buNone/>
            </a:pPr>
            <a:r>
              <a:rPr lang="en-US" sz="1000" b="1" dirty="0">
                <a:solidFill>
                  <a:srgbClr val="334155"/>
                </a:solidFill>
                <a:latin typeface="Helvetica Neue" pitchFamily="34" charset="0"/>
                <a:ea typeface="Helvetica Neue" pitchFamily="34" charset="-122"/>
                <a:cs typeface="Helvetica Neue" pitchFamily="34" charset="-120"/>
              </a:rPr>
              <a:t>→</a:t>
            </a:r>
            <a:endParaRPr lang="en-US" sz="1000" dirty="0"/>
          </a:p>
        </p:txBody>
      </p:sp>
      <p:sp>
        <p:nvSpPr>
          <p:cNvPr id="45" name="Shape 42"/>
          <p:cNvSpPr/>
          <p:nvPr/>
        </p:nvSpPr>
        <p:spPr>
          <a:xfrm>
            <a:off x="928688" y="4757738"/>
            <a:ext cx="1092268" cy="246459"/>
          </a:xfrm>
          <a:prstGeom prst="rect">
            <a:avLst/>
          </a:prstGeom>
          <a:solidFill>
            <a:srgbClr val="059669"/>
          </a:solidFill>
          <a:ln/>
        </p:spPr>
      </p:sp>
      <p:sp>
        <p:nvSpPr>
          <p:cNvPr id="46" name="Text 43"/>
          <p:cNvSpPr/>
          <p:nvPr/>
        </p:nvSpPr>
        <p:spPr>
          <a:xfrm>
            <a:off x="928688" y="4757738"/>
            <a:ext cx="1092268" cy="246459"/>
          </a:xfrm>
          <a:prstGeom prst="rect">
            <a:avLst/>
          </a:prstGeom>
          <a:noFill/>
          <a:ln/>
        </p:spPr>
        <p:txBody>
          <a:bodyPr wrap="none" lIns="102108" tIns="68072" rIns="102108" bIns="68072" rtlCol="0" anchor="t">
            <a:spAutoFit/>
          </a:bodyPr>
          <a:lstStyle/>
          <a:p>
            <a:pPr algn="ctr" indent="0" marL="0">
              <a:buNone/>
            </a:pPr>
            <a:r>
              <a:rPr lang="en-US" sz="800" b="1" dirty="0">
                <a:solidFill>
                  <a:srgbClr val="FFFFFF"/>
                </a:solidFill>
                <a:latin typeface="Helvetica Neue" pitchFamily="34" charset="0"/>
                <a:ea typeface="Helvetica Neue" pitchFamily="34" charset="-122"/>
                <a:cs typeface="Helvetica Neue" pitchFamily="34" charset="-120"/>
              </a:rPr>
              <a:t>Eligibility Engine</a:t>
            </a:r>
            <a:endParaRPr lang="en-US" sz="800" dirty="0"/>
          </a:p>
        </p:txBody>
      </p:sp>
      <p:sp>
        <p:nvSpPr>
          <p:cNvPr id="47" name="Text 44"/>
          <p:cNvSpPr/>
          <p:nvPr/>
        </p:nvSpPr>
        <p:spPr>
          <a:xfrm>
            <a:off x="2092393" y="4800600"/>
            <a:ext cx="142875" cy="160734"/>
          </a:xfrm>
          <a:prstGeom prst="rect">
            <a:avLst/>
          </a:prstGeom>
          <a:noFill/>
          <a:ln/>
        </p:spPr>
        <p:txBody>
          <a:bodyPr wrap="none" lIns="0" tIns="0" rIns="0" bIns="0" rtlCol="0" anchor="t">
            <a:spAutoFit/>
          </a:bodyPr>
          <a:lstStyle/>
          <a:p>
            <a:pPr algn="l" indent="0" marL="0">
              <a:buNone/>
            </a:pPr>
            <a:r>
              <a:rPr lang="en-US" sz="1000" b="1" dirty="0">
                <a:solidFill>
                  <a:srgbClr val="334155"/>
                </a:solidFill>
                <a:latin typeface="Helvetica Neue" pitchFamily="34" charset="0"/>
                <a:ea typeface="Helvetica Neue" pitchFamily="34" charset="-122"/>
                <a:cs typeface="Helvetica Neue" pitchFamily="34" charset="-120"/>
              </a:rPr>
              <a:t>→</a:t>
            </a:r>
            <a:endParaRPr lang="en-US" sz="1000" dirty="0"/>
          </a:p>
        </p:txBody>
      </p:sp>
      <p:sp>
        <p:nvSpPr>
          <p:cNvPr id="48" name="Shape 45"/>
          <p:cNvSpPr/>
          <p:nvPr/>
        </p:nvSpPr>
        <p:spPr>
          <a:xfrm>
            <a:off x="2306706" y="4757738"/>
            <a:ext cx="1244743" cy="246459"/>
          </a:xfrm>
          <a:prstGeom prst="rect">
            <a:avLst/>
          </a:prstGeom>
          <a:solidFill>
            <a:srgbClr val="059669"/>
          </a:solidFill>
          <a:ln/>
        </p:spPr>
      </p:sp>
      <p:sp>
        <p:nvSpPr>
          <p:cNvPr id="49" name="Text 46"/>
          <p:cNvSpPr/>
          <p:nvPr/>
        </p:nvSpPr>
        <p:spPr>
          <a:xfrm>
            <a:off x="2306706" y="4757738"/>
            <a:ext cx="1244743" cy="246459"/>
          </a:xfrm>
          <a:prstGeom prst="rect">
            <a:avLst/>
          </a:prstGeom>
          <a:noFill/>
          <a:ln/>
        </p:spPr>
        <p:txBody>
          <a:bodyPr wrap="none" lIns="102108" tIns="68072" rIns="102108" bIns="68072" rtlCol="0" anchor="t">
            <a:spAutoFit/>
          </a:bodyPr>
          <a:lstStyle/>
          <a:p>
            <a:pPr algn="ctr" indent="0" marL="0">
              <a:buNone/>
            </a:pPr>
            <a:r>
              <a:rPr lang="en-US" sz="800" b="1" dirty="0">
                <a:solidFill>
                  <a:srgbClr val="FFFFFF"/>
                </a:solidFill>
                <a:latin typeface="Helvetica Neue" pitchFamily="34" charset="0"/>
                <a:ea typeface="Helvetica Neue" pitchFamily="34" charset="-122"/>
                <a:cs typeface="Helvetica Neue" pitchFamily="34" charset="-120"/>
              </a:rPr>
              <a:t>Application Planner</a:t>
            </a:r>
            <a:endParaRPr lang="en-US" sz="800" dirty="0"/>
          </a:p>
        </p:txBody>
      </p:sp>
      <p:sp>
        <p:nvSpPr>
          <p:cNvPr id="50" name="Text 47"/>
          <p:cNvSpPr/>
          <p:nvPr/>
        </p:nvSpPr>
        <p:spPr>
          <a:xfrm>
            <a:off x="3622886" y="4800600"/>
            <a:ext cx="142875" cy="160734"/>
          </a:xfrm>
          <a:prstGeom prst="rect">
            <a:avLst/>
          </a:prstGeom>
          <a:noFill/>
          <a:ln/>
        </p:spPr>
        <p:txBody>
          <a:bodyPr wrap="none" lIns="0" tIns="0" rIns="0" bIns="0" rtlCol="0" anchor="t">
            <a:spAutoFit/>
          </a:bodyPr>
          <a:lstStyle/>
          <a:p>
            <a:pPr algn="l" indent="0" marL="0">
              <a:buNone/>
            </a:pPr>
            <a:r>
              <a:rPr lang="en-US" sz="1000" b="1" dirty="0">
                <a:solidFill>
                  <a:srgbClr val="334155"/>
                </a:solidFill>
                <a:latin typeface="Helvetica Neue" pitchFamily="34" charset="0"/>
                <a:ea typeface="Helvetica Neue" pitchFamily="34" charset="-122"/>
                <a:cs typeface="Helvetica Neue" pitchFamily="34" charset="-120"/>
              </a:rPr>
              <a:t>→</a:t>
            </a:r>
            <a:endParaRPr lang="en-US" sz="1000" dirty="0"/>
          </a:p>
        </p:txBody>
      </p:sp>
      <p:sp>
        <p:nvSpPr>
          <p:cNvPr id="51" name="Shape 48"/>
          <p:cNvSpPr/>
          <p:nvPr/>
        </p:nvSpPr>
        <p:spPr>
          <a:xfrm>
            <a:off x="3837198" y="4757738"/>
            <a:ext cx="1824056" cy="246459"/>
          </a:xfrm>
          <a:prstGeom prst="rect">
            <a:avLst/>
          </a:prstGeom>
          <a:solidFill>
            <a:srgbClr val="059669"/>
          </a:solidFill>
          <a:ln/>
        </p:spPr>
      </p:sp>
      <p:sp>
        <p:nvSpPr>
          <p:cNvPr id="52" name="Text 49"/>
          <p:cNvSpPr/>
          <p:nvPr/>
        </p:nvSpPr>
        <p:spPr>
          <a:xfrm>
            <a:off x="3837198" y="4757738"/>
            <a:ext cx="1824056" cy="246459"/>
          </a:xfrm>
          <a:prstGeom prst="rect">
            <a:avLst/>
          </a:prstGeom>
          <a:noFill/>
          <a:ln/>
        </p:spPr>
        <p:txBody>
          <a:bodyPr wrap="square" lIns="102108" tIns="68072" rIns="102108" bIns="68072" rtlCol="0" anchor="t">
            <a:spAutoFit/>
          </a:bodyPr>
          <a:lstStyle/>
          <a:p>
            <a:pPr algn="ctr" indent="0" marL="0">
              <a:buNone/>
            </a:pPr>
            <a:r>
              <a:rPr lang="en-US" sz="800" b="1" dirty="0">
                <a:solidFill>
                  <a:srgbClr val="FFFFFF"/>
                </a:solidFill>
                <a:latin typeface="Helvetica Neue" pitchFamily="34" charset="0"/>
                <a:ea typeface="Helvetica Neue" pitchFamily="34" charset="-122"/>
                <a:cs typeface="Helvetica Neue" pitchFamily="34" charset="-120"/>
              </a:rPr>
              <a:t>Response (Translated + Voice)</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3972595" cy="389334"/>
          </a:xfrm>
          <a:prstGeom prst="rect">
            <a:avLst/>
          </a:prstGeom>
          <a:noFill/>
          <a:ln/>
        </p:spPr>
        <p:txBody>
          <a:bodyPr wrap="square" lIns="0" tIns="0" rIns="0" bIns="0" rtlCol="0" anchor="t">
            <a:spAutoFit/>
          </a:bodyPr>
          <a:lstStyle/>
          <a:p>
            <a:pPr algn="l" indent="0" marL="0">
              <a:buNone/>
            </a:pPr>
            <a:r>
              <a:rPr lang="en-US" sz="2450" b="1" spc="-1" kern="0" dirty="0">
                <a:solidFill>
                  <a:srgbClr val="0F172A"/>
                </a:solidFill>
                <a:latin typeface="Courier New" pitchFamily="34" charset="0"/>
                <a:ea typeface="Courier New" pitchFamily="34" charset="-122"/>
                <a:cs typeface="Courier New" pitchFamily="34" charset="-120"/>
              </a:rPr>
              <a:t>ARCHITECTURE DIAGRAM</a:t>
            </a:r>
            <a:endParaRPr lang="en-US" sz="2450" dirty="0"/>
          </a:p>
        </p:txBody>
      </p:sp>
      <p:sp>
        <p:nvSpPr>
          <p:cNvPr id="4" name="Shape 1"/>
          <p:cNvSpPr/>
          <p:nvPr/>
        </p:nvSpPr>
        <p:spPr>
          <a:xfrm>
            <a:off x="571500" y="1143000"/>
            <a:ext cx="8001000" cy="750094"/>
          </a:xfrm>
          <a:prstGeom prst="rect">
            <a:avLst/>
          </a:prstGeom>
          <a:solidFill>
            <a:srgbClr val="FFFFFF"/>
          </a:solidFill>
          <a:ln w="9144">
            <a:solidFill>
              <a:srgbClr val="0F172A"/>
            </a:solidFill>
            <a:prstDash val="solid"/>
          </a:ln>
        </p:spPr>
      </p:sp>
      <p:sp>
        <p:nvSpPr>
          <p:cNvPr id="5" name="Text 2"/>
          <p:cNvSpPr/>
          <p:nvPr/>
        </p:nvSpPr>
        <p:spPr>
          <a:xfrm>
            <a:off x="714375" y="1250156"/>
            <a:ext cx="7715250" cy="160734"/>
          </a:xfrm>
          <a:prstGeom prst="rect">
            <a:avLst/>
          </a:prstGeom>
          <a:noFill/>
          <a:ln/>
        </p:spPr>
        <p:txBody>
          <a:bodyPr wrap="square" lIns="0" tIns="0" rIns="0" bIns="0" rtlCol="0" anchor="t">
            <a:spAutoFit/>
          </a:bodyPr>
          <a:lstStyle/>
          <a:p>
            <a:pPr algn="l" indent="0" marL="0">
              <a:buNone/>
            </a:pPr>
            <a:r>
              <a:rPr lang="en-US" sz="1000" b="1" dirty="0">
                <a:solidFill>
                  <a:srgbClr val="059669"/>
                </a:solidFill>
                <a:latin typeface="Helvetica Neue" pitchFamily="34" charset="0"/>
                <a:ea typeface="Helvetica Neue" pitchFamily="34" charset="-122"/>
                <a:cs typeface="Helvetica Neue" pitchFamily="34" charset="-120"/>
              </a:rPr>
              <a:t>LAYER 1 — USER INTERFACE</a:t>
            </a:r>
            <a:endParaRPr lang="en-US" sz="1000" dirty="0"/>
          </a:p>
        </p:txBody>
      </p:sp>
      <p:sp>
        <p:nvSpPr>
          <p:cNvPr id="6" name="Shape 3"/>
          <p:cNvSpPr/>
          <p:nvPr/>
        </p:nvSpPr>
        <p:spPr>
          <a:xfrm>
            <a:off x="714375" y="1482328"/>
            <a:ext cx="1147576" cy="289322"/>
          </a:xfrm>
          <a:prstGeom prst="rect">
            <a:avLst/>
          </a:prstGeom>
          <a:solidFill>
            <a:srgbClr val="F8FAFC"/>
          </a:solidFill>
          <a:ln w="9144">
            <a:solidFill>
              <a:srgbClr val="334155"/>
            </a:solidFill>
            <a:prstDash val="solid"/>
          </a:ln>
        </p:spPr>
      </p:sp>
      <p:sp>
        <p:nvSpPr>
          <p:cNvPr id="7" name="Text 4"/>
          <p:cNvSpPr/>
          <p:nvPr/>
        </p:nvSpPr>
        <p:spPr>
          <a:xfrm>
            <a:off x="714375" y="1482328"/>
            <a:ext cx="1147576" cy="289322"/>
          </a:xfrm>
          <a:prstGeom prst="rect">
            <a:avLst/>
          </a:prstGeom>
          <a:noFill/>
          <a:ln/>
        </p:spPr>
        <p:txBody>
          <a:bodyPr wrap="none" lIns="127508" tIns="85090" rIns="127508" bIns="85090" rtlCol="0" anchor="t">
            <a:spAutoFit/>
          </a:bodyPr>
          <a:lstStyle/>
          <a:p>
            <a:pPr algn="l" indent="0" marL="0">
              <a:buNone/>
            </a:pPr>
            <a:r>
              <a:rPr lang="en-US" sz="850" dirty="0">
                <a:solidFill>
                  <a:srgbClr val="334155"/>
                </a:solidFill>
                <a:latin typeface="Helvetica Neue" pitchFamily="34" charset="0"/>
                <a:ea typeface="Helvetica Neue" pitchFamily="34" charset="-122"/>
                <a:cs typeface="Helvetica Neue" pitchFamily="34" charset="-120"/>
              </a:rPr>
              <a:t>Web App (Next.js)</a:t>
            </a:r>
            <a:endParaRPr lang="en-US" sz="850" dirty="0"/>
          </a:p>
        </p:txBody>
      </p:sp>
      <p:sp>
        <p:nvSpPr>
          <p:cNvPr id="8" name="Shape 5"/>
          <p:cNvSpPr/>
          <p:nvPr/>
        </p:nvSpPr>
        <p:spPr>
          <a:xfrm>
            <a:off x="1919101" y="1482328"/>
            <a:ext cx="959216" cy="289322"/>
          </a:xfrm>
          <a:prstGeom prst="rect">
            <a:avLst/>
          </a:prstGeom>
          <a:solidFill>
            <a:srgbClr val="F8FAFC"/>
          </a:solidFill>
          <a:ln w="9144">
            <a:solidFill>
              <a:srgbClr val="334155"/>
            </a:solidFill>
            <a:prstDash val="solid"/>
          </a:ln>
        </p:spPr>
      </p:sp>
      <p:sp>
        <p:nvSpPr>
          <p:cNvPr id="9" name="Text 6"/>
          <p:cNvSpPr/>
          <p:nvPr/>
        </p:nvSpPr>
        <p:spPr>
          <a:xfrm>
            <a:off x="1919101" y="1482328"/>
            <a:ext cx="959216" cy="289322"/>
          </a:xfrm>
          <a:prstGeom prst="rect">
            <a:avLst/>
          </a:prstGeom>
          <a:noFill/>
          <a:ln/>
        </p:spPr>
        <p:txBody>
          <a:bodyPr wrap="none" lIns="127508" tIns="85090" rIns="127508" bIns="85090" rtlCol="0" anchor="t">
            <a:spAutoFit/>
          </a:bodyPr>
          <a:lstStyle/>
          <a:p>
            <a:pPr algn="l" indent="0" marL="0">
              <a:buNone/>
            </a:pPr>
            <a:r>
              <a:rPr lang="en-US" sz="850" dirty="0">
                <a:solidFill>
                  <a:srgbClr val="334155"/>
                </a:solidFill>
                <a:latin typeface="Helvetica Neue" pitchFamily="34" charset="0"/>
                <a:ea typeface="Helvetica Neue" pitchFamily="34" charset="-122"/>
                <a:cs typeface="Helvetica Neue" pitchFamily="34" charset="-120"/>
              </a:rPr>
              <a:t>WhatsApp Bot</a:t>
            </a:r>
            <a:endParaRPr lang="en-US" sz="850" dirty="0"/>
          </a:p>
        </p:txBody>
      </p:sp>
      <p:sp>
        <p:nvSpPr>
          <p:cNvPr id="10" name="Shape 7"/>
          <p:cNvSpPr/>
          <p:nvPr/>
        </p:nvSpPr>
        <p:spPr>
          <a:xfrm>
            <a:off x="2935467" y="1482328"/>
            <a:ext cx="1029258" cy="289322"/>
          </a:xfrm>
          <a:prstGeom prst="rect">
            <a:avLst/>
          </a:prstGeom>
          <a:solidFill>
            <a:srgbClr val="F8FAFC"/>
          </a:solidFill>
          <a:ln w="9144">
            <a:solidFill>
              <a:srgbClr val="334155"/>
            </a:solidFill>
            <a:prstDash val="solid"/>
          </a:ln>
        </p:spPr>
      </p:sp>
      <p:sp>
        <p:nvSpPr>
          <p:cNvPr id="11" name="Text 8"/>
          <p:cNvSpPr/>
          <p:nvPr/>
        </p:nvSpPr>
        <p:spPr>
          <a:xfrm>
            <a:off x="2935467" y="1482328"/>
            <a:ext cx="1029258" cy="289322"/>
          </a:xfrm>
          <a:prstGeom prst="rect">
            <a:avLst/>
          </a:prstGeom>
          <a:noFill/>
          <a:ln/>
        </p:spPr>
        <p:txBody>
          <a:bodyPr wrap="none" lIns="127508" tIns="85090" rIns="127508" bIns="85090" rtlCol="0" anchor="t">
            <a:spAutoFit/>
          </a:bodyPr>
          <a:lstStyle/>
          <a:p>
            <a:pPr algn="l" indent="0" marL="0">
              <a:buNone/>
            </a:pPr>
            <a:r>
              <a:rPr lang="en-US" sz="850" dirty="0">
                <a:solidFill>
                  <a:srgbClr val="334155"/>
                </a:solidFill>
                <a:latin typeface="Helvetica Neue" pitchFamily="34" charset="0"/>
                <a:ea typeface="Helvetica Neue" pitchFamily="34" charset="-122"/>
                <a:cs typeface="Helvetica Neue" pitchFamily="34" charset="-120"/>
              </a:rPr>
              <a:t>IVR Phone Line</a:t>
            </a:r>
            <a:endParaRPr lang="en-US" sz="850" dirty="0"/>
          </a:p>
        </p:txBody>
      </p:sp>
      <p:sp>
        <p:nvSpPr>
          <p:cNvPr id="12" name="Shape 9"/>
          <p:cNvSpPr/>
          <p:nvPr/>
        </p:nvSpPr>
        <p:spPr>
          <a:xfrm>
            <a:off x="4021875" y="1482328"/>
            <a:ext cx="1153995" cy="289322"/>
          </a:xfrm>
          <a:prstGeom prst="rect">
            <a:avLst/>
          </a:prstGeom>
          <a:solidFill>
            <a:srgbClr val="F8FAFC"/>
          </a:solidFill>
          <a:ln w="9144">
            <a:solidFill>
              <a:srgbClr val="334155"/>
            </a:solidFill>
            <a:prstDash val="solid"/>
          </a:ln>
        </p:spPr>
      </p:sp>
      <p:sp>
        <p:nvSpPr>
          <p:cNvPr id="13" name="Text 10"/>
          <p:cNvSpPr/>
          <p:nvPr/>
        </p:nvSpPr>
        <p:spPr>
          <a:xfrm>
            <a:off x="4021875" y="1482328"/>
            <a:ext cx="1153995" cy="289322"/>
          </a:xfrm>
          <a:prstGeom prst="rect">
            <a:avLst/>
          </a:prstGeom>
          <a:noFill/>
          <a:ln/>
        </p:spPr>
        <p:txBody>
          <a:bodyPr wrap="none" lIns="127508" tIns="85090" rIns="127508" bIns="85090" rtlCol="0" anchor="t">
            <a:spAutoFit/>
          </a:bodyPr>
          <a:lstStyle/>
          <a:p>
            <a:pPr algn="l" indent="0" marL="0">
              <a:buNone/>
            </a:pPr>
            <a:r>
              <a:rPr lang="en-US" sz="850" dirty="0">
                <a:solidFill>
                  <a:srgbClr val="334155"/>
                </a:solidFill>
                <a:latin typeface="Helvetica Neue" pitchFamily="34" charset="0"/>
                <a:ea typeface="Helvetica Neue" pitchFamily="34" charset="-122"/>
                <a:cs typeface="Helvetica Neue" pitchFamily="34" charset="-120"/>
              </a:rPr>
              <a:t>Offline SMS Mode</a:t>
            </a:r>
            <a:endParaRPr lang="en-US" sz="850" dirty="0"/>
          </a:p>
        </p:txBody>
      </p:sp>
      <p:sp>
        <p:nvSpPr>
          <p:cNvPr id="14" name="Shape 11"/>
          <p:cNvSpPr/>
          <p:nvPr/>
        </p:nvSpPr>
        <p:spPr>
          <a:xfrm>
            <a:off x="571500" y="2185988"/>
            <a:ext cx="8001000" cy="750094"/>
          </a:xfrm>
          <a:prstGeom prst="rect">
            <a:avLst/>
          </a:prstGeom>
          <a:solidFill>
            <a:srgbClr val="FFFFFF"/>
          </a:solidFill>
          <a:ln w="9144">
            <a:solidFill>
              <a:srgbClr val="0F172A"/>
            </a:solidFill>
            <a:prstDash val="solid"/>
          </a:ln>
        </p:spPr>
      </p:sp>
      <p:sp>
        <p:nvSpPr>
          <p:cNvPr id="15" name="Text 12"/>
          <p:cNvSpPr/>
          <p:nvPr/>
        </p:nvSpPr>
        <p:spPr>
          <a:xfrm>
            <a:off x="714375" y="2293144"/>
            <a:ext cx="7715250" cy="160734"/>
          </a:xfrm>
          <a:prstGeom prst="rect">
            <a:avLst/>
          </a:prstGeom>
          <a:noFill/>
          <a:ln/>
        </p:spPr>
        <p:txBody>
          <a:bodyPr wrap="square" lIns="0" tIns="0" rIns="0" bIns="0" rtlCol="0" anchor="t">
            <a:spAutoFit/>
          </a:bodyPr>
          <a:lstStyle/>
          <a:p>
            <a:pPr algn="l" indent="0" marL="0">
              <a:buNone/>
            </a:pPr>
            <a:r>
              <a:rPr lang="en-US" sz="1000" b="1" dirty="0">
                <a:solidFill>
                  <a:srgbClr val="059669"/>
                </a:solidFill>
                <a:latin typeface="Helvetica Neue" pitchFamily="34" charset="0"/>
                <a:ea typeface="Helvetica Neue" pitchFamily="34" charset="-122"/>
                <a:cs typeface="Helvetica Neue" pitchFamily="34" charset="-120"/>
              </a:rPr>
              <a:t>LAYER 2 — AI GATEWAY</a:t>
            </a:r>
            <a:endParaRPr lang="en-US" sz="1000" dirty="0"/>
          </a:p>
        </p:txBody>
      </p:sp>
      <p:sp>
        <p:nvSpPr>
          <p:cNvPr id="16" name="Shape 13"/>
          <p:cNvSpPr/>
          <p:nvPr/>
        </p:nvSpPr>
        <p:spPr>
          <a:xfrm>
            <a:off x="714375" y="2525316"/>
            <a:ext cx="794184" cy="289322"/>
          </a:xfrm>
          <a:prstGeom prst="rect">
            <a:avLst/>
          </a:prstGeom>
          <a:solidFill>
            <a:srgbClr val="F8FAFC"/>
          </a:solidFill>
          <a:ln w="9144">
            <a:solidFill>
              <a:srgbClr val="334155"/>
            </a:solidFill>
            <a:prstDash val="solid"/>
          </a:ln>
        </p:spPr>
      </p:sp>
      <p:sp>
        <p:nvSpPr>
          <p:cNvPr id="17" name="Text 14"/>
          <p:cNvSpPr/>
          <p:nvPr/>
        </p:nvSpPr>
        <p:spPr>
          <a:xfrm>
            <a:off x="714375" y="2525316"/>
            <a:ext cx="794184" cy="289322"/>
          </a:xfrm>
          <a:prstGeom prst="rect">
            <a:avLst/>
          </a:prstGeom>
          <a:noFill/>
          <a:ln/>
        </p:spPr>
        <p:txBody>
          <a:bodyPr wrap="none" lIns="127508" tIns="85090" rIns="127508" bIns="85090" rtlCol="0" anchor="t">
            <a:spAutoFit/>
          </a:bodyPr>
          <a:lstStyle/>
          <a:p>
            <a:pPr algn="l" indent="0" marL="0">
              <a:buNone/>
            </a:pPr>
            <a:r>
              <a:rPr lang="en-US" sz="850" dirty="0">
                <a:solidFill>
                  <a:srgbClr val="334155"/>
                </a:solidFill>
                <a:latin typeface="Helvetica Neue" pitchFamily="34" charset="0"/>
                <a:ea typeface="Helvetica Neue" pitchFamily="34" charset="-122"/>
                <a:cs typeface="Helvetica Neue" pitchFamily="34" charset="-120"/>
              </a:rPr>
              <a:t>Voice Input</a:t>
            </a:r>
            <a:endParaRPr lang="en-US" sz="850" dirty="0"/>
          </a:p>
        </p:txBody>
      </p:sp>
      <p:sp>
        <p:nvSpPr>
          <p:cNvPr id="18" name="Shape 15"/>
          <p:cNvSpPr/>
          <p:nvPr/>
        </p:nvSpPr>
        <p:spPr>
          <a:xfrm>
            <a:off x="1565709" y="2525316"/>
            <a:ext cx="1543385" cy="289322"/>
          </a:xfrm>
          <a:prstGeom prst="rect">
            <a:avLst/>
          </a:prstGeom>
          <a:solidFill>
            <a:srgbClr val="0F172A"/>
          </a:solidFill>
          <a:ln w="9144">
            <a:solidFill>
              <a:srgbClr val="0F172A"/>
            </a:solidFill>
            <a:prstDash val="solid"/>
          </a:ln>
        </p:spPr>
      </p:sp>
      <p:sp>
        <p:nvSpPr>
          <p:cNvPr id="19" name="Text 16"/>
          <p:cNvSpPr/>
          <p:nvPr/>
        </p:nvSpPr>
        <p:spPr>
          <a:xfrm>
            <a:off x="1565709" y="2525316"/>
            <a:ext cx="1543385" cy="289322"/>
          </a:xfrm>
          <a:prstGeom prst="rect">
            <a:avLst/>
          </a:prstGeom>
          <a:noFill/>
          <a:ln/>
        </p:spPr>
        <p:txBody>
          <a:bodyPr wrap="square" lIns="127508" tIns="85090" rIns="127508" bIns="85090" rtlCol="0" anchor="t">
            <a:spAutoFit/>
          </a:bodyPr>
          <a:lstStyle/>
          <a:p>
            <a:pPr algn="l" indent="0" marL="0">
              <a:buNone/>
            </a:pPr>
            <a:r>
              <a:rPr lang="en-US" sz="850" dirty="0">
                <a:solidFill>
                  <a:srgbClr val="FFFFFF"/>
                </a:solidFill>
                <a:latin typeface="Helvetica Neue" pitchFamily="34" charset="0"/>
                <a:ea typeface="Helvetica Neue" pitchFamily="34" charset="-122"/>
                <a:cs typeface="Helvetica Neue" pitchFamily="34" charset="-120"/>
              </a:rPr>
              <a:t>Whisper / BHASHINI ASR</a:t>
            </a:r>
            <a:endParaRPr lang="en-US" sz="850" dirty="0"/>
          </a:p>
        </p:txBody>
      </p:sp>
      <p:sp>
        <p:nvSpPr>
          <p:cNvPr id="20" name="Shape 17"/>
          <p:cNvSpPr/>
          <p:nvPr/>
        </p:nvSpPr>
        <p:spPr>
          <a:xfrm>
            <a:off x="3166244" y="2525316"/>
            <a:ext cx="1251775" cy="289322"/>
          </a:xfrm>
          <a:prstGeom prst="rect">
            <a:avLst/>
          </a:prstGeom>
          <a:solidFill>
            <a:srgbClr val="F8FAFC"/>
          </a:solidFill>
          <a:ln w="9144">
            <a:solidFill>
              <a:srgbClr val="334155"/>
            </a:solidFill>
            <a:prstDash val="solid"/>
          </a:ln>
        </p:spPr>
      </p:sp>
      <p:sp>
        <p:nvSpPr>
          <p:cNvPr id="21" name="Text 18"/>
          <p:cNvSpPr/>
          <p:nvPr/>
        </p:nvSpPr>
        <p:spPr>
          <a:xfrm>
            <a:off x="3166244" y="2525316"/>
            <a:ext cx="1251775" cy="289322"/>
          </a:xfrm>
          <a:prstGeom prst="rect">
            <a:avLst/>
          </a:prstGeom>
          <a:noFill/>
          <a:ln/>
        </p:spPr>
        <p:txBody>
          <a:bodyPr wrap="none" lIns="127508" tIns="85090" rIns="127508" bIns="85090" rtlCol="0" anchor="t">
            <a:spAutoFit/>
          </a:bodyPr>
          <a:lstStyle/>
          <a:p>
            <a:pPr algn="l" indent="0" marL="0">
              <a:buNone/>
            </a:pPr>
            <a:r>
              <a:rPr lang="en-US" sz="850" dirty="0">
                <a:solidFill>
                  <a:srgbClr val="334155"/>
                </a:solidFill>
                <a:latin typeface="Helvetica Neue" pitchFamily="34" charset="0"/>
                <a:ea typeface="Helvetica Neue" pitchFamily="34" charset="-122"/>
                <a:cs typeface="Helvetica Neue" pitchFamily="34" charset="-120"/>
              </a:rPr>
              <a:t>Language Detection</a:t>
            </a:r>
            <a:endParaRPr lang="en-US" sz="850" dirty="0"/>
          </a:p>
        </p:txBody>
      </p:sp>
      <p:sp>
        <p:nvSpPr>
          <p:cNvPr id="22" name="Shape 19"/>
          <p:cNvSpPr/>
          <p:nvPr/>
        </p:nvSpPr>
        <p:spPr>
          <a:xfrm>
            <a:off x="4475169" y="2525316"/>
            <a:ext cx="1359322" cy="289322"/>
          </a:xfrm>
          <a:prstGeom prst="rect">
            <a:avLst/>
          </a:prstGeom>
          <a:solidFill>
            <a:srgbClr val="0F172A"/>
          </a:solidFill>
          <a:ln w="9144">
            <a:solidFill>
              <a:srgbClr val="0F172A"/>
            </a:solidFill>
            <a:prstDash val="solid"/>
          </a:ln>
        </p:spPr>
      </p:sp>
      <p:sp>
        <p:nvSpPr>
          <p:cNvPr id="23" name="Text 20"/>
          <p:cNvSpPr/>
          <p:nvPr/>
        </p:nvSpPr>
        <p:spPr>
          <a:xfrm>
            <a:off x="4475169" y="2525316"/>
            <a:ext cx="1359322" cy="289322"/>
          </a:xfrm>
          <a:prstGeom prst="rect">
            <a:avLst/>
          </a:prstGeom>
          <a:noFill/>
          <a:ln/>
        </p:spPr>
        <p:txBody>
          <a:bodyPr wrap="square" lIns="127508" tIns="85090" rIns="127508" bIns="85090" rtlCol="0" anchor="t">
            <a:spAutoFit/>
          </a:bodyPr>
          <a:lstStyle/>
          <a:p>
            <a:pPr algn="l" indent="0" marL="0">
              <a:buNone/>
            </a:pPr>
            <a:r>
              <a:rPr lang="en-US" sz="850" dirty="0">
                <a:solidFill>
                  <a:srgbClr val="FFFFFF"/>
                </a:solidFill>
                <a:latin typeface="Helvetica Neue" pitchFamily="34" charset="0"/>
                <a:ea typeface="Helvetica Neue" pitchFamily="34" charset="-122"/>
                <a:cs typeface="Helvetica Neue" pitchFamily="34" charset="-120"/>
              </a:rPr>
              <a:t>BHASHINI Translation</a:t>
            </a:r>
            <a:endParaRPr lang="en-US" sz="850" dirty="0"/>
          </a:p>
        </p:txBody>
      </p:sp>
      <p:sp>
        <p:nvSpPr>
          <p:cNvPr id="24" name="Shape 21"/>
          <p:cNvSpPr/>
          <p:nvPr/>
        </p:nvSpPr>
        <p:spPr>
          <a:xfrm>
            <a:off x="571500" y="3228975"/>
            <a:ext cx="8001000" cy="750094"/>
          </a:xfrm>
          <a:prstGeom prst="rect">
            <a:avLst/>
          </a:prstGeom>
          <a:solidFill>
            <a:srgbClr val="FFFFFF"/>
          </a:solidFill>
          <a:ln w="9144">
            <a:solidFill>
              <a:srgbClr val="0F172A"/>
            </a:solidFill>
            <a:prstDash val="solid"/>
          </a:ln>
        </p:spPr>
      </p:sp>
      <p:sp>
        <p:nvSpPr>
          <p:cNvPr id="25" name="Text 22"/>
          <p:cNvSpPr/>
          <p:nvPr/>
        </p:nvSpPr>
        <p:spPr>
          <a:xfrm>
            <a:off x="714375" y="3336131"/>
            <a:ext cx="7715250" cy="160734"/>
          </a:xfrm>
          <a:prstGeom prst="rect">
            <a:avLst/>
          </a:prstGeom>
          <a:noFill/>
          <a:ln/>
        </p:spPr>
        <p:txBody>
          <a:bodyPr wrap="square" lIns="0" tIns="0" rIns="0" bIns="0" rtlCol="0" anchor="t">
            <a:spAutoFit/>
          </a:bodyPr>
          <a:lstStyle/>
          <a:p>
            <a:pPr algn="l" indent="0" marL="0">
              <a:buNone/>
            </a:pPr>
            <a:r>
              <a:rPr lang="en-US" sz="1000" b="1" dirty="0">
                <a:solidFill>
                  <a:srgbClr val="059669"/>
                </a:solidFill>
                <a:latin typeface="Helvetica Neue" pitchFamily="34" charset="0"/>
                <a:ea typeface="Helvetica Neue" pitchFamily="34" charset="-122"/>
                <a:cs typeface="Helvetica Neue" pitchFamily="34" charset="-120"/>
              </a:rPr>
              <a:t>LAYER 3 — INTELLIGENCE CORE</a:t>
            </a:r>
            <a:endParaRPr lang="en-US" sz="1000" dirty="0"/>
          </a:p>
        </p:txBody>
      </p:sp>
      <p:sp>
        <p:nvSpPr>
          <p:cNvPr id="26" name="Shape 23"/>
          <p:cNvSpPr/>
          <p:nvPr/>
        </p:nvSpPr>
        <p:spPr>
          <a:xfrm>
            <a:off x="714375" y="3568303"/>
            <a:ext cx="1225990" cy="289322"/>
          </a:xfrm>
          <a:prstGeom prst="rect">
            <a:avLst/>
          </a:prstGeom>
          <a:solidFill>
            <a:srgbClr val="0F172A"/>
          </a:solidFill>
          <a:ln w="9144">
            <a:solidFill>
              <a:srgbClr val="0F172A"/>
            </a:solidFill>
            <a:prstDash val="solid"/>
          </a:ln>
        </p:spPr>
      </p:sp>
      <p:sp>
        <p:nvSpPr>
          <p:cNvPr id="27" name="Text 24"/>
          <p:cNvSpPr/>
          <p:nvPr/>
        </p:nvSpPr>
        <p:spPr>
          <a:xfrm>
            <a:off x="714375" y="3568303"/>
            <a:ext cx="1225990" cy="289322"/>
          </a:xfrm>
          <a:prstGeom prst="rect">
            <a:avLst/>
          </a:prstGeom>
          <a:noFill/>
          <a:ln/>
        </p:spPr>
        <p:txBody>
          <a:bodyPr wrap="none" lIns="127508" tIns="85090" rIns="127508" bIns="85090" rtlCol="0" anchor="t">
            <a:spAutoFit/>
          </a:bodyPr>
          <a:lstStyle/>
          <a:p>
            <a:pPr algn="l" indent="0" marL="0">
              <a:buNone/>
            </a:pPr>
            <a:r>
              <a:rPr lang="en-US" sz="850" dirty="0">
                <a:solidFill>
                  <a:srgbClr val="FFFFFF"/>
                </a:solidFill>
                <a:latin typeface="Helvetica Neue" pitchFamily="34" charset="0"/>
                <a:ea typeface="Helvetica Neue" pitchFamily="34" charset="-122"/>
                <a:cs typeface="Helvetica Neue" pitchFamily="34" charset="-120"/>
              </a:rPr>
              <a:t>Hybrid RAG Engine</a:t>
            </a:r>
            <a:endParaRPr lang="en-US" sz="850" dirty="0"/>
          </a:p>
        </p:txBody>
      </p:sp>
      <p:sp>
        <p:nvSpPr>
          <p:cNvPr id="28" name="Shape 25"/>
          <p:cNvSpPr/>
          <p:nvPr/>
        </p:nvSpPr>
        <p:spPr>
          <a:xfrm>
            <a:off x="1997515" y="3568303"/>
            <a:ext cx="1124359" cy="289322"/>
          </a:xfrm>
          <a:prstGeom prst="rect">
            <a:avLst/>
          </a:prstGeom>
          <a:solidFill>
            <a:srgbClr val="F8FAFC"/>
          </a:solidFill>
          <a:ln w="9144">
            <a:solidFill>
              <a:srgbClr val="334155"/>
            </a:solidFill>
            <a:prstDash val="solid"/>
          </a:ln>
        </p:spPr>
      </p:sp>
      <p:sp>
        <p:nvSpPr>
          <p:cNvPr id="29" name="Text 26"/>
          <p:cNvSpPr/>
          <p:nvPr/>
        </p:nvSpPr>
        <p:spPr>
          <a:xfrm>
            <a:off x="1997515" y="3568303"/>
            <a:ext cx="1124359" cy="289322"/>
          </a:xfrm>
          <a:prstGeom prst="rect">
            <a:avLst/>
          </a:prstGeom>
          <a:noFill/>
          <a:ln/>
        </p:spPr>
        <p:txBody>
          <a:bodyPr wrap="none" lIns="127508" tIns="85090" rIns="127508" bIns="85090" rtlCol="0" anchor="t">
            <a:spAutoFit/>
          </a:bodyPr>
          <a:lstStyle/>
          <a:p>
            <a:pPr algn="l" indent="0" marL="0">
              <a:buNone/>
            </a:pPr>
            <a:r>
              <a:rPr lang="en-US" sz="850" dirty="0">
                <a:solidFill>
                  <a:srgbClr val="334155"/>
                </a:solidFill>
                <a:latin typeface="Helvetica Neue" pitchFamily="34" charset="0"/>
                <a:ea typeface="Helvetica Neue" pitchFamily="34" charset="-122"/>
                <a:cs typeface="Helvetica Neue" pitchFamily="34" charset="-120"/>
              </a:rPr>
              <a:t>Qdrant Vector DB</a:t>
            </a:r>
            <a:endParaRPr lang="en-US" sz="850" dirty="0"/>
          </a:p>
        </p:txBody>
      </p:sp>
      <p:sp>
        <p:nvSpPr>
          <p:cNvPr id="30" name="Shape 27"/>
          <p:cNvSpPr/>
          <p:nvPr/>
        </p:nvSpPr>
        <p:spPr>
          <a:xfrm>
            <a:off x="3179025" y="3568303"/>
            <a:ext cx="1143614" cy="289322"/>
          </a:xfrm>
          <a:prstGeom prst="rect">
            <a:avLst/>
          </a:prstGeom>
          <a:solidFill>
            <a:srgbClr val="F8FAFC"/>
          </a:solidFill>
          <a:ln w="9144">
            <a:solidFill>
              <a:srgbClr val="334155"/>
            </a:solidFill>
            <a:prstDash val="solid"/>
          </a:ln>
        </p:spPr>
      </p:sp>
      <p:sp>
        <p:nvSpPr>
          <p:cNvPr id="31" name="Text 28"/>
          <p:cNvSpPr/>
          <p:nvPr/>
        </p:nvSpPr>
        <p:spPr>
          <a:xfrm>
            <a:off x="3179025" y="3568303"/>
            <a:ext cx="1143614" cy="289322"/>
          </a:xfrm>
          <a:prstGeom prst="rect">
            <a:avLst/>
          </a:prstGeom>
          <a:noFill/>
          <a:ln/>
        </p:spPr>
        <p:txBody>
          <a:bodyPr wrap="none" lIns="127508" tIns="85090" rIns="127508" bIns="85090" rtlCol="0" anchor="t">
            <a:spAutoFit/>
          </a:bodyPr>
          <a:lstStyle/>
          <a:p>
            <a:pPr algn="l" indent="0" marL="0">
              <a:buNone/>
            </a:pPr>
            <a:r>
              <a:rPr lang="en-US" sz="850" dirty="0">
                <a:solidFill>
                  <a:srgbClr val="334155"/>
                </a:solidFill>
                <a:latin typeface="Helvetica Neue" pitchFamily="34" charset="0"/>
                <a:ea typeface="Helvetica Neue" pitchFamily="34" charset="-122"/>
                <a:cs typeface="Helvetica Neue" pitchFamily="34" charset="-120"/>
              </a:rPr>
              <a:t>Knowledge Graph</a:t>
            </a:r>
            <a:endParaRPr lang="en-US" sz="850" dirty="0"/>
          </a:p>
        </p:txBody>
      </p:sp>
      <p:sp>
        <p:nvSpPr>
          <p:cNvPr id="32" name="Shape 29"/>
          <p:cNvSpPr/>
          <p:nvPr/>
        </p:nvSpPr>
        <p:spPr>
          <a:xfrm>
            <a:off x="4379788" y="3568303"/>
            <a:ext cx="1060903" cy="289322"/>
          </a:xfrm>
          <a:prstGeom prst="rect">
            <a:avLst/>
          </a:prstGeom>
          <a:solidFill>
            <a:srgbClr val="0F172A"/>
          </a:solidFill>
          <a:ln w="9144">
            <a:solidFill>
              <a:srgbClr val="0F172A"/>
            </a:solidFill>
            <a:prstDash val="solid"/>
          </a:ln>
        </p:spPr>
      </p:sp>
      <p:sp>
        <p:nvSpPr>
          <p:cNvPr id="33" name="Text 30"/>
          <p:cNvSpPr/>
          <p:nvPr/>
        </p:nvSpPr>
        <p:spPr>
          <a:xfrm>
            <a:off x="4379788" y="3568303"/>
            <a:ext cx="1060903" cy="289322"/>
          </a:xfrm>
          <a:prstGeom prst="rect">
            <a:avLst/>
          </a:prstGeom>
          <a:noFill/>
          <a:ln/>
        </p:spPr>
        <p:txBody>
          <a:bodyPr wrap="none" lIns="127508" tIns="85090" rIns="127508" bIns="85090" rtlCol="0" anchor="t">
            <a:spAutoFit/>
          </a:bodyPr>
          <a:lstStyle/>
          <a:p>
            <a:pPr algn="l" indent="0" marL="0">
              <a:buNone/>
            </a:pPr>
            <a:r>
              <a:rPr lang="en-US" sz="850" dirty="0">
                <a:solidFill>
                  <a:srgbClr val="FFFFFF"/>
                </a:solidFill>
                <a:latin typeface="Helvetica Neue" pitchFamily="34" charset="0"/>
                <a:ea typeface="Helvetica Neue" pitchFamily="34" charset="-122"/>
                <a:cs typeface="Helvetica Neue" pitchFamily="34" charset="-120"/>
              </a:rPr>
              <a:t>Eligibility Engine</a:t>
            </a:r>
            <a:endParaRPr lang="en-US" sz="850" dirty="0"/>
          </a:p>
        </p:txBody>
      </p:sp>
      <p:sp>
        <p:nvSpPr>
          <p:cNvPr id="34" name="Shape 31"/>
          <p:cNvSpPr/>
          <p:nvPr/>
        </p:nvSpPr>
        <p:spPr>
          <a:xfrm>
            <a:off x="5497841" y="3568303"/>
            <a:ext cx="838498" cy="289322"/>
          </a:xfrm>
          <a:prstGeom prst="rect">
            <a:avLst/>
          </a:prstGeom>
          <a:solidFill>
            <a:srgbClr val="0F172A"/>
          </a:solidFill>
          <a:ln w="9144">
            <a:solidFill>
              <a:srgbClr val="0F172A"/>
            </a:solidFill>
            <a:prstDash val="solid"/>
          </a:ln>
        </p:spPr>
      </p:sp>
      <p:sp>
        <p:nvSpPr>
          <p:cNvPr id="35" name="Text 32"/>
          <p:cNvSpPr/>
          <p:nvPr/>
        </p:nvSpPr>
        <p:spPr>
          <a:xfrm>
            <a:off x="5497841" y="3568303"/>
            <a:ext cx="838498" cy="289322"/>
          </a:xfrm>
          <a:prstGeom prst="rect">
            <a:avLst/>
          </a:prstGeom>
          <a:noFill/>
          <a:ln/>
        </p:spPr>
        <p:txBody>
          <a:bodyPr wrap="none" lIns="127508" tIns="85090" rIns="127508" bIns="85090" rtlCol="0" anchor="t">
            <a:spAutoFit/>
          </a:bodyPr>
          <a:lstStyle/>
          <a:p>
            <a:pPr algn="l" indent="0" marL="0">
              <a:buNone/>
            </a:pPr>
            <a:r>
              <a:rPr lang="en-US" sz="850" dirty="0">
                <a:solidFill>
                  <a:srgbClr val="FFFFFF"/>
                </a:solidFill>
                <a:latin typeface="Helvetica Neue" pitchFamily="34" charset="0"/>
                <a:ea typeface="Helvetica Neue" pitchFamily="34" charset="-122"/>
                <a:cs typeface="Helvetica Neue" pitchFamily="34" charset="-120"/>
              </a:rPr>
              <a:t>PaddleOCR</a:t>
            </a:r>
            <a:endParaRPr lang="en-US" sz="850" dirty="0"/>
          </a:p>
        </p:txBody>
      </p:sp>
      <p:sp>
        <p:nvSpPr>
          <p:cNvPr id="36" name="Shape 33"/>
          <p:cNvSpPr/>
          <p:nvPr/>
        </p:nvSpPr>
        <p:spPr>
          <a:xfrm>
            <a:off x="571500" y="4271963"/>
            <a:ext cx="8001000" cy="750094"/>
          </a:xfrm>
          <a:prstGeom prst="rect">
            <a:avLst/>
          </a:prstGeom>
          <a:solidFill>
            <a:srgbClr val="FFFFFF"/>
          </a:solidFill>
          <a:ln w="9144">
            <a:solidFill>
              <a:srgbClr val="0F172A"/>
            </a:solidFill>
            <a:prstDash val="solid"/>
          </a:ln>
        </p:spPr>
      </p:sp>
      <p:sp>
        <p:nvSpPr>
          <p:cNvPr id="37" name="Text 34"/>
          <p:cNvSpPr/>
          <p:nvPr/>
        </p:nvSpPr>
        <p:spPr>
          <a:xfrm>
            <a:off x="714375" y="4379119"/>
            <a:ext cx="7715250" cy="160734"/>
          </a:xfrm>
          <a:prstGeom prst="rect">
            <a:avLst/>
          </a:prstGeom>
          <a:noFill/>
          <a:ln/>
        </p:spPr>
        <p:txBody>
          <a:bodyPr wrap="square" lIns="0" tIns="0" rIns="0" bIns="0" rtlCol="0" anchor="t">
            <a:spAutoFit/>
          </a:bodyPr>
          <a:lstStyle/>
          <a:p>
            <a:pPr algn="l" indent="0" marL="0">
              <a:buNone/>
            </a:pPr>
            <a:r>
              <a:rPr lang="en-US" sz="1000" b="1" dirty="0">
                <a:solidFill>
                  <a:srgbClr val="059669"/>
                </a:solidFill>
                <a:latin typeface="Helvetica Neue" pitchFamily="34" charset="0"/>
                <a:ea typeface="Helvetica Neue" pitchFamily="34" charset="-122"/>
                <a:cs typeface="Helvetica Neue" pitchFamily="34" charset="-120"/>
              </a:rPr>
              <a:t>LAYER 4 — OUTPUT &amp; ACTION</a:t>
            </a:r>
            <a:endParaRPr lang="en-US" sz="1000" dirty="0"/>
          </a:p>
        </p:txBody>
      </p:sp>
      <p:sp>
        <p:nvSpPr>
          <p:cNvPr id="38" name="Shape 35"/>
          <p:cNvSpPr/>
          <p:nvPr/>
        </p:nvSpPr>
        <p:spPr>
          <a:xfrm>
            <a:off x="714375" y="4611291"/>
            <a:ext cx="1874118" cy="289322"/>
          </a:xfrm>
          <a:prstGeom prst="rect">
            <a:avLst/>
          </a:prstGeom>
          <a:solidFill>
            <a:srgbClr val="F8FAFC"/>
          </a:solidFill>
          <a:ln w="9144">
            <a:solidFill>
              <a:srgbClr val="334155"/>
            </a:solidFill>
            <a:prstDash val="solid"/>
          </a:ln>
        </p:spPr>
      </p:sp>
      <p:sp>
        <p:nvSpPr>
          <p:cNvPr id="39" name="Text 36"/>
          <p:cNvSpPr/>
          <p:nvPr/>
        </p:nvSpPr>
        <p:spPr>
          <a:xfrm>
            <a:off x="714375" y="4611291"/>
            <a:ext cx="1874118" cy="289322"/>
          </a:xfrm>
          <a:prstGeom prst="rect">
            <a:avLst/>
          </a:prstGeom>
          <a:noFill/>
          <a:ln/>
        </p:spPr>
        <p:txBody>
          <a:bodyPr wrap="square" lIns="127508" tIns="85090" rIns="127508" bIns="85090" rtlCol="0" anchor="t">
            <a:spAutoFit/>
          </a:bodyPr>
          <a:lstStyle/>
          <a:p>
            <a:pPr algn="l" indent="0" marL="0">
              <a:buNone/>
            </a:pPr>
            <a:r>
              <a:rPr lang="en-US" sz="850" dirty="0">
                <a:solidFill>
                  <a:srgbClr val="334155"/>
                </a:solidFill>
                <a:latin typeface="Helvetica Neue" pitchFamily="34" charset="0"/>
                <a:ea typeface="Helvetica Neue" pitchFamily="34" charset="-122"/>
                <a:cs typeface="Helvetica Neue" pitchFamily="34" charset="-120"/>
              </a:rPr>
              <a:t>Personalized Recommendations</a:t>
            </a:r>
            <a:endParaRPr lang="en-US" sz="850" dirty="0"/>
          </a:p>
        </p:txBody>
      </p:sp>
      <p:sp>
        <p:nvSpPr>
          <p:cNvPr id="40" name="Shape 37"/>
          <p:cNvSpPr/>
          <p:nvPr/>
        </p:nvSpPr>
        <p:spPr>
          <a:xfrm>
            <a:off x="2645643" y="4611291"/>
            <a:ext cx="1423057" cy="289322"/>
          </a:xfrm>
          <a:prstGeom prst="rect">
            <a:avLst/>
          </a:prstGeom>
          <a:solidFill>
            <a:srgbClr val="F8FAFC"/>
          </a:solidFill>
          <a:ln w="9144">
            <a:solidFill>
              <a:srgbClr val="334155"/>
            </a:solidFill>
            <a:prstDash val="solid"/>
          </a:ln>
        </p:spPr>
      </p:sp>
      <p:sp>
        <p:nvSpPr>
          <p:cNvPr id="41" name="Text 38"/>
          <p:cNvSpPr/>
          <p:nvPr/>
        </p:nvSpPr>
        <p:spPr>
          <a:xfrm>
            <a:off x="2645643" y="4611291"/>
            <a:ext cx="1423057" cy="289322"/>
          </a:xfrm>
          <a:prstGeom prst="rect">
            <a:avLst/>
          </a:prstGeom>
          <a:noFill/>
          <a:ln/>
        </p:spPr>
        <p:txBody>
          <a:bodyPr wrap="square" lIns="127508" tIns="85090" rIns="127508" bIns="85090" rtlCol="0" anchor="t">
            <a:spAutoFit/>
          </a:bodyPr>
          <a:lstStyle/>
          <a:p>
            <a:pPr algn="l" indent="0" marL="0">
              <a:buNone/>
            </a:pPr>
            <a:r>
              <a:rPr lang="en-US" sz="850" dirty="0">
                <a:solidFill>
                  <a:srgbClr val="334155"/>
                </a:solidFill>
                <a:latin typeface="Helvetica Neue" pitchFamily="34" charset="0"/>
                <a:ea typeface="Helvetica Neue" pitchFamily="34" charset="-122"/>
                <a:cs typeface="Helvetica Neue" pitchFamily="34" charset="-120"/>
              </a:rPr>
              <a:t>Step-by-Step Roadmap</a:t>
            </a:r>
            <a:endParaRPr lang="en-US" sz="850" dirty="0"/>
          </a:p>
        </p:txBody>
      </p:sp>
      <p:sp>
        <p:nvSpPr>
          <p:cNvPr id="42" name="Shape 39"/>
          <p:cNvSpPr/>
          <p:nvPr/>
        </p:nvSpPr>
        <p:spPr>
          <a:xfrm>
            <a:off x="4125850" y="4611291"/>
            <a:ext cx="1035397" cy="289322"/>
          </a:xfrm>
          <a:prstGeom prst="rect">
            <a:avLst/>
          </a:prstGeom>
          <a:solidFill>
            <a:srgbClr val="F8FAFC"/>
          </a:solidFill>
          <a:ln w="9144">
            <a:solidFill>
              <a:srgbClr val="334155"/>
            </a:solidFill>
            <a:prstDash val="solid"/>
          </a:ln>
        </p:spPr>
      </p:sp>
      <p:sp>
        <p:nvSpPr>
          <p:cNvPr id="43" name="Text 40"/>
          <p:cNvSpPr/>
          <p:nvPr/>
        </p:nvSpPr>
        <p:spPr>
          <a:xfrm>
            <a:off x="4125850" y="4611291"/>
            <a:ext cx="1035397" cy="289322"/>
          </a:xfrm>
          <a:prstGeom prst="rect">
            <a:avLst/>
          </a:prstGeom>
          <a:noFill/>
          <a:ln/>
        </p:spPr>
        <p:txBody>
          <a:bodyPr wrap="none" lIns="127508" tIns="85090" rIns="127508" bIns="85090" rtlCol="0" anchor="t">
            <a:spAutoFit/>
          </a:bodyPr>
          <a:lstStyle/>
          <a:p>
            <a:pPr algn="l" indent="0" marL="0">
              <a:buNone/>
            </a:pPr>
            <a:r>
              <a:rPr lang="en-US" sz="850" dirty="0">
                <a:solidFill>
                  <a:srgbClr val="334155"/>
                </a:solidFill>
                <a:latin typeface="Helvetica Neue" pitchFamily="34" charset="0"/>
                <a:ea typeface="Helvetica Neue" pitchFamily="34" charset="-122"/>
                <a:cs typeface="Helvetica Neue" pitchFamily="34" charset="-120"/>
              </a:rPr>
              <a:t>Scam Detection</a:t>
            </a:r>
            <a:endParaRPr lang="en-US" sz="850" dirty="0"/>
          </a:p>
        </p:txBody>
      </p:sp>
      <p:sp>
        <p:nvSpPr>
          <p:cNvPr id="44" name="Shape 41"/>
          <p:cNvSpPr/>
          <p:nvPr/>
        </p:nvSpPr>
        <p:spPr>
          <a:xfrm>
            <a:off x="5218398" y="4611291"/>
            <a:ext cx="1175147" cy="289322"/>
          </a:xfrm>
          <a:prstGeom prst="rect">
            <a:avLst/>
          </a:prstGeom>
          <a:solidFill>
            <a:srgbClr val="F8FAFC"/>
          </a:solidFill>
          <a:ln w="9144">
            <a:solidFill>
              <a:srgbClr val="334155"/>
            </a:solidFill>
            <a:prstDash val="solid"/>
          </a:ln>
        </p:spPr>
      </p:sp>
      <p:sp>
        <p:nvSpPr>
          <p:cNvPr id="45" name="Text 42"/>
          <p:cNvSpPr/>
          <p:nvPr/>
        </p:nvSpPr>
        <p:spPr>
          <a:xfrm>
            <a:off x="5218398" y="4611291"/>
            <a:ext cx="1175147" cy="289322"/>
          </a:xfrm>
          <a:prstGeom prst="rect">
            <a:avLst/>
          </a:prstGeom>
          <a:noFill/>
          <a:ln/>
        </p:spPr>
        <p:txBody>
          <a:bodyPr wrap="none" lIns="127508" tIns="85090" rIns="127508" bIns="85090" rtlCol="0" anchor="t">
            <a:spAutoFit/>
          </a:bodyPr>
          <a:lstStyle/>
          <a:p>
            <a:pPr algn="l" indent="0" marL="0">
              <a:buNone/>
            </a:pPr>
            <a:r>
              <a:rPr lang="en-US" sz="850" dirty="0">
                <a:solidFill>
                  <a:srgbClr val="334155"/>
                </a:solidFill>
                <a:latin typeface="Helvetica Neue" pitchFamily="34" charset="0"/>
                <a:ea typeface="Helvetica Neue" pitchFamily="34" charset="-122"/>
                <a:cs typeface="Helvetica Neue" pitchFamily="34" charset="-120"/>
              </a:rPr>
              <a:t>Complaint Drafting</a:t>
            </a:r>
            <a:endParaRPr lang="en-US" sz="850" dirty="0"/>
          </a:p>
        </p:txBody>
      </p:sp>
      <p:sp>
        <p:nvSpPr>
          <p:cNvPr id="46" name="Shape 43"/>
          <p:cNvSpPr/>
          <p:nvPr/>
        </p:nvSpPr>
        <p:spPr>
          <a:xfrm>
            <a:off x="6450695" y="4611291"/>
            <a:ext cx="1014022" cy="289322"/>
          </a:xfrm>
          <a:prstGeom prst="rect">
            <a:avLst/>
          </a:prstGeom>
          <a:solidFill>
            <a:srgbClr val="0F172A"/>
          </a:solidFill>
          <a:ln w="9144">
            <a:solidFill>
              <a:srgbClr val="0F172A"/>
            </a:solidFill>
            <a:prstDash val="solid"/>
          </a:ln>
        </p:spPr>
      </p:sp>
      <p:sp>
        <p:nvSpPr>
          <p:cNvPr id="47" name="Text 44"/>
          <p:cNvSpPr/>
          <p:nvPr/>
        </p:nvSpPr>
        <p:spPr>
          <a:xfrm>
            <a:off x="6450695" y="4611291"/>
            <a:ext cx="1014022" cy="289322"/>
          </a:xfrm>
          <a:prstGeom prst="rect">
            <a:avLst/>
          </a:prstGeom>
          <a:noFill/>
          <a:ln/>
        </p:spPr>
        <p:txBody>
          <a:bodyPr wrap="none" lIns="127508" tIns="85090" rIns="127508" bIns="85090" rtlCol="0" anchor="t">
            <a:spAutoFit/>
          </a:bodyPr>
          <a:lstStyle/>
          <a:p>
            <a:pPr algn="l" indent="0" marL="0">
              <a:buNone/>
            </a:pPr>
            <a:r>
              <a:rPr lang="en-US" sz="850" dirty="0">
                <a:solidFill>
                  <a:srgbClr val="FFFFFF"/>
                </a:solidFill>
                <a:latin typeface="Helvetica Neue" pitchFamily="34" charset="0"/>
                <a:ea typeface="Helvetica Neue" pitchFamily="34" charset="-122"/>
                <a:cs typeface="Helvetica Neue" pitchFamily="34" charset="-120"/>
              </a:rPr>
              <a:t>BHASHINI TTS</a:t>
            </a:r>
            <a:endParaRPr lang="en-US" sz="850" dirty="0"/>
          </a:p>
        </p:txBody>
      </p:sp>
      <p:sp>
        <p:nvSpPr>
          <p:cNvPr id="48" name="Shape 45"/>
          <p:cNvSpPr/>
          <p:nvPr/>
        </p:nvSpPr>
        <p:spPr>
          <a:xfrm>
            <a:off x="571500" y="5314950"/>
            <a:ext cx="8001000" cy="750094"/>
          </a:xfrm>
          <a:prstGeom prst="rect">
            <a:avLst/>
          </a:prstGeom>
          <a:solidFill>
            <a:srgbClr val="FFFFFF"/>
          </a:solidFill>
          <a:ln w="9144">
            <a:solidFill>
              <a:srgbClr val="0F172A"/>
            </a:solidFill>
            <a:prstDash val="solid"/>
          </a:ln>
        </p:spPr>
      </p:sp>
      <p:sp>
        <p:nvSpPr>
          <p:cNvPr id="49" name="Text 46"/>
          <p:cNvSpPr/>
          <p:nvPr/>
        </p:nvSpPr>
        <p:spPr>
          <a:xfrm>
            <a:off x="714375" y="5422106"/>
            <a:ext cx="7715250" cy="160734"/>
          </a:xfrm>
          <a:prstGeom prst="rect">
            <a:avLst/>
          </a:prstGeom>
          <a:noFill/>
          <a:ln/>
        </p:spPr>
        <p:txBody>
          <a:bodyPr wrap="square" lIns="0" tIns="0" rIns="0" bIns="0" rtlCol="0" anchor="t">
            <a:spAutoFit/>
          </a:bodyPr>
          <a:lstStyle/>
          <a:p>
            <a:pPr algn="l" indent="0" marL="0">
              <a:buNone/>
            </a:pPr>
            <a:r>
              <a:rPr lang="en-US" sz="1000" b="1" dirty="0">
                <a:solidFill>
                  <a:srgbClr val="059669"/>
                </a:solidFill>
                <a:latin typeface="Helvetica Neue" pitchFamily="34" charset="0"/>
                <a:ea typeface="Helvetica Neue" pitchFamily="34" charset="-122"/>
                <a:cs typeface="Helvetica Neue" pitchFamily="34" charset="-120"/>
              </a:rPr>
              <a:t>LAYER 5 — DATA LAYER &amp; INFRASTRUCTURE</a:t>
            </a:r>
            <a:endParaRPr lang="en-US" sz="1000" dirty="0"/>
          </a:p>
        </p:txBody>
      </p:sp>
      <p:sp>
        <p:nvSpPr>
          <p:cNvPr id="50" name="Shape 47"/>
          <p:cNvSpPr/>
          <p:nvPr/>
        </p:nvSpPr>
        <p:spPr>
          <a:xfrm>
            <a:off x="714375" y="5654278"/>
            <a:ext cx="851222" cy="289322"/>
          </a:xfrm>
          <a:prstGeom prst="rect">
            <a:avLst/>
          </a:prstGeom>
          <a:solidFill>
            <a:srgbClr val="F8FAFC"/>
          </a:solidFill>
          <a:ln w="9144">
            <a:solidFill>
              <a:srgbClr val="334155"/>
            </a:solidFill>
            <a:prstDash val="solid"/>
          </a:ln>
        </p:spPr>
      </p:sp>
      <p:sp>
        <p:nvSpPr>
          <p:cNvPr id="51" name="Text 48"/>
          <p:cNvSpPr/>
          <p:nvPr/>
        </p:nvSpPr>
        <p:spPr>
          <a:xfrm>
            <a:off x="714375" y="5654278"/>
            <a:ext cx="851222" cy="289322"/>
          </a:xfrm>
          <a:prstGeom prst="rect">
            <a:avLst/>
          </a:prstGeom>
          <a:noFill/>
          <a:ln/>
        </p:spPr>
        <p:txBody>
          <a:bodyPr wrap="none" lIns="127508" tIns="85090" rIns="127508" bIns="85090" rtlCol="0" anchor="t">
            <a:spAutoFit/>
          </a:bodyPr>
          <a:lstStyle/>
          <a:p>
            <a:pPr algn="l" indent="0" marL="0">
              <a:buNone/>
            </a:pPr>
            <a:r>
              <a:rPr lang="en-US" sz="850" dirty="0">
                <a:solidFill>
                  <a:srgbClr val="334155"/>
                </a:solidFill>
                <a:latin typeface="Helvetica Neue" pitchFamily="34" charset="0"/>
                <a:ea typeface="Helvetica Neue" pitchFamily="34" charset="-122"/>
                <a:cs typeface="Helvetica Neue" pitchFamily="34" charset="-120"/>
              </a:rPr>
              <a:t>PostgreSQL</a:t>
            </a:r>
            <a:endParaRPr lang="en-US" sz="850" dirty="0"/>
          </a:p>
        </p:txBody>
      </p:sp>
      <p:sp>
        <p:nvSpPr>
          <p:cNvPr id="52" name="Shape 49"/>
          <p:cNvSpPr/>
          <p:nvPr/>
        </p:nvSpPr>
        <p:spPr>
          <a:xfrm>
            <a:off x="1622747" y="5654278"/>
            <a:ext cx="578030" cy="289322"/>
          </a:xfrm>
          <a:prstGeom prst="rect">
            <a:avLst/>
          </a:prstGeom>
          <a:solidFill>
            <a:srgbClr val="F8FAFC"/>
          </a:solidFill>
          <a:ln w="9144">
            <a:solidFill>
              <a:srgbClr val="334155"/>
            </a:solidFill>
            <a:prstDash val="solid"/>
          </a:ln>
        </p:spPr>
      </p:sp>
      <p:sp>
        <p:nvSpPr>
          <p:cNvPr id="53" name="Text 50"/>
          <p:cNvSpPr/>
          <p:nvPr/>
        </p:nvSpPr>
        <p:spPr>
          <a:xfrm>
            <a:off x="1622747" y="5654278"/>
            <a:ext cx="578030" cy="289322"/>
          </a:xfrm>
          <a:prstGeom prst="rect">
            <a:avLst/>
          </a:prstGeom>
          <a:noFill/>
          <a:ln/>
        </p:spPr>
        <p:txBody>
          <a:bodyPr wrap="none" lIns="127508" tIns="85090" rIns="127508" bIns="85090" rtlCol="0" anchor="t">
            <a:spAutoFit/>
          </a:bodyPr>
          <a:lstStyle/>
          <a:p>
            <a:pPr algn="l" indent="0" marL="0">
              <a:buNone/>
            </a:pPr>
            <a:r>
              <a:rPr lang="en-US" sz="850" dirty="0">
                <a:solidFill>
                  <a:srgbClr val="334155"/>
                </a:solidFill>
                <a:latin typeface="Helvetica Neue" pitchFamily="34" charset="0"/>
                <a:ea typeface="Helvetica Neue" pitchFamily="34" charset="-122"/>
                <a:cs typeface="Helvetica Neue" pitchFamily="34" charset="-120"/>
              </a:rPr>
              <a:t>Qdrant</a:t>
            </a:r>
            <a:endParaRPr lang="en-US" sz="850" dirty="0"/>
          </a:p>
        </p:txBody>
      </p:sp>
      <p:sp>
        <p:nvSpPr>
          <p:cNvPr id="54" name="Shape 51"/>
          <p:cNvSpPr/>
          <p:nvPr/>
        </p:nvSpPr>
        <p:spPr>
          <a:xfrm>
            <a:off x="2257927" y="5654278"/>
            <a:ext cx="1416751" cy="289322"/>
          </a:xfrm>
          <a:prstGeom prst="rect">
            <a:avLst/>
          </a:prstGeom>
          <a:solidFill>
            <a:srgbClr val="F8FAFC"/>
          </a:solidFill>
          <a:ln w="9144">
            <a:solidFill>
              <a:srgbClr val="334155"/>
            </a:solidFill>
            <a:prstDash val="solid"/>
          </a:ln>
        </p:spPr>
      </p:sp>
      <p:sp>
        <p:nvSpPr>
          <p:cNvPr id="55" name="Text 52"/>
          <p:cNvSpPr/>
          <p:nvPr/>
        </p:nvSpPr>
        <p:spPr>
          <a:xfrm>
            <a:off x="2257927" y="5654278"/>
            <a:ext cx="1416751" cy="289322"/>
          </a:xfrm>
          <a:prstGeom prst="rect">
            <a:avLst/>
          </a:prstGeom>
          <a:noFill/>
          <a:ln/>
        </p:spPr>
        <p:txBody>
          <a:bodyPr wrap="square" lIns="127508" tIns="85090" rIns="127508" bIns="85090" rtlCol="0" anchor="t">
            <a:spAutoFit/>
          </a:bodyPr>
          <a:lstStyle/>
          <a:p>
            <a:pPr algn="l" indent="0" marL="0">
              <a:buNone/>
            </a:pPr>
            <a:r>
              <a:rPr lang="en-US" sz="850" dirty="0">
                <a:solidFill>
                  <a:srgbClr val="334155"/>
                </a:solidFill>
                <a:latin typeface="Helvetica Neue" pitchFamily="34" charset="0"/>
                <a:ea typeface="Helvetica Neue" pitchFamily="34" charset="-122"/>
                <a:cs typeface="Helvetica Neue" pitchFamily="34" charset="-120"/>
              </a:rPr>
              <a:t>Govt Knowledge Graph</a:t>
            </a:r>
            <a:endParaRPr lang="en-US" sz="850" dirty="0"/>
          </a:p>
        </p:txBody>
      </p:sp>
      <p:sp>
        <p:nvSpPr>
          <p:cNvPr id="56" name="Shape 53"/>
          <p:cNvSpPr/>
          <p:nvPr/>
        </p:nvSpPr>
        <p:spPr>
          <a:xfrm>
            <a:off x="3731828" y="5654278"/>
            <a:ext cx="1499015" cy="289322"/>
          </a:xfrm>
          <a:prstGeom prst="rect">
            <a:avLst/>
          </a:prstGeom>
          <a:solidFill>
            <a:srgbClr val="0F172A"/>
          </a:solidFill>
          <a:ln w="9144">
            <a:solidFill>
              <a:srgbClr val="0F172A"/>
            </a:solidFill>
            <a:prstDash val="solid"/>
          </a:ln>
        </p:spPr>
      </p:sp>
      <p:sp>
        <p:nvSpPr>
          <p:cNvPr id="57" name="Text 54"/>
          <p:cNvSpPr/>
          <p:nvPr/>
        </p:nvSpPr>
        <p:spPr>
          <a:xfrm>
            <a:off x="3731828" y="5654278"/>
            <a:ext cx="1499015" cy="289322"/>
          </a:xfrm>
          <a:prstGeom prst="rect">
            <a:avLst/>
          </a:prstGeom>
          <a:noFill/>
          <a:ln/>
        </p:spPr>
        <p:txBody>
          <a:bodyPr wrap="square" lIns="127508" tIns="85090" rIns="127508" bIns="85090" rtlCol="0" anchor="t">
            <a:spAutoFit/>
          </a:bodyPr>
          <a:lstStyle/>
          <a:p>
            <a:pPr algn="l" indent="0" marL="0">
              <a:buNone/>
            </a:pPr>
            <a:r>
              <a:rPr lang="en-US" sz="850" dirty="0">
                <a:solidFill>
                  <a:srgbClr val="FFFFFF"/>
                </a:solidFill>
                <a:latin typeface="Helvetica Neue" pitchFamily="34" charset="0"/>
                <a:ea typeface="Helvetica Neue" pitchFamily="34" charset="-122"/>
                <a:cs typeface="Helvetica Neue" pitchFamily="34" charset="-120"/>
              </a:rPr>
              <a:t>Vercel / Railway / Docker</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1787668" cy="389334"/>
          </a:xfrm>
          <a:prstGeom prst="rect">
            <a:avLst/>
          </a:prstGeom>
          <a:noFill/>
          <a:ln/>
        </p:spPr>
        <p:txBody>
          <a:bodyPr wrap="square" lIns="0" tIns="0" rIns="0" bIns="0" rtlCol="0" anchor="t">
            <a:spAutoFit/>
          </a:bodyPr>
          <a:lstStyle/>
          <a:p>
            <a:pPr algn="l" indent="0" marL="0">
              <a:buNone/>
            </a:pPr>
            <a:r>
              <a:rPr lang="en-US" sz="2450" b="1" spc="-1" kern="0" dirty="0">
                <a:solidFill>
                  <a:srgbClr val="0F172A"/>
                </a:solidFill>
                <a:latin typeface="Courier New" pitchFamily="34" charset="0"/>
                <a:ea typeface="Courier New" pitchFamily="34" charset="-122"/>
                <a:cs typeface="Courier New" pitchFamily="34" charset="-120"/>
              </a:rPr>
              <a:t>THANK YOU</a:t>
            </a:r>
            <a:endParaRPr lang="en-US" sz="2450" dirty="0"/>
          </a:p>
        </p:txBody>
      </p:sp>
      <p:sp>
        <p:nvSpPr>
          <p:cNvPr id="4" name="Text 1"/>
          <p:cNvSpPr/>
          <p:nvPr/>
        </p:nvSpPr>
        <p:spPr>
          <a:xfrm>
            <a:off x="914400" y="2069902"/>
            <a:ext cx="7315200" cy="592931"/>
          </a:xfrm>
          <a:prstGeom prst="rect">
            <a:avLst/>
          </a:prstGeom>
          <a:noFill/>
          <a:ln/>
        </p:spPr>
        <p:txBody>
          <a:bodyPr wrap="square" lIns="0" tIns="0" rIns="0" bIns="0" rtlCol="0" anchor="t">
            <a:spAutoFit/>
          </a:bodyPr>
          <a:lstStyle/>
          <a:p>
            <a:pPr algn="ctr" indent="0" marL="0">
              <a:buNone/>
            </a:pPr>
            <a:r>
              <a:rPr lang="en-US" sz="3950" spc="4" kern="0" dirty="0">
                <a:solidFill>
                  <a:srgbClr val="0F172A"/>
                </a:solidFill>
                <a:latin typeface="Helvetica Neue" pitchFamily="34" charset="0"/>
                <a:ea typeface="Helvetica Neue" pitchFamily="34" charset="-122"/>
                <a:cs typeface="Helvetica Neue" pitchFamily="34" charset="-120"/>
              </a:rPr>
              <a:t>THANK YOU</a:t>
            </a:r>
            <a:endParaRPr lang="en-US" sz="3950" dirty="0"/>
          </a:p>
        </p:txBody>
      </p:sp>
      <p:sp>
        <p:nvSpPr>
          <p:cNvPr id="5" name="Text 2"/>
          <p:cNvSpPr/>
          <p:nvPr/>
        </p:nvSpPr>
        <p:spPr>
          <a:xfrm>
            <a:off x="914400" y="2877145"/>
            <a:ext cx="7315200" cy="196453"/>
          </a:xfrm>
          <a:prstGeom prst="rect">
            <a:avLst/>
          </a:prstGeom>
          <a:noFill/>
          <a:ln/>
        </p:spPr>
        <p:txBody>
          <a:bodyPr wrap="square" lIns="0" tIns="0" rIns="0" bIns="0" rtlCol="0" anchor="t">
            <a:spAutoFit/>
          </a:bodyPr>
          <a:lstStyle/>
          <a:p>
            <a:pPr algn="ctr" indent="0" marL="0">
              <a:buNone/>
            </a:pPr>
            <a:r>
              <a:rPr lang="en-US" sz="1200" b="1" dirty="0">
                <a:solidFill>
                  <a:srgbClr val="059669"/>
                </a:solidFill>
                <a:latin typeface="Helvetica Neue" pitchFamily="34" charset="0"/>
                <a:ea typeface="Helvetica Neue" pitchFamily="34" charset="-122"/>
                <a:cs typeface="Helvetica Neue" pitchFamily="34" charset="-120"/>
              </a:rPr>
              <a:t>CitizenOS — One AI. Every Government Service. Every Indian Citizen.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2026-08-03T13:55:27Z</dcterms:created>
  <dcterms:modified xsi:type="dcterms:W3CDTF">2026-08-03T13:55:27Z</dcterms:modified>
</cp:coreProperties>
</file>